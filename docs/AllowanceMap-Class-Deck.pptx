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750" autoAdjust="0"/>
  </p:normalViewPr>
  <p:slideViewPr>
    <p:cSldViewPr snapToGrid="0" snapToObjects="1">
      <p:cViewPr varScale="1">
        <p:scale>
          <a:sx n="121" d="100"/>
          <a:sy n="121" d="100"/>
        </p:scale>
        <p:origin x="169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4564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 Raj kicks off and introduces team.
SUGGESTED OPENING (Raj, ~30s):
"Good [morning/afternoon]. We're team AllowanceMap. I'm Raj, this is Nick, and Noor.
Our project looks at Medicare - the federal health-insurance program for seniors.
Specifically: when a Medicare patient walks into a doctor's office, nobody - not the patient, not the doctor's billing staff - can easily tell them what Medicare will pay, or what the patient will owe out of pocket. We built a machine-learning pipeline that predicts both. We trained it on 11 years of public CMS data - 103 million rows of doctor-visit records. We'll walk you through the problem, the data, the models, and a live demo."
SECTION ROADMAP (mention quickly):
- Section 1 (Nick): Medicare + the problem
- Section 2 (Noor): Data and EDA
- Section 3 (Raj): Features, models, results
- Section 4 (Raj): Lessons + live demo
Total time: ~25 min. Q&amp;A after.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DIVIDER - Nick takes over here.
Nick, just read the title and the sentence underneath, then move on. 5 seconds max. The real content is on the next slide.
Say something like: "Before we talk about the model, I'll explain what Medicare actually is and why this pricing problem matters."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(Nick, ~90 seconds):
"Quick primer for anyone who doesn't deal with Medicare day-to-day. Medicare is the U.S. federal health-insurance program. It mainly covers people 65 and older, plus some younger people with disabilities or kidney failure. About 63 million Americans are enrolled - that's roughly 1 in 5 Americans.
Medicare has four parts. Part A is hospital stays. Part B is doctor visits, outpatient care, lab work - that's the part our project focuses on. Part C is Medicare Advantage - private plans that bundle A and B. Part D is prescription drugs.
Now here's the key thing for this project. Medicare doesn't just pay whatever a doctor charges. For each service, Medicare calculates something called the 'allowed amount.' That's the official price. Medicare pays 80% of that, and the patient owes the other 20% - that's the out-of-pocket cost. So two numbers matter: what Medicare allows, and what the patient pays. Our project predicts both."
TRANSITION: "The problem is - those numbers are almost impossible to look up before you get care. That's slide 4."
KEY NUMBERS TO HIT:
- 63 million enrollees (roughly 1 in 5 Americans)
- Part B = doctor visits / outpatient (what we model)
- 80 / 20 split: Medicare pays 80%, patient pays 20%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(Nick, ~90 seconds):
"So if Medicare has a fixed allowed amount for every service, why don't patients know it? The answer: the formula is published, but it's buried.
Medicare calculates the allowed amount with something called the Physician Fee Schedule. The formula has three pieces - work RVU, practice-expense RVU, and malpractice RVU. Each one gets multiplied by a 'geographic practice cost index' that depends on where the doctor is. Then all three get added up and multiplied by a conversion factor, which right now is about $33.
So there are over 100 locality adjustments, 10,000+ billing codes, and the final number depends on all of them combined. Patients can't calculate that at home. Most hospital 'cost estimator' tools collapse everything into one vague range, and they almost always ignore the out-of-pocket piece.
That's the gap we're trying to fill. Two questions, two data sources, two models - which Raj will walk through."
TRANSITION: "So here's what we actually built - next slide."
DON'T PANIC IF SOMEONE ASKS ABOUT THE FORMULA:
RVU = Relative Value Unit. GPCI = Geographic Practice Cost Index. CF = Conversion Factor.
You don't need to defend the formula - we didn't use it directly. We let the model learn the pattern from historical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(Nick, ~75 seconds):
"OK so here's what we set out to build. A public, free web app where a patient - or really anyone - can type in three things: what state you're in, what kind of specialist, and what procedure code. The app returns two numbers: what Medicare will allow and what the patient's likely out-of-pocket cost is, with an uncertainty range.
Four design principles guided us:
1. PREDICTIVE - not a lookup table. The model has to generalize to combinations it has never seen.
2. TRANSPARENT - every estimate comes with a low, middle, and high range, not a single false-precision number.
3. TWO-STAGE - the 'what Medicare allows' question and the 'what you pay' question are different, with different data. We don't pretend they're the same.
4. FORWARD-LOOKING - we also forecast rates through 2026 so the app stays useful.
And this was built entirely from public data. No proprietary claims feeds, no paid APIs. That's important because anyone can reproduce the pipeline."
TRANSITION: "That's the what. Noor is going to walk you through the data that powers this - and the EDA we did to understand it."
HAND OFF TO NOOR.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DIVIDER - Noor takes over here.
Noor, just read the title line and move on - 5 seconds max. Content starts on the next slide.
Opening line suggestion: "Thanks Nick. Let's look at the actual data. We're going to cover what datasets we pulled, how much data there is, and a few charts that surprised 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(Noor, ~90 seconds):
"We pulled four datasets from CMS - the Centers for Medicare &amp; Medicaid Services. All of them are public. All are free. No login, no DUA, no paid access.
The main one is the Physician &amp; Other Practitioners dataset. It's released every year. For each doctor - each national provider identifier, or NPI - it tells us how many times they did each procedure, the average submitted charge, the average allowed amount, and how many beneficiaries they saw. That's 103 million rows across 2013 through 2023.
We also pulled the 'by-provider' summary file, which gives each doctor a risk score - basically how sick their patient panel is on average. We joined that in as a feature.
Stage 2 - the out-of-pocket piece - uses two MCBS files. That's the Medicare Current Beneficiary Survey. It gives us demographic and cost information per patient. The catch: MCBS isn't service-level, so we had to build a synthetic bridge between our service-level allowed amounts and patient-level cost. We'll mention that limitation later.
Coverage: all 50 states, DC, and the territories - so 63 state-and-territory markets. 131 unique provider specialties. About 6,000 unique procedure codes."
KEY NUMBERS TO REPEAT:
- 103M rows
- 11 years of data
- All public
- 4 datasets: 2 for Stage 1, 2 for Stage 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(Noor, ~75 seconds):
"Let me show you what a single row of the dataset looks like, because this matters for understanding what we're predicting.
Each row is one provider, one year, one procedure code. For example: Dr. Smith, 2021, procedure 99213 (which is a basic office visit). And that row tells us:
- How many times Dr. Smith did that procedure that year
- How many unique Medicare patients he saw for it
- The average submitted charge (what he billed Medicare)
- The average allowed amount - that's our TARGET VARIABLE
- The average Medicare payment and the standardized amount - we had to DROP these two because they're mathematically derived from the allowed amount. Including them would be data leakage.
So our target is 'Avg_Mdcr_Alowd_Amt' - the average Medicare-allowed dollar amount per service. That's the number we predict."
POTENTIAL QUESTION - HOW DO WE DROP LEAKY COLUMNS?
"The Medicare payment is just 80% of the allowed amount, so if we left it in, the model would get 96% R-squared trivially. We dropped both."
KEY DEFINITIONS TO BE READY FOR:
- NPI = National Provider Identifier, unique per doctor
- HCPCS = Healthcare Common Procedure Coding System (the procedure codes)
- Place of service = office vs. hospital facility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(Noor, ~90 seconds):
"Let me walk you through three things we found during EDA that shaped every modeling decision.
FIRST - the target is heavily right-skewed. Most services cost under $200, but a small tail of surgeries and imaging studies run into the thousands. A histogram of raw dollars is nearly unreadable. So we log-transform the target with log1p - that means log(1+x), which handles the zeros - and it turns the distribution into something roughly normal. All our models train on the log-scale and invert at prediction.
SECOND - the allowed amount has been DRIFTING UP over time. Between 2013 and 2023, the average allowed amount rose about 18% - that's partly inflation, partly Medicare fee schedule updates, and partly a shift toward higher-complexity services. This is why 'year' matters and why we care about forecasting - the future isn't identical to the past.
THIRD - coverage is uneven. California, Texas, Florida, and New York each contribute 8-12% of rows. Wyoming and the territories contribute less than 0.5% combined. A few specialties dominate: Internal Medicine, Family Practice, and Cardiology make up almost a third of all records. The model has to handle that skew."
TRANSITION: "Those three facts - log-skew, temporal drift, uneven coverage - drove the feature engineering Raj will walk through next."
HAND OFF TO RAJ.</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DIVIDER - Raj takes over.
Just read the title line, move on quickly. Content on next slide.
Opening line suggestion: "Thanks Noor. So now I'll walk through the feature engineering, the three model families we tried, and the results."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(Raj, ~90 seconds):
"We ended up with 12 features in production. Let me group them into four buckets so you don't have to memorize them.
BUCKET 1 - WHO: The provider. Which specialty, which state, their average risk score.
BUCKET 2 - WHAT: The procedure. The raw billing code, a coarse clinical bucket (surgery vs lab vs office visit), and a place-of-service flag.
BUCKET 3 - HOW MUCH ACTIVITY: Services performed, unique patients, services-per-patient ratio.
BUCKET 4 - ENGINEERED: The two interesting ones. A target-encoded version of the procedure code, and coarse specialty and place-of-service bucketings.
Target encoding is worth 15 seconds: there are ~6000 procedure codes. One-hot encoding would explode the feature matrix. Integer encoding is arbitrary. So instead, we replace each code with the average log-allowed-amount for that code, computed from training data only. That gives the model a numeric signal correlated with the target, without leakage.
And one thing we deliberately dropped - the submitted charge. It's the single most predictive feature. But at inference time, the patient doesn't know the submitted charge, so shipping it would make the model useless. We'll show the ablation in a minute."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(Raj, ~75 seconds):
"The assignment asks for at least three distinct model families. We used more than that, but these are the three we'll compare head-to-head.
LINEAR BASELINE - a generalized linear model with stochastic gradient descent. This is our sanity check - if a billion-dollar gradient-boosted tree can't beat a 100-line linear model, we have a bug. It also serves the inference requirement: the coefficients are directly interpretable.
TREE ENSEMBLE - we tried Random Forest, XGBoost, LightGBM, and CatBoost. LightGBM won on this dataset, so that's the headline. But we'll show you the full comparison.
DEEP LEARNING - an LSTM for the forecasting track. Same 126 million rows, but reshaped into per-group time series so the model can project 2024-2026.
All three families share the same 80/20 train-test split with random_state=42, the same log1p target transform, and the same evaluation metric: R-squared, MAE, and RMSE in dollars."
KEY POINT: 80/20 split is standard; we use random_state=42 for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(Raj, ~90 seconds):
"OK, the headline results. Unified comparison across all models, same test split, same metrics.
First thing to notice - LightGBM wins. 0.943 R-squared on the no-charge variant, which is what we actually ship. That means for every dollar Medicare allows, our prediction is within about $7.70 on average.
The GLM baseline comes in at 0.72 - so the baseline is genuinely competitive, and you might ask why we even need trees. Two reasons: the GLM needs heavy feature engineering to match even 0.80, and it can't capture interactions between specialty and procedure. LightGBM picks those up automatically.
The ensemble - a 5-fold stack of LightGBM, XGBoost, and CatBoost - gets a microscopic lift over LightGBM alone. 0.0005 R-squared. We trained it (13 hours of compute), but we don't deploy it. The extra 0.05 basis points aren't worth the serving complexity.(Kaggle-competition behavior)
And then there's CatBoost alone - weakest of the three at 0.907. We keep it because its errors correlate differently, which helps the ensemble.(Primarily because it did not converge- given more iterations and time- it may have outperformed)
Final choice for production: LightGBM, no charge variant. The 0.015 R-squared we give up to drop the submitted charge is the price of being deployable."
ASSIGNMENT TIE-IN: "The assignment asks for a systematic comparison - this is that table. Same metrics, same split, best model selected with justification."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(Raj, ~75 seconds):
"Two related things on this slide - feature importance and the ablation.
Left: feature importance from the production LightGBM, measured by gain. The procedure code and its target-encoded version together account for 53% of the model's predictive power. That makes sense - the HCPCS code IS the unit of pricing in Medicare. The model has basically learned a per-procedure price baseline, then adjusts for specialty, risk, and geography.
Right: the no-charge ablation. In our earlier V1 model, the submitted charge was 62% of feature importance - nearly leaky. By removing it in V2 we force the model to learn the actual signal. We lose 0.015 R-squared. That's the price.
The interpretation matters: before the ablation, we weren't sure the model was predictive - we thought it might just be echoing charge. After the ablation, we can say the model is genuinely learning Medicare pricing from procedure + provider + utilization."
ASSIGNMENT TIE-IN: "This is our inference piece. Feature importance, not coefficients, because LightGBM doesn't give clean coefficients. But the gain values rank the top 5 factors - which is what the assignment asks for."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(Raj, ~60 seconds):
"Quick aside on Stage 2, because the class requirements are mostly Stage 1 and I don't want to blow our time.
Stage 2 predicts what the PATIENT pays out of pocket. It takes the Stage 1 output - the allowed amount - and adds demographics: age, sex, income, chronic conditions, whether they have Medicaid (dual-eligible), whether they have supplemental Medigap insurance.
Architecturally different: instead of predicting a single number, we predict three - the 10th, 50th, and 90th percentiles of the out-of-pocket distribution. That's quantile regression. It gives us the range shown in the app.
Limitation - and I'll call this out now so I don't have to defend it later - our OOP training data is SYNTHETIC. Real per-service OOP requires a Medicare Limited Data Set, which costs $600 per module and needs a Data Use Agreement. We built a synthetic dataset calibrated to the MCBS aggregates. The Stage 2 R-squared is 0.40, which is honest for synthetic data. When we get LDS access, this number will move."
KEY POINT TO REMEMBER: Stage 2 uses QUANTILE REGRESSION. We predict P10 / P50 / P90, not a single point.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DIVIDER - Raj continues.
Quick read of title, move on.
"Last section - the stuff we learned doing this, both wins and losses, and I'll show you the live app."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(Raj, ~2 minutes - this is a big slide, take your time):
"Five big lessons - three wins and two losses. I'll be honest about all of them.
WINS:
1. The ablation was worth doing. If we'd shipped V1 with submitted charge at 62% importance, we'd be proud of a leaky model. Dropping it forced us to build a real one.
2. LightGBM was the right default. We tried XGBoost, CatBoost, Random Forest, and a 5-fold ensemble. LightGBM was fastest, simplest, and within 0.0005 R-squared of the best. Boring choice, correct choice.
3. Log-transforming the target was a 10-minute change that added 0.08 R-squared. Small effort, huge payoff.
LOSSES:
4. I had a TEACHER-FORCING BUG in the LSTM evaluation for three phases. During testing I was feeding the model the TRUE previous value instead of its own prediction. RMSE looked like $8 - the honest number is $18. I caught it eventually, but for a while I was quoting inflated results. Lesson: always test autoregressive rollout explicitly, don't trust your eval function.
5. V2 CatBoost with monotonic constraints LOST to V1 without them. On real data the constraints would probably help. On our SYNTHETIC OOP data they fought the distribution. Don't over-engineer on proxy data.
BIG META-LESSON:
A clean baseline is better than a clever failure. Every trick we tried - charge-ratio targets, CPI deflation, hierarchical reconciliation, TFT - lost to simple LightGBM on the raw target. The data's signal is what it is."
THIS SLIDE HAS A LOT - DON'T READ ALL THE TEXT. Hit the headers, give one sentence on each, and trust the audience to read along.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(Raj, ~3-4 minutes - this is the demo, live):
"OK, live demo. I'm going to flip to allowancemap.vercel.app.
PREP BEFORE CLASS:
- Open allowancemap.vercel.app in a clean browser tab
- Test it loads (Vercel cold-start takes ~3 seconds the first time)
- Know which state/specialty/procedure you'll demo - I suggest Indiana, Cardiology, 99214
DEMO SCRIPT:
1. Land on the homepage: 'This is the cost estimator. Three inputs on the left, results on the right.'
2. Select Indiana, Cardiology, 99214 (mid-complexity office visit): 'Common visit. Let's see what Medicare allows.'
3. Hit Estimate. Show the Stage 1 result: 'Medicare allows about X dollars for this.'
4. Scroll to Stage 2: 'And here's the patient cost - P10, P50, P90.'
5. Change state to California, same procedure: 'Watch the number move - GPCI adjustment for high-cost-of-living.'
6. Click 'Forecast' tab: 'This is the LSTM forecast. Same specialty projected through 2026.'
7. Click 'About' tab: 'And this is the methodology page - data sources, model details, the full pipeline.'
TIME BUDGET: 3-4 minutes max. Don't linger. If anything breaks, fall back to screenshots in the slide.
IF YOU'RE RUNNING SHORT ON TIME: skip the forecast tab, just show the estimator.
IF QUESTIONS: "Raj can answer technical follow-ups in Q&amp;A."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(Raj, ~45 seconds):
"To wrap up:
We built a two-stage ML pipeline on 103 million public Medicare records. Stage 1 predicts allowed amount at 0.943 R-squared - LightGBM, production-deployed. Stage 2 predicts patient out-of-pocket with quantile regression, returning a low-middle-high range.
What makes this project interesting for a class deliverable: the model is actually deployed. You can go to allowancemap.vercel.app right now and get predictions from the exact model we described.
What we'd do next with more time: replace submitted charge with the underlying RVU-GPCI-Conversion-Factor from the Medicare fee schedule, move to quarterly data ingestion to break the annual-resolution signal ceiling, and - most important - get real patient-level OOP data from a Limited Data Set to replace the synthetic Stage 2 training.
Happy to take questions."
Q&amp;A PREP - likely questions:
- "Why not neural nets for Stage 1?" — tried LSTM for forecasting, but for point predictions tree ensembles dominate tabular data with mixed features. LightGBM had the best accuracy/simplicity tradeoff.
- "What about class imbalance?" — this is regression, not classification. We addressed skew via log transform and batch-training by Census region.
- "Is this generalizable to Medicare Advantage?" — No. Our data is fee-for-service (traditional) Medicare only. MA plans price differently.
- "How did you validate the synthetic MCBS?" — calibrated to MCBS aggregate distributions. Not a substitute for LDS - we flag this everywhere.
- "Deployment cost?" — Vercel hobby tier (free) + Railway starter (~$5/mo). Model is &lt;100MB after LightGBM's native compression.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C54"/>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AB7CA"/>
          </a:solidFill>
          <a:ln/>
        </p:spPr>
        <p:txBody>
          <a:bodyPr/>
          <a:lstStyle/>
          <a:p>
            <a:endParaRPr lang="en-IN"/>
          </a:p>
        </p:txBody>
      </p:sp>
      <p:sp>
        <p:nvSpPr>
          <p:cNvPr id="3" name="Text 1"/>
          <p:cNvSpPr/>
          <p:nvPr/>
        </p:nvSpPr>
        <p:spPr>
          <a:xfrm>
            <a:off x="731520" y="640080"/>
            <a:ext cx="10972800" cy="320040"/>
          </a:xfrm>
          <a:prstGeom prst="rect">
            <a:avLst/>
          </a:prstGeom>
          <a:noFill/>
          <a:ln/>
        </p:spPr>
        <p:txBody>
          <a:bodyPr wrap="square" rtlCol="0" anchor="ctr"/>
          <a:lstStyle/>
          <a:p>
            <a:pPr marL="0" indent="0">
              <a:buNone/>
            </a:pPr>
            <a:r>
              <a:rPr lang="en-US" sz="1200" b="1" kern="0" spc="300" dirty="0">
                <a:solidFill>
                  <a:srgbClr val="2AB7CA"/>
                </a:solidFill>
                <a:latin typeface="Calibri" pitchFamily="34" charset="0"/>
                <a:ea typeface="Calibri" pitchFamily="34" charset="-122"/>
                <a:cs typeface="Calibri" pitchFamily="34" charset="-120"/>
              </a:rPr>
              <a:t>CLASS PRESENTATION  ·  APRIL 2026  ·  INDIANA UNIVERSITY</a:t>
            </a:r>
            <a:endParaRPr lang="en-US" sz="1200" dirty="0"/>
          </a:p>
        </p:txBody>
      </p:sp>
      <p:sp>
        <p:nvSpPr>
          <p:cNvPr id="4" name="Text 2"/>
          <p:cNvSpPr/>
          <p:nvPr/>
        </p:nvSpPr>
        <p:spPr>
          <a:xfrm>
            <a:off x="731520" y="1188720"/>
            <a:ext cx="10972800" cy="91440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AllowanceMap</a:t>
            </a:r>
            <a:endParaRPr lang="en-US" sz="6000" dirty="0"/>
          </a:p>
        </p:txBody>
      </p:sp>
      <p:sp>
        <p:nvSpPr>
          <p:cNvPr id="5" name="Text 3"/>
          <p:cNvSpPr/>
          <p:nvPr/>
        </p:nvSpPr>
        <p:spPr>
          <a:xfrm>
            <a:off x="731520" y="2148840"/>
            <a:ext cx="10972800" cy="502920"/>
          </a:xfrm>
          <a:prstGeom prst="rect">
            <a:avLst/>
          </a:prstGeom>
          <a:noFill/>
          <a:ln/>
        </p:spPr>
        <p:txBody>
          <a:bodyPr wrap="square" rtlCol="0" anchor="ctr"/>
          <a:lstStyle/>
          <a:p>
            <a:pPr marL="0" indent="0">
              <a:buNone/>
            </a:pPr>
            <a:r>
              <a:rPr lang="en-US" sz="2200" i="1" dirty="0">
                <a:solidFill>
                  <a:srgbClr val="CADCFC"/>
                </a:solidFill>
                <a:latin typeface="Calibri" pitchFamily="34" charset="0"/>
                <a:ea typeface="Calibri" pitchFamily="34" charset="-122"/>
                <a:cs typeface="Calibri" pitchFamily="34" charset="-120"/>
              </a:rPr>
              <a:t>Predicting Medicare allowed amounts and patient out-of-pocket costs</a:t>
            </a:r>
            <a:endParaRPr lang="en-US" sz="2200" dirty="0"/>
          </a:p>
        </p:txBody>
      </p:sp>
      <p:sp>
        <p:nvSpPr>
          <p:cNvPr id="6" name="Shape 4"/>
          <p:cNvSpPr/>
          <p:nvPr/>
        </p:nvSpPr>
        <p:spPr>
          <a:xfrm>
            <a:off x="731520" y="2880360"/>
            <a:ext cx="4572000" cy="0"/>
          </a:xfrm>
          <a:prstGeom prst="line">
            <a:avLst/>
          </a:prstGeom>
          <a:noFill/>
          <a:ln w="25400">
            <a:solidFill>
              <a:srgbClr val="2AB7CA"/>
            </a:solidFill>
            <a:prstDash val="solid"/>
          </a:ln>
        </p:spPr>
        <p:txBody>
          <a:bodyPr/>
          <a:lstStyle/>
          <a:p>
            <a:endParaRPr lang="en-IN"/>
          </a:p>
        </p:txBody>
      </p:sp>
      <p:sp>
        <p:nvSpPr>
          <p:cNvPr id="7" name="Text 5"/>
          <p:cNvSpPr/>
          <p:nvPr/>
        </p:nvSpPr>
        <p:spPr>
          <a:xfrm>
            <a:off x="731520" y="3246120"/>
            <a:ext cx="2743200" cy="9144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103M</a:t>
            </a:r>
            <a:endParaRPr lang="en-US" sz="4800" dirty="0"/>
          </a:p>
        </p:txBody>
      </p:sp>
      <p:sp>
        <p:nvSpPr>
          <p:cNvPr id="8" name="Text 6"/>
          <p:cNvSpPr/>
          <p:nvPr/>
        </p:nvSpPr>
        <p:spPr>
          <a:xfrm>
            <a:off x="731520" y="4206240"/>
            <a:ext cx="2743200" cy="5486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CMS provider-service</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records, 2013-2023</a:t>
            </a:r>
            <a:endParaRPr lang="en-US" sz="1200" dirty="0"/>
          </a:p>
        </p:txBody>
      </p:sp>
      <p:sp>
        <p:nvSpPr>
          <p:cNvPr id="9" name="Text 7"/>
          <p:cNvSpPr/>
          <p:nvPr/>
        </p:nvSpPr>
        <p:spPr>
          <a:xfrm>
            <a:off x="3657600" y="3246120"/>
            <a:ext cx="2743200" cy="9144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11 yrs</a:t>
            </a:r>
            <a:endParaRPr lang="en-US" sz="4800" dirty="0"/>
          </a:p>
        </p:txBody>
      </p:sp>
      <p:sp>
        <p:nvSpPr>
          <p:cNvPr id="10" name="Text 8"/>
          <p:cNvSpPr/>
          <p:nvPr/>
        </p:nvSpPr>
        <p:spPr>
          <a:xfrm>
            <a:off x="3657600" y="4206240"/>
            <a:ext cx="2743200" cy="5486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of Medicare</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Part B data</a:t>
            </a:r>
            <a:endParaRPr lang="en-US" sz="1200" dirty="0"/>
          </a:p>
        </p:txBody>
      </p:sp>
      <p:sp>
        <p:nvSpPr>
          <p:cNvPr id="11" name="Text 9"/>
          <p:cNvSpPr/>
          <p:nvPr/>
        </p:nvSpPr>
        <p:spPr>
          <a:xfrm>
            <a:off x="6583680" y="3246120"/>
            <a:ext cx="2743200" cy="9144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0.94</a:t>
            </a:r>
            <a:endParaRPr lang="en-US" sz="4800" dirty="0"/>
          </a:p>
        </p:txBody>
      </p:sp>
      <p:sp>
        <p:nvSpPr>
          <p:cNvPr id="12" name="Text 10"/>
          <p:cNvSpPr/>
          <p:nvPr/>
        </p:nvSpPr>
        <p:spPr>
          <a:xfrm>
            <a:off x="6583680" y="4206240"/>
            <a:ext cx="2743200" cy="5486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Stage 1 test</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R-squared</a:t>
            </a:r>
            <a:endParaRPr lang="en-US" sz="1200" dirty="0"/>
          </a:p>
        </p:txBody>
      </p:sp>
      <p:sp>
        <p:nvSpPr>
          <p:cNvPr id="13" name="Text 11"/>
          <p:cNvSpPr/>
          <p:nvPr/>
        </p:nvSpPr>
        <p:spPr>
          <a:xfrm>
            <a:off x="9509760" y="3246120"/>
            <a:ext cx="2743200" cy="9144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2 stages</a:t>
            </a:r>
            <a:endParaRPr lang="en-US" sz="4800" dirty="0"/>
          </a:p>
        </p:txBody>
      </p:sp>
      <p:sp>
        <p:nvSpPr>
          <p:cNvPr id="14" name="Text 12"/>
          <p:cNvSpPr/>
          <p:nvPr/>
        </p:nvSpPr>
        <p:spPr>
          <a:xfrm>
            <a:off x="9509760" y="4206240"/>
            <a:ext cx="2743200" cy="5486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Allowed amount</a:t>
            </a:r>
            <a:endParaRPr lang="en-US" sz="1200" dirty="0"/>
          </a:p>
          <a:p>
            <a:pPr marL="0" indent="0">
              <a:buNone/>
            </a:pPr>
            <a:r>
              <a:rPr lang="en-US" sz="1200" dirty="0">
                <a:solidFill>
                  <a:srgbClr val="CADCFC"/>
                </a:solidFill>
                <a:latin typeface="Calibri" pitchFamily="34" charset="0"/>
                <a:ea typeface="Calibri" pitchFamily="34" charset="-122"/>
                <a:cs typeface="Calibri" pitchFamily="34" charset="-120"/>
              </a:rPr>
              <a:t>+ patient OOP</a:t>
            </a:r>
            <a:endParaRPr lang="en-US" sz="1200" dirty="0"/>
          </a:p>
        </p:txBody>
      </p:sp>
      <p:sp>
        <p:nvSpPr>
          <p:cNvPr id="15" name="Text 13"/>
          <p:cNvSpPr/>
          <p:nvPr/>
        </p:nvSpPr>
        <p:spPr>
          <a:xfrm>
            <a:off x="731520" y="5394960"/>
            <a:ext cx="10972800" cy="365760"/>
          </a:xfrm>
          <a:prstGeom prst="rect">
            <a:avLst/>
          </a:prstGeom>
          <a:noFill/>
          <a:ln/>
        </p:spPr>
        <p:txBody>
          <a:bodyPr wrap="square" rtlCol="0" anchor="ctr"/>
          <a:lstStyle/>
          <a:p>
            <a:r>
              <a:rPr lang="en-US" sz="1400" dirty="0">
                <a:solidFill>
                  <a:srgbClr val="CADCFC"/>
                </a:solidFill>
                <a:latin typeface="Calibri" pitchFamily="34" charset="0"/>
                <a:ea typeface="Calibri" pitchFamily="34" charset="-122"/>
                <a:cs typeface="Calibri" pitchFamily="34" charset="-120"/>
              </a:rPr>
              <a:t>Team: </a:t>
            </a:r>
            <a:r>
              <a:rPr lang="en-US" sz="1400" b="1" dirty="0">
                <a:solidFill>
                  <a:srgbClr val="FFFFFF"/>
                </a:solidFill>
                <a:latin typeface="Calibri" pitchFamily="34" charset="0"/>
                <a:ea typeface="Calibri" pitchFamily="34" charset="-122"/>
                <a:cs typeface="Calibri" pitchFamily="34" charset="-120"/>
              </a:rPr>
              <a:t>Rajashekar Vedire </a:t>
            </a:r>
            <a:r>
              <a:rPr lang="en-US" sz="1400" dirty="0">
                <a:solidFill>
                  <a:srgbClr val="CADCFC"/>
                </a:solidFill>
              </a:rPr>
              <a:t>·  </a:t>
            </a:r>
            <a:r>
              <a:rPr lang="en-US" sz="1400" b="1" dirty="0">
                <a:solidFill>
                  <a:srgbClr val="FFFFFF"/>
                </a:solidFill>
                <a:latin typeface="Calibri" pitchFamily="34" charset="0"/>
                <a:ea typeface="Calibri" pitchFamily="34" charset="-122"/>
                <a:cs typeface="Calibri" pitchFamily="34" charset="-120"/>
              </a:rPr>
              <a:t>Noor Ahmed</a:t>
            </a:r>
            <a:r>
              <a:rPr lang="en-US" sz="1400" dirty="0">
                <a:solidFill>
                  <a:srgbClr val="CADCFC"/>
                </a:solidFill>
              </a:rPr>
              <a:t>  · </a:t>
            </a:r>
            <a:r>
              <a:rPr lang="en-US" sz="1400" b="1" dirty="0">
                <a:solidFill>
                  <a:srgbClr val="FFFFFF"/>
                </a:solidFill>
                <a:latin typeface="Calibri" pitchFamily="34" charset="0"/>
                <a:ea typeface="Calibri" pitchFamily="34" charset="-122"/>
                <a:cs typeface="Calibri" pitchFamily="34" charset="-120"/>
              </a:rPr>
              <a:t>Nick Romano</a:t>
            </a:r>
            <a:endParaRPr lang="en-US" sz="1400" dirty="0"/>
          </a:p>
        </p:txBody>
      </p:sp>
      <p:sp>
        <p:nvSpPr>
          <p:cNvPr id="16" name="Text 14"/>
          <p:cNvSpPr/>
          <p:nvPr/>
        </p:nvSpPr>
        <p:spPr>
          <a:xfrm>
            <a:off x="731520" y="5806440"/>
            <a:ext cx="10972800" cy="365760"/>
          </a:xfrm>
          <a:prstGeom prst="rect">
            <a:avLst/>
          </a:prstGeom>
          <a:noFill/>
          <a:ln/>
        </p:spPr>
        <p:txBody>
          <a:bodyPr wrap="square" rtlCol="0" anchor="ctr"/>
          <a:lstStyle/>
          <a:p>
            <a:pPr marL="0" indent="0">
              <a:buNone/>
            </a:pPr>
            <a:r>
              <a:rPr lang="en-US" sz="1300" b="1" dirty="0">
                <a:solidFill>
                  <a:srgbClr val="2AB7CA"/>
                </a:solidFill>
                <a:latin typeface="Calibri" pitchFamily="34" charset="0"/>
                <a:ea typeface="Calibri" pitchFamily="34" charset="-122"/>
                <a:cs typeface="Calibri" pitchFamily="34" charset="-120"/>
              </a:rPr>
              <a:t>allowancemap.vercel.app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C54"/>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AB7CA"/>
          </a:solidFill>
          <a:ln/>
        </p:spPr>
        <p:txBody>
          <a:bodyPr/>
          <a:lstStyle/>
          <a:p>
            <a:endParaRPr lang="en-IN"/>
          </a:p>
        </p:txBody>
      </p:sp>
      <p:sp>
        <p:nvSpPr>
          <p:cNvPr id="3" name="Text 1"/>
          <p:cNvSpPr/>
          <p:nvPr/>
        </p:nvSpPr>
        <p:spPr>
          <a:xfrm>
            <a:off x="731520" y="2194560"/>
            <a:ext cx="10972800" cy="411480"/>
          </a:xfrm>
          <a:prstGeom prst="rect">
            <a:avLst/>
          </a:prstGeom>
          <a:noFill/>
          <a:ln/>
        </p:spPr>
        <p:txBody>
          <a:bodyPr wrap="square" rtlCol="0" anchor="ctr"/>
          <a:lstStyle/>
          <a:p>
            <a:pPr marL="0" indent="0">
              <a:buNone/>
            </a:pPr>
            <a:r>
              <a:rPr lang="en-US" sz="1400" b="1" kern="0" spc="400" dirty="0">
                <a:solidFill>
                  <a:srgbClr val="2AB7CA"/>
                </a:solidFill>
                <a:latin typeface="Calibri" pitchFamily="34" charset="0"/>
                <a:ea typeface="Calibri" pitchFamily="34" charset="-122"/>
                <a:cs typeface="Calibri" pitchFamily="34" charset="-120"/>
              </a:rPr>
              <a:t>SECTION 1  ·  CONTEXT</a:t>
            </a:r>
            <a:endParaRPr lang="en-US" sz="1400" dirty="0"/>
          </a:p>
        </p:txBody>
      </p:sp>
      <p:sp>
        <p:nvSpPr>
          <p:cNvPr id="4" name="Text 2"/>
          <p:cNvSpPr/>
          <p:nvPr/>
        </p:nvSpPr>
        <p:spPr>
          <a:xfrm>
            <a:off x="731520" y="2651760"/>
            <a:ext cx="10972800" cy="201168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Medicare, the pricing black box,</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and why this project exists</a:t>
            </a:r>
            <a:endParaRPr lang="en-US" sz="4400" dirty="0"/>
          </a:p>
        </p:txBody>
      </p:sp>
      <p:sp>
        <p:nvSpPr>
          <p:cNvPr id="5" name="Text 3"/>
          <p:cNvSpPr/>
          <p:nvPr/>
        </p:nvSpPr>
        <p:spPr>
          <a:xfrm>
            <a:off x="731520" y="5303520"/>
            <a:ext cx="10972800" cy="36576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Presenter: Nick Romano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01  ·  WHAT IS MEDICARE?</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Federal health insurance for 63 million Americans</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Text 3"/>
          <p:cNvSpPr/>
          <p:nvPr/>
        </p:nvSpPr>
        <p:spPr>
          <a:xfrm>
            <a:off x="457200" y="1600200"/>
            <a:ext cx="5760720" cy="365760"/>
          </a:xfrm>
          <a:prstGeom prst="rect">
            <a:avLst/>
          </a:prstGeom>
          <a:noFill/>
          <a:ln/>
        </p:spPr>
        <p:txBody>
          <a:bodyPr wrap="square"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Medicare in one paragraph</a:t>
            </a:r>
            <a:endParaRPr lang="en-US" sz="1300" dirty="0"/>
          </a:p>
        </p:txBody>
      </p:sp>
      <p:sp>
        <p:nvSpPr>
          <p:cNvPr id="6" name="Text 4"/>
          <p:cNvSpPr/>
          <p:nvPr/>
        </p:nvSpPr>
        <p:spPr>
          <a:xfrm>
            <a:off x="457200" y="1965960"/>
            <a:ext cx="5760720" cy="1097280"/>
          </a:xfrm>
          <a:prstGeom prst="rect">
            <a:avLst/>
          </a:prstGeom>
          <a:noFill/>
          <a:ln/>
        </p:spPr>
        <p:txBody>
          <a:bodyPr wrap="square" rtlCol="0" anchor="t"/>
          <a:lstStyle/>
          <a:p>
            <a:pPr marL="0" indent="0">
              <a:spcAft>
                <a:spcPts val="600"/>
              </a:spcAft>
              <a:buNone/>
            </a:pPr>
            <a:r>
              <a:rPr lang="en-US" sz="1400" dirty="0">
                <a:solidFill>
                  <a:srgbClr val="1A1A1A"/>
                </a:solidFill>
                <a:latin typeface="Calibri" pitchFamily="34" charset="0"/>
                <a:ea typeface="Calibri" pitchFamily="34" charset="-122"/>
                <a:cs typeface="Calibri" pitchFamily="34" charset="-120"/>
              </a:rPr>
              <a:t>Medicare is the U.S. federal health-insurance program, enacted in 1965. </a:t>
            </a:r>
            <a:r>
              <a:rPr lang="en-US" sz="1400" b="1" dirty="0">
                <a:solidFill>
                  <a:srgbClr val="1A1A1A"/>
                </a:solidFill>
                <a:latin typeface="Calibri" pitchFamily="34" charset="0"/>
                <a:ea typeface="Calibri" pitchFamily="34" charset="-122"/>
                <a:cs typeface="Calibri" pitchFamily="34" charset="-120"/>
              </a:rPr>
              <a:t>It covers Americans 65 and older</a:t>
            </a:r>
            <a:r>
              <a:rPr lang="en-US" sz="1400" dirty="0">
                <a:solidFill>
                  <a:srgbClr val="1A1A1A"/>
                </a:solidFill>
                <a:latin typeface="Calibri" pitchFamily="34" charset="0"/>
                <a:ea typeface="Calibri" pitchFamily="34" charset="-122"/>
                <a:cs typeface="Calibri" pitchFamily="34" charset="-120"/>
              </a:rPr>
              <a:t>, plus some younger people with long-term disabilities or end-stage kidney failure.</a:t>
            </a:r>
            <a:endParaRPr lang="en-US" sz="1400" dirty="0"/>
          </a:p>
        </p:txBody>
      </p:sp>
      <p:sp>
        <p:nvSpPr>
          <p:cNvPr id="7" name="Text 5"/>
          <p:cNvSpPr/>
          <p:nvPr/>
        </p:nvSpPr>
        <p:spPr>
          <a:xfrm>
            <a:off x="457200" y="3154680"/>
            <a:ext cx="5760720" cy="365760"/>
          </a:xfrm>
          <a:prstGeom prst="rect">
            <a:avLst/>
          </a:prstGeom>
          <a:noFill/>
          <a:ln/>
        </p:spPr>
        <p:txBody>
          <a:bodyPr wrap="square"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The four parts</a:t>
            </a:r>
            <a:endParaRPr lang="en-US" sz="1300" dirty="0"/>
          </a:p>
        </p:txBody>
      </p:sp>
      <p:sp>
        <p:nvSpPr>
          <p:cNvPr id="8" name="Shape 6"/>
          <p:cNvSpPr/>
          <p:nvPr/>
        </p:nvSpPr>
        <p:spPr>
          <a:xfrm>
            <a:off x="457200" y="3520440"/>
            <a:ext cx="914400" cy="384048"/>
          </a:xfrm>
          <a:prstGeom prst="rect">
            <a:avLst/>
          </a:prstGeom>
          <a:solidFill>
            <a:srgbClr val="F4F9FC"/>
          </a:solidFill>
          <a:ln/>
        </p:spPr>
        <p:txBody>
          <a:bodyPr/>
          <a:lstStyle/>
          <a:p>
            <a:endParaRPr lang="en-IN"/>
          </a:p>
        </p:txBody>
      </p:sp>
      <p:sp>
        <p:nvSpPr>
          <p:cNvPr id="9" name="Text 7"/>
          <p:cNvSpPr/>
          <p:nvPr/>
        </p:nvSpPr>
        <p:spPr>
          <a:xfrm>
            <a:off x="457200" y="3520440"/>
            <a:ext cx="914400" cy="384048"/>
          </a:xfrm>
          <a:prstGeom prst="rect">
            <a:avLst/>
          </a:prstGeom>
          <a:noFill/>
          <a:ln/>
        </p:spPr>
        <p:txBody>
          <a:bodyPr wrap="square" lIns="0" tIns="0" rIns="0" bIns="0" rtlCol="0" anchor="ctr"/>
          <a:lstStyle/>
          <a:p>
            <a:pPr marL="0" indent="0" algn="ctr">
              <a:buNone/>
            </a:pPr>
            <a:r>
              <a:rPr lang="en-US" sz="1300" b="1" dirty="0">
                <a:solidFill>
                  <a:srgbClr val="0D2C54"/>
                </a:solidFill>
                <a:latin typeface="Calibri" pitchFamily="34" charset="0"/>
                <a:ea typeface="Calibri" pitchFamily="34" charset="-122"/>
                <a:cs typeface="Calibri" pitchFamily="34" charset="-120"/>
              </a:rPr>
              <a:t>Part A</a:t>
            </a:r>
            <a:endParaRPr lang="en-US" sz="1300" dirty="0"/>
          </a:p>
        </p:txBody>
      </p:sp>
      <p:sp>
        <p:nvSpPr>
          <p:cNvPr id="10" name="Text 8"/>
          <p:cNvSpPr/>
          <p:nvPr/>
        </p:nvSpPr>
        <p:spPr>
          <a:xfrm>
            <a:off x="1508760" y="3520440"/>
            <a:ext cx="4663440" cy="384048"/>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Hospital stays, skilled nursing</a:t>
            </a:r>
            <a:endParaRPr lang="en-US" sz="1300" dirty="0"/>
          </a:p>
        </p:txBody>
      </p:sp>
      <p:sp>
        <p:nvSpPr>
          <p:cNvPr id="11" name="Shape 9"/>
          <p:cNvSpPr/>
          <p:nvPr/>
        </p:nvSpPr>
        <p:spPr>
          <a:xfrm>
            <a:off x="457200" y="4023360"/>
            <a:ext cx="914400" cy="384048"/>
          </a:xfrm>
          <a:prstGeom prst="rect">
            <a:avLst/>
          </a:prstGeom>
          <a:solidFill>
            <a:srgbClr val="E0613E"/>
          </a:solidFill>
          <a:ln/>
        </p:spPr>
        <p:txBody>
          <a:bodyPr/>
          <a:lstStyle/>
          <a:p>
            <a:endParaRPr lang="en-IN"/>
          </a:p>
        </p:txBody>
      </p:sp>
      <p:sp>
        <p:nvSpPr>
          <p:cNvPr id="12" name="Text 10"/>
          <p:cNvSpPr/>
          <p:nvPr/>
        </p:nvSpPr>
        <p:spPr>
          <a:xfrm>
            <a:off x="457200" y="4023360"/>
            <a:ext cx="9144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B</a:t>
            </a:r>
            <a:endParaRPr lang="en-US" sz="1300" dirty="0"/>
          </a:p>
        </p:txBody>
      </p:sp>
      <p:sp>
        <p:nvSpPr>
          <p:cNvPr id="13" name="Text 11"/>
          <p:cNvSpPr/>
          <p:nvPr/>
        </p:nvSpPr>
        <p:spPr>
          <a:xfrm>
            <a:off x="1508760" y="4023360"/>
            <a:ext cx="4663440" cy="384048"/>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Doctor visits, outpatient care, labs</a:t>
            </a:r>
            <a:endParaRPr lang="en-US" sz="1300" dirty="0"/>
          </a:p>
        </p:txBody>
      </p:sp>
      <p:sp>
        <p:nvSpPr>
          <p:cNvPr id="14" name="Shape 12"/>
          <p:cNvSpPr/>
          <p:nvPr/>
        </p:nvSpPr>
        <p:spPr>
          <a:xfrm>
            <a:off x="457200" y="4526280"/>
            <a:ext cx="914400" cy="384048"/>
          </a:xfrm>
          <a:prstGeom prst="rect">
            <a:avLst/>
          </a:prstGeom>
          <a:solidFill>
            <a:srgbClr val="F4F9FC"/>
          </a:solidFill>
          <a:ln/>
        </p:spPr>
        <p:txBody>
          <a:bodyPr/>
          <a:lstStyle/>
          <a:p>
            <a:endParaRPr lang="en-IN"/>
          </a:p>
        </p:txBody>
      </p:sp>
      <p:sp>
        <p:nvSpPr>
          <p:cNvPr id="15" name="Text 13"/>
          <p:cNvSpPr/>
          <p:nvPr/>
        </p:nvSpPr>
        <p:spPr>
          <a:xfrm>
            <a:off x="457200" y="4526280"/>
            <a:ext cx="914400" cy="384048"/>
          </a:xfrm>
          <a:prstGeom prst="rect">
            <a:avLst/>
          </a:prstGeom>
          <a:noFill/>
          <a:ln/>
        </p:spPr>
        <p:txBody>
          <a:bodyPr wrap="square" lIns="0" tIns="0" rIns="0" bIns="0" rtlCol="0" anchor="ctr"/>
          <a:lstStyle/>
          <a:p>
            <a:pPr marL="0" indent="0" algn="ctr">
              <a:buNone/>
            </a:pPr>
            <a:r>
              <a:rPr lang="en-US" sz="1300" b="1" dirty="0">
                <a:solidFill>
                  <a:srgbClr val="0D2C54"/>
                </a:solidFill>
                <a:latin typeface="Calibri" pitchFamily="34" charset="0"/>
                <a:ea typeface="Calibri" pitchFamily="34" charset="-122"/>
                <a:cs typeface="Calibri" pitchFamily="34" charset="-120"/>
              </a:rPr>
              <a:t>Part C</a:t>
            </a:r>
            <a:endParaRPr lang="en-US" sz="1300" dirty="0"/>
          </a:p>
        </p:txBody>
      </p:sp>
      <p:sp>
        <p:nvSpPr>
          <p:cNvPr id="16" name="Text 14"/>
          <p:cNvSpPr/>
          <p:nvPr/>
        </p:nvSpPr>
        <p:spPr>
          <a:xfrm>
            <a:off x="1508760" y="4526280"/>
            <a:ext cx="4663440" cy="384048"/>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Medicare Advantage (private bundles)</a:t>
            </a:r>
            <a:endParaRPr lang="en-US" sz="1300" dirty="0"/>
          </a:p>
        </p:txBody>
      </p:sp>
      <p:sp>
        <p:nvSpPr>
          <p:cNvPr id="17" name="Shape 15"/>
          <p:cNvSpPr/>
          <p:nvPr/>
        </p:nvSpPr>
        <p:spPr>
          <a:xfrm>
            <a:off x="457200" y="5029200"/>
            <a:ext cx="914400" cy="384048"/>
          </a:xfrm>
          <a:prstGeom prst="rect">
            <a:avLst/>
          </a:prstGeom>
          <a:solidFill>
            <a:srgbClr val="F4F9FC"/>
          </a:solidFill>
          <a:ln/>
        </p:spPr>
        <p:txBody>
          <a:bodyPr/>
          <a:lstStyle/>
          <a:p>
            <a:endParaRPr lang="en-IN"/>
          </a:p>
        </p:txBody>
      </p:sp>
      <p:sp>
        <p:nvSpPr>
          <p:cNvPr id="18" name="Text 16"/>
          <p:cNvSpPr/>
          <p:nvPr/>
        </p:nvSpPr>
        <p:spPr>
          <a:xfrm>
            <a:off x="457200" y="5029200"/>
            <a:ext cx="914400" cy="384048"/>
          </a:xfrm>
          <a:prstGeom prst="rect">
            <a:avLst/>
          </a:prstGeom>
          <a:noFill/>
          <a:ln/>
        </p:spPr>
        <p:txBody>
          <a:bodyPr wrap="square" lIns="0" tIns="0" rIns="0" bIns="0" rtlCol="0" anchor="ctr"/>
          <a:lstStyle/>
          <a:p>
            <a:pPr marL="0" indent="0" algn="ctr">
              <a:buNone/>
            </a:pPr>
            <a:r>
              <a:rPr lang="en-US" sz="1300" b="1" dirty="0">
                <a:solidFill>
                  <a:srgbClr val="0D2C54"/>
                </a:solidFill>
                <a:latin typeface="Calibri" pitchFamily="34" charset="0"/>
                <a:ea typeface="Calibri" pitchFamily="34" charset="-122"/>
                <a:cs typeface="Calibri" pitchFamily="34" charset="-120"/>
              </a:rPr>
              <a:t>Part D</a:t>
            </a:r>
            <a:endParaRPr lang="en-US" sz="1300" dirty="0"/>
          </a:p>
        </p:txBody>
      </p:sp>
      <p:sp>
        <p:nvSpPr>
          <p:cNvPr id="19" name="Text 17"/>
          <p:cNvSpPr/>
          <p:nvPr/>
        </p:nvSpPr>
        <p:spPr>
          <a:xfrm>
            <a:off x="1508760" y="5029200"/>
            <a:ext cx="4663440" cy="384048"/>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Prescription drugs</a:t>
            </a:r>
            <a:endParaRPr lang="en-US" sz="1300" dirty="0"/>
          </a:p>
        </p:txBody>
      </p:sp>
      <p:sp>
        <p:nvSpPr>
          <p:cNvPr id="20" name="Text 18"/>
          <p:cNvSpPr/>
          <p:nvPr/>
        </p:nvSpPr>
        <p:spPr>
          <a:xfrm>
            <a:off x="457200" y="5669280"/>
            <a:ext cx="5760720" cy="274320"/>
          </a:xfrm>
          <a:prstGeom prst="rect">
            <a:avLst/>
          </a:prstGeom>
          <a:noFill/>
          <a:ln/>
        </p:spPr>
        <p:txBody>
          <a:bodyPr wrap="square" rtlCol="0" anchor="ctr"/>
          <a:lstStyle/>
          <a:p>
            <a:pPr marL="0" indent="0">
              <a:buNone/>
            </a:pPr>
            <a:r>
              <a:rPr lang="en-US" sz="1100" b="1" i="1" dirty="0">
                <a:solidFill>
                  <a:srgbClr val="E0613E"/>
                </a:solidFill>
                <a:latin typeface="Calibri" pitchFamily="34" charset="0"/>
                <a:ea typeface="Calibri" pitchFamily="34" charset="-122"/>
                <a:cs typeface="Calibri" pitchFamily="34" charset="-120"/>
              </a:rPr>
              <a:t>^ Part B is our focus</a:t>
            </a:r>
            <a:endParaRPr lang="en-US" sz="1100" dirty="0"/>
          </a:p>
        </p:txBody>
      </p:sp>
      <p:sp>
        <p:nvSpPr>
          <p:cNvPr id="21" name="Shape 19"/>
          <p:cNvSpPr/>
          <p:nvPr/>
        </p:nvSpPr>
        <p:spPr>
          <a:xfrm>
            <a:off x="6583680" y="1600200"/>
            <a:ext cx="5120640" cy="1143000"/>
          </a:xfrm>
          <a:prstGeom prst="rect">
            <a:avLst/>
          </a:prstGeom>
          <a:solidFill>
            <a:srgbClr val="F4F9FC"/>
          </a:solidFill>
          <a:ln w="6350">
            <a:solidFill>
              <a:srgbClr val="D5DFE9"/>
            </a:solidFill>
            <a:prstDash val="solid"/>
          </a:ln>
        </p:spPr>
        <p:txBody>
          <a:bodyPr/>
          <a:lstStyle/>
          <a:p>
            <a:endParaRPr lang="en-IN"/>
          </a:p>
        </p:txBody>
      </p:sp>
      <p:sp>
        <p:nvSpPr>
          <p:cNvPr id="22" name="Shape 20"/>
          <p:cNvSpPr/>
          <p:nvPr/>
        </p:nvSpPr>
        <p:spPr>
          <a:xfrm>
            <a:off x="6583680" y="1600200"/>
            <a:ext cx="73152" cy="1143000"/>
          </a:xfrm>
          <a:prstGeom prst="rect">
            <a:avLst/>
          </a:prstGeom>
          <a:solidFill>
            <a:srgbClr val="2AB7CA"/>
          </a:solidFill>
          <a:ln/>
        </p:spPr>
        <p:txBody>
          <a:bodyPr/>
          <a:lstStyle/>
          <a:p>
            <a:endParaRPr lang="en-IN"/>
          </a:p>
        </p:txBody>
      </p:sp>
      <p:sp>
        <p:nvSpPr>
          <p:cNvPr id="23" name="Text 21"/>
          <p:cNvSpPr/>
          <p:nvPr/>
        </p:nvSpPr>
        <p:spPr>
          <a:xfrm>
            <a:off x="6812280" y="1737360"/>
            <a:ext cx="4800600" cy="62865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~63M</a:t>
            </a:r>
            <a:endParaRPr lang="en-US" sz="3000" dirty="0"/>
          </a:p>
        </p:txBody>
      </p:sp>
      <p:sp>
        <p:nvSpPr>
          <p:cNvPr id="24" name="Text 22"/>
          <p:cNvSpPr/>
          <p:nvPr/>
        </p:nvSpPr>
        <p:spPr>
          <a:xfrm>
            <a:off x="6812280" y="2308860"/>
            <a:ext cx="4800600" cy="38862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Medicare beneficiaries (2023)   roughly 1 in 5 Americans</a:t>
            </a:r>
            <a:endParaRPr lang="en-US" sz="1000" dirty="0"/>
          </a:p>
        </p:txBody>
      </p:sp>
      <p:sp>
        <p:nvSpPr>
          <p:cNvPr id="25" name="Shape 23"/>
          <p:cNvSpPr/>
          <p:nvPr/>
        </p:nvSpPr>
        <p:spPr>
          <a:xfrm>
            <a:off x="6583680" y="2834640"/>
            <a:ext cx="5120640" cy="1143000"/>
          </a:xfrm>
          <a:prstGeom prst="rect">
            <a:avLst/>
          </a:prstGeom>
          <a:solidFill>
            <a:srgbClr val="F4F9FC"/>
          </a:solidFill>
          <a:ln w="6350">
            <a:solidFill>
              <a:srgbClr val="D5DFE9"/>
            </a:solidFill>
            <a:prstDash val="solid"/>
          </a:ln>
        </p:spPr>
        <p:txBody>
          <a:bodyPr/>
          <a:lstStyle/>
          <a:p>
            <a:endParaRPr lang="en-IN"/>
          </a:p>
        </p:txBody>
      </p:sp>
      <p:sp>
        <p:nvSpPr>
          <p:cNvPr id="26" name="Shape 24"/>
          <p:cNvSpPr/>
          <p:nvPr/>
        </p:nvSpPr>
        <p:spPr>
          <a:xfrm>
            <a:off x="6583680" y="2834640"/>
            <a:ext cx="73152" cy="1143000"/>
          </a:xfrm>
          <a:prstGeom prst="rect">
            <a:avLst/>
          </a:prstGeom>
          <a:solidFill>
            <a:srgbClr val="065A82"/>
          </a:solidFill>
          <a:ln/>
        </p:spPr>
        <p:txBody>
          <a:bodyPr/>
          <a:lstStyle/>
          <a:p>
            <a:endParaRPr lang="en-IN"/>
          </a:p>
        </p:txBody>
      </p:sp>
      <p:sp>
        <p:nvSpPr>
          <p:cNvPr id="27" name="Text 25"/>
          <p:cNvSpPr/>
          <p:nvPr/>
        </p:nvSpPr>
        <p:spPr>
          <a:xfrm>
            <a:off x="6812280" y="2971800"/>
            <a:ext cx="4800600" cy="62865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80 / 20</a:t>
            </a:r>
            <a:endParaRPr lang="en-US" sz="3000" dirty="0"/>
          </a:p>
        </p:txBody>
      </p:sp>
      <p:sp>
        <p:nvSpPr>
          <p:cNvPr id="28" name="Text 26"/>
          <p:cNvSpPr/>
          <p:nvPr/>
        </p:nvSpPr>
        <p:spPr>
          <a:xfrm>
            <a:off x="6812280" y="3543300"/>
            <a:ext cx="4800600" cy="38862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Medicare pays 80% of the "allowed amount", patient pays 20%</a:t>
            </a:r>
            <a:endParaRPr lang="en-US" sz="1000" dirty="0"/>
          </a:p>
        </p:txBody>
      </p:sp>
      <p:sp>
        <p:nvSpPr>
          <p:cNvPr id="29" name="Shape 27"/>
          <p:cNvSpPr/>
          <p:nvPr/>
        </p:nvSpPr>
        <p:spPr>
          <a:xfrm>
            <a:off x="6583680" y="4069080"/>
            <a:ext cx="5120640" cy="1143000"/>
          </a:xfrm>
          <a:prstGeom prst="rect">
            <a:avLst/>
          </a:prstGeom>
          <a:solidFill>
            <a:srgbClr val="F4F9FC"/>
          </a:solidFill>
          <a:ln w="6350">
            <a:solidFill>
              <a:srgbClr val="D5DFE9"/>
            </a:solidFill>
            <a:prstDash val="solid"/>
          </a:ln>
        </p:spPr>
        <p:txBody>
          <a:bodyPr/>
          <a:lstStyle/>
          <a:p>
            <a:endParaRPr lang="en-IN"/>
          </a:p>
        </p:txBody>
      </p:sp>
      <p:sp>
        <p:nvSpPr>
          <p:cNvPr id="30" name="Shape 28"/>
          <p:cNvSpPr/>
          <p:nvPr/>
        </p:nvSpPr>
        <p:spPr>
          <a:xfrm>
            <a:off x="6583680" y="4069080"/>
            <a:ext cx="73152" cy="1143000"/>
          </a:xfrm>
          <a:prstGeom prst="rect">
            <a:avLst/>
          </a:prstGeom>
          <a:solidFill>
            <a:srgbClr val="0D2C54"/>
          </a:solidFill>
          <a:ln/>
        </p:spPr>
        <p:txBody>
          <a:bodyPr/>
          <a:lstStyle/>
          <a:p>
            <a:endParaRPr lang="en-IN"/>
          </a:p>
        </p:txBody>
      </p:sp>
      <p:sp>
        <p:nvSpPr>
          <p:cNvPr id="31" name="Text 29"/>
          <p:cNvSpPr/>
          <p:nvPr/>
        </p:nvSpPr>
        <p:spPr>
          <a:xfrm>
            <a:off x="6812280" y="4206240"/>
            <a:ext cx="4800600" cy="62865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$900B+</a:t>
            </a:r>
            <a:endParaRPr lang="en-US" sz="3000" dirty="0"/>
          </a:p>
        </p:txBody>
      </p:sp>
      <p:sp>
        <p:nvSpPr>
          <p:cNvPr id="32" name="Text 30"/>
          <p:cNvSpPr/>
          <p:nvPr/>
        </p:nvSpPr>
        <p:spPr>
          <a:xfrm>
            <a:off x="6812280" y="4777740"/>
            <a:ext cx="4800600" cy="38862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annual Medicare spending   largest single US health-insurance program</a:t>
            </a:r>
            <a:endParaRPr lang="en-US" sz="1000" dirty="0"/>
          </a:p>
        </p:txBody>
      </p:sp>
      <p:sp>
        <p:nvSpPr>
          <p:cNvPr id="33" name="Shape 31"/>
          <p:cNvSpPr/>
          <p:nvPr/>
        </p:nvSpPr>
        <p:spPr>
          <a:xfrm>
            <a:off x="6583680" y="5303520"/>
            <a:ext cx="5120640" cy="1051560"/>
          </a:xfrm>
          <a:prstGeom prst="rect">
            <a:avLst/>
          </a:prstGeom>
          <a:solidFill>
            <a:srgbClr val="F4F9FC"/>
          </a:solidFill>
          <a:ln w="6350">
            <a:solidFill>
              <a:srgbClr val="D5DFE9"/>
            </a:solidFill>
            <a:prstDash val="solid"/>
          </a:ln>
        </p:spPr>
        <p:txBody>
          <a:bodyPr/>
          <a:lstStyle/>
          <a:p>
            <a:endParaRPr lang="en-IN"/>
          </a:p>
        </p:txBody>
      </p:sp>
      <p:sp>
        <p:nvSpPr>
          <p:cNvPr id="34" name="Shape 32"/>
          <p:cNvSpPr/>
          <p:nvPr/>
        </p:nvSpPr>
        <p:spPr>
          <a:xfrm>
            <a:off x="6583680" y="5303520"/>
            <a:ext cx="73152" cy="1051560"/>
          </a:xfrm>
          <a:prstGeom prst="rect">
            <a:avLst/>
          </a:prstGeom>
          <a:solidFill>
            <a:srgbClr val="D4A017"/>
          </a:solidFill>
          <a:ln/>
        </p:spPr>
        <p:txBody>
          <a:bodyPr/>
          <a:lstStyle/>
          <a:p>
            <a:endParaRPr lang="en-IN"/>
          </a:p>
        </p:txBody>
      </p:sp>
      <p:sp>
        <p:nvSpPr>
          <p:cNvPr id="35" name="Text 33"/>
          <p:cNvSpPr/>
          <p:nvPr/>
        </p:nvSpPr>
        <p:spPr>
          <a:xfrm>
            <a:off x="6812280" y="5440680"/>
            <a:ext cx="4800600" cy="578358"/>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10,000/day</a:t>
            </a:r>
            <a:endParaRPr lang="en-US" sz="3000" dirty="0"/>
          </a:p>
        </p:txBody>
      </p:sp>
      <p:sp>
        <p:nvSpPr>
          <p:cNvPr id="36" name="Text 34"/>
          <p:cNvSpPr/>
          <p:nvPr/>
        </p:nvSpPr>
        <p:spPr>
          <a:xfrm>
            <a:off x="6812280" y="5955487"/>
            <a:ext cx="4800600" cy="35753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Americans aging into Medicare   caseload grows every day</a:t>
            </a:r>
            <a:endParaRPr lang="en-US" sz="1000" dirty="0"/>
          </a:p>
        </p:txBody>
      </p:sp>
      <p:sp>
        <p:nvSpPr>
          <p:cNvPr id="37" name="Shape 35"/>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38" name="Text 36"/>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39" name="Text 37"/>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NICK ROMANO</a:t>
            </a:r>
            <a:endParaRPr lang="en-US" sz="900" dirty="0"/>
          </a:p>
        </p:txBody>
      </p:sp>
      <p:sp>
        <p:nvSpPr>
          <p:cNvPr id="40" name="Text 38"/>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03 / 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02  ·  THE PROBLEM</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Medicare pricing is a black box for the people who pay for it</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Shape 3"/>
          <p:cNvSpPr/>
          <p:nvPr/>
        </p:nvSpPr>
        <p:spPr>
          <a:xfrm>
            <a:off x="457200" y="1600200"/>
            <a:ext cx="11247120" cy="1234440"/>
          </a:xfrm>
          <a:prstGeom prst="rect">
            <a:avLst/>
          </a:prstGeom>
          <a:solidFill>
            <a:srgbClr val="F4F9FC"/>
          </a:solidFill>
          <a:ln w="12700">
            <a:solidFill>
              <a:srgbClr val="2AB7CA"/>
            </a:solidFill>
            <a:prstDash val="solid"/>
          </a:ln>
        </p:spPr>
        <p:txBody>
          <a:bodyPr/>
          <a:lstStyle/>
          <a:p>
            <a:endParaRPr lang="en-IN"/>
          </a:p>
        </p:txBody>
      </p:sp>
      <p:sp>
        <p:nvSpPr>
          <p:cNvPr id="6" name="Shape 4"/>
          <p:cNvSpPr/>
          <p:nvPr/>
        </p:nvSpPr>
        <p:spPr>
          <a:xfrm>
            <a:off x="457200" y="1600200"/>
            <a:ext cx="109728" cy="1234440"/>
          </a:xfrm>
          <a:prstGeom prst="rect">
            <a:avLst/>
          </a:prstGeom>
          <a:solidFill>
            <a:srgbClr val="E0613E"/>
          </a:solidFill>
          <a:ln/>
        </p:spPr>
        <p:txBody>
          <a:bodyPr/>
          <a:lstStyle/>
          <a:p>
            <a:endParaRPr lang="en-IN"/>
          </a:p>
        </p:txBody>
      </p:sp>
      <p:sp>
        <p:nvSpPr>
          <p:cNvPr id="7" name="Text 5"/>
          <p:cNvSpPr/>
          <p:nvPr/>
        </p:nvSpPr>
        <p:spPr>
          <a:xfrm>
            <a:off x="685800" y="1691640"/>
            <a:ext cx="10972800" cy="502920"/>
          </a:xfrm>
          <a:prstGeom prst="rect">
            <a:avLst/>
          </a:prstGeom>
          <a:noFill/>
          <a:ln/>
        </p:spPr>
        <p:txBody>
          <a:bodyPr wrap="square" lIns="0" tIns="0" rIns="0" bIns="0" rtlCol="0" anchor="ctr"/>
          <a:lstStyle/>
          <a:p>
            <a:pPr marL="0" indent="0">
              <a:buNone/>
            </a:pPr>
            <a:r>
              <a:rPr lang="en-US" sz="2400" b="1" i="1" dirty="0">
                <a:solidFill>
                  <a:srgbClr val="0D2C54"/>
                </a:solidFill>
                <a:latin typeface="Cambria" pitchFamily="34" charset="0"/>
                <a:ea typeface="Cambria" pitchFamily="34" charset="-122"/>
                <a:cs typeface="Cambria" pitchFamily="34" charset="-120"/>
              </a:rPr>
              <a:t>"How much will this doctor visit cost me?"</a:t>
            </a:r>
            <a:endParaRPr lang="en-US" sz="2400" dirty="0"/>
          </a:p>
        </p:txBody>
      </p:sp>
      <p:sp>
        <p:nvSpPr>
          <p:cNvPr id="8" name="Text 6"/>
          <p:cNvSpPr/>
          <p:nvPr/>
        </p:nvSpPr>
        <p:spPr>
          <a:xfrm>
            <a:off x="685800" y="2194560"/>
            <a:ext cx="10972800" cy="640080"/>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Almost impossible to answer in advance. The formula is public - but it spans 3 RVU components, 100+ geographic adjusters, ~10,000 billing codes, and a yearly conversion factor. Patients never see that math. Existing hospital "cost estimators" collapse it into one vague range and ignore out-of-pocket entirely.</a:t>
            </a:r>
            <a:endParaRPr lang="en-US" sz="1300" dirty="0"/>
          </a:p>
        </p:txBody>
      </p:sp>
      <p:sp>
        <p:nvSpPr>
          <p:cNvPr id="9" name="Shape 7"/>
          <p:cNvSpPr/>
          <p:nvPr/>
        </p:nvSpPr>
        <p:spPr>
          <a:xfrm>
            <a:off x="457200" y="3108960"/>
            <a:ext cx="3611880" cy="3108960"/>
          </a:xfrm>
          <a:prstGeom prst="rect">
            <a:avLst/>
          </a:prstGeom>
          <a:solidFill>
            <a:srgbClr val="FFFFFF"/>
          </a:solidFill>
          <a:ln w="9525">
            <a:solidFill>
              <a:srgbClr val="D5DFE9"/>
            </a:solidFill>
            <a:prstDash val="solid"/>
          </a:ln>
        </p:spPr>
        <p:txBody>
          <a:bodyPr/>
          <a:lstStyle/>
          <a:p>
            <a:endParaRPr lang="en-IN"/>
          </a:p>
        </p:txBody>
      </p:sp>
      <p:sp>
        <p:nvSpPr>
          <p:cNvPr id="10" name="Shape 8"/>
          <p:cNvSpPr/>
          <p:nvPr/>
        </p:nvSpPr>
        <p:spPr>
          <a:xfrm>
            <a:off x="457200" y="3108960"/>
            <a:ext cx="3611880" cy="91440"/>
          </a:xfrm>
          <a:prstGeom prst="rect">
            <a:avLst/>
          </a:prstGeom>
          <a:solidFill>
            <a:srgbClr val="065A82"/>
          </a:solidFill>
          <a:ln/>
        </p:spPr>
        <p:txBody>
          <a:bodyPr/>
          <a:lstStyle/>
          <a:p>
            <a:endParaRPr lang="en-IN"/>
          </a:p>
        </p:txBody>
      </p:sp>
      <p:sp>
        <p:nvSpPr>
          <p:cNvPr id="11" name="Text 9"/>
          <p:cNvSpPr/>
          <p:nvPr/>
        </p:nvSpPr>
        <p:spPr>
          <a:xfrm>
            <a:off x="685800" y="3337560"/>
            <a:ext cx="640080" cy="365760"/>
          </a:xfrm>
          <a:prstGeom prst="rect">
            <a:avLst/>
          </a:prstGeom>
          <a:noFill/>
          <a:ln/>
        </p:spPr>
        <p:txBody>
          <a:bodyPr wrap="square" lIns="0" tIns="0" rIns="0" bIns="0" rtlCol="0" anchor="ctr"/>
          <a:lstStyle/>
          <a:p>
            <a:pPr marL="0" indent="0">
              <a:buNone/>
            </a:pPr>
            <a:r>
              <a:rPr lang="en-US" sz="2000" b="1" dirty="0">
                <a:solidFill>
                  <a:srgbClr val="065A82"/>
                </a:solidFill>
                <a:latin typeface="Cambria" pitchFamily="34" charset="0"/>
                <a:ea typeface="Cambria" pitchFamily="34" charset="-122"/>
                <a:cs typeface="Cambria" pitchFamily="34" charset="-120"/>
              </a:rPr>
              <a:t>01</a:t>
            </a:r>
            <a:endParaRPr lang="en-US" sz="2000" dirty="0"/>
          </a:p>
        </p:txBody>
      </p:sp>
      <p:sp>
        <p:nvSpPr>
          <p:cNvPr id="12" name="Text 10"/>
          <p:cNvSpPr/>
          <p:nvPr/>
        </p:nvSpPr>
        <p:spPr>
          <a:xfrm>
            <a:off x="685800" y="3749040"/>
            <a:ext cx="3154680" cy="548640"/>
          </a:xfrm>
          <a:prstGeom prst="rect">
            <a:avLst/>
          </a:prstGeom>
          <a:noFill/>
          <a:ln/>
        </p:spPr>
        <p:txBody>
          <a:bodyPr wrap="square" lIns="0" tIns="0" rIns="0" bIns="0" rtlCol="0" anchor="ctr"/>
          <a:lstStyle/>
          <a:p>
            <a:pPr marL="0" indent="0">
              <a:buNone/>
            </a:pPr>
            <a:r>
              <a:rPr lang="en-US" sz="1600" b="1" dirty="0">
                <a:solidFill>
                  <a:srgbClr val="0D2C54"/>
                </a:solidFill>
                <a:latin typeface="Cambria" pitchFamily="34" charset="0"/>
                <a:ea typeface="Cambria" pitchFamily="34" charset="-122"/>
                <a:cs typeface="Cambria" pitchFamily="34" charset="-120"/>
              </a:rPr>
              <a:t>Published, but hidden</a:t>
            </a:r>
            <a:endParaRPr lang="en-US" sz="1600" dirty="0"/>
          </a:p>
        </p:txBody>
      </p:sp>
      <p:sp>
        <p:nvSpPr>
          <p:cNvPr id="13" name="Text 11"/>
          <p:cNvSpPr/>
          <p:nvPr/>
        </p:nvSpPr>
        <p:spPr>
          <a:xfrm>
            <a:off x="685800" y="4343400"/>
            <a:ext cx="3154680" cy="169164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Allowed = [(Work×GPCI) + (PE×GPCI) + (MP×GPCI)] × CF.</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A closed-form formula with hundreds of moving parts - patients cannot reproduce it.</a:t>
            </a:r>
            <a:endParaRPr lang="en-US" sz="1200" dirty="0"/>
          </a:p>
        </p:txBody>
      </p:sp>
      <p:sp>
        <p:nvSpPr>
          <p:cNvPr id="14" name="Shape 12"/>
          <p:cNvSpPr/>
          <p:nvPr/>
        </p:nvSpPr>
        <p:spPr>
          <a:xfrm>
            <a:off x="4251960" y="3108960"/>
            <a:ext cx="3611880" cy="3108960"/>
          </a:xfrm>
          <a:prstGeom prst="rect">
            <a:avLst/>
          </a:prstGeom>
          <a:solidFill>
            <a:srgbClr val="FFFFFF"/>
          </a:solidFill>
          <a:ln w="9525">
            <a:solidFill>
              <a:srgbClr val="D5DFE9"/>
            </a:solidFill>
            <a:prstDash val="solid"/>
          </a:ln>
        </p:spPr>
        <p:txBody>
          <a:bodyPr/>
          <a:lstStyle/>
          <a:p>
            <a:endParaRPr lang="en-IN"/>
          </a:p>
        </p:txBody>
      </p:sp>
      <p:sp>
        <p:nvSpPr>
          <p:cNvPr id="15" name="Shape 13"/>
          <p:cNvSpPr/>
          <p:nvPr/>
        </p:nvSpPr>
        <p:spPr>
          <a:xfrm>
            <a:off x="4251960" y="3108960"/>
            <a:ext cx="3611880" cy="91440"/>
          </a:xfrm>
          <a:prstGeom prst="rect">
            <a:avLst/>
          </a:prstGeom>
          <a:solidFill>
            <a:srgbClr val="1C7293"/>
          </a:solidFill>
          <a:ln/>
        </p:spPr>
        <p:txBody>
          <a:bodyPr/>
          <a:lstStyle/>
          <a:p>
            <a:endParaRPr lang="en-IN"/>
          </a:p>
        </p:txBody>
      </p:sp>
      <p:sp>
        <p:nvSpPr>
          <p:cNvPr id="16" name="Text 14"/>
          <p:cNvSpPr/>
          <p:nvPr/>
        </p:nvSpPr>
        <p:spPr>
          <a:xfrm>
            <a:off x="4480560" y="3337560"/>
            <a:ext cx="640080" cy="365760"/>
          </a:xfrm>
          <a:prstGeom prst="rect">
            <a:avLst/>
          </a:prstGeom>
          <a:noFill/>
          <a:ln/>
        </p:spPr>
        <p:txBody>
          <a:bodyPr wrap="square" lIns="0" tIns="0" rIns="0" bIns="0" rtlCol="0" anchor="ctr"/>
          <a:lstStyle/>
          <a:p>
            <a:pPr marL="0" indent="0">
              <a:buNone/>
            </a:pPr>
            <a:r>
              <a:rPr lang="en-US" sz="2000" b="1" dirty="0">
                <a:solidFill>
                  <a:srgbClr val="1C7293"/>
                </a:solidFill>
                <a:latin typeface="Cambria" pitchFamily="34" charset="0"/>
                <a:ea typeface="Cambria" pitchFamily="34" charset="-122"/>
                <a:cs typeface="Cambria" pitchFamily="34" charset="-120"/>
              </a:rPr>
              <a:t>02</a:t>
            </a:r>
            <a:endParaRPr lang="en-US" sz="2000" dirty="0"/>
          </a:p>
        </p:txBody>
      </p:sp>
      <p:sp>
        <p:nvSpPr>
          <p:cNvPr id="17" name="Text 15"/>
          <p:cNvSpPr/>
          <p:nvPr/>
        </p:nvSpPr>
        <p:spPr>
          <a:xfrm>
            <a:off x="4480560" y="3749040"/>
            <a:ext cx="3154680" cy="548640"/>
          </a:xfrm>
          <a:prstGeom prst="rect">
            <a:avLst/>
          </a:prstGeom>
          <a:noFill/>
          <a:ln/>
        </p:spPr>
        <p:txBody>
          <a:bodyPr wrap="square" lIns="0" tIns="0" rIns="0" bIns="0" rtlCol="0" anchor="ctr"/>
          <a:lstStyle/>
          <a:p>
            <a:pPr marL="0" indent="0">
              <a:buNone/>
            </a:pPr>
            <a:r>
              <a:rPr lang="en-US" sz="1600" b="1" dirty="0">
                <a:solidFill>
                  <a:srgbClr val="0D2C54"/>
                </a:solidFill>
                <a:latin typeface="Cambria" pitchFamily="34" charset="0"/>
                <a:ea typeface="Cambria" pitchFamily="34" charset="-122"/>
                <a:cs typeface="Cambria" pitchFamily="34" charset="-120"/>
              </a:rPr>
              <a:t>Out-of-pocket is a second question</a:t>
            </a:r>
            <a:endParaRPr lang="en-US" sz="1600" dirty="0"/>
          </a:p>
        </p:txBody>
      </p:sp>
      <p:sp>
        <p:nvSpPr>
          <p:cNvPr id="18" name="Text 16"/>
          <p:cNvSpPr/>
          <p:nvPr/>
        </p:nvSpPr>
        <p:spPr>
          <a:xfrm>
            <a:off x="4480560" y="4343400"/>
            <a:ext cx="3154680" cy="169164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Even if you know the allowed amount, the patient share depends on plan type, deductible status, supplemental insurance, and income - data that lives in a different CMS dataset.</a:t>
            </a:r>
            <a:endParaRPr lang="en-US" sz="1200" dirty="0"/>
          </a:p>
        </p:txBody>
      </p:sp>
      <p:sp>
        <p:nvSpPr>
          <p:cNvPr id="19" name="Shape 17"/>
          <p:cNvSpPr/>
          <p:nvPr/>
        </p:nvSpPr>
        <p:spPr>
          <a:xfrm>
            <a:off x="8046720" y="3108960"/>
            <a:ext cx="3611880" cy="3108960"/>
          </a:xfrm>
          <a:prstGeom prst="rect">
            <a:avLst/>
          </a:prstGeom>
          <a:solidFill>
            <a:srgbClr val="FFFFFF"/>
          </a:solidFill>
          <a:ln w="9525">
            <a:solidFill>
              <a:srgbClr val="D5DFE9"/>
            </a:solidFill>
            <a:prstDash val="solid"/>
          </a:ln>
        </p:spPr>
        <p:txBody>
          <a:bodyPr/>
          <a:lstStyle/>
          <a:p>
            <a:endParaRPr lang="en-IN"/>
          </a:p>
        </p:txBody>
      </p:sp>
      <p:sp>
        <p:nvSpPr>
          <p:cNvPr id="20" name="Shape 18"/>
          <p:cNvSpPr/>
          <p:nvPr/>
        </p:nvSpPr>
        <p:spPr>
          <a:xfrm>
            <a:off x="8046720" y="3108960"/>
            <a:ext cx="3611880" cy="91440"/>
          </a:xfrm>
          <a:prstGeom prst="rect">
            <a:avLst/>
          </a:prstGeom>
          <a:solidFill>
            <a:srgbClr val="E0613E"/>
          </a:solidFill>
          <a:ln/>
        </p:spPr>
        <p:txBody>
          <a:bodyPr/>
          <a:lstStyle/>
          <a:p>
            <a:endParaRPr lang="en-IN"/>
          </a:p>
        </p:txBody>
      </p:sp>
      <p:sp>
        <p:nvSpPr>
          <p:cNvPr id="21" name="Text 19"/>
          <p:cNvSpPr/>
          <p:nvPr/>
        </p:nvSpPr>
        <p:spPr>
          <a:xfrm>
            <a:off x="8275320" y="3337560"/>
            <a:ext cx="640080" cy="365760"/>
          </a:xfrm>
          <a:prstGeom prst="rect">
            <a:avLst/>
          </a:prstGeom>
          <a:noFill/>
          <a:ln/>
        </p:spPr>
        <p:txBody>
          <a:bodyPr wrap="square" lIns="0" tIns="0" rIns="0" bIns="0" rtlCol="0" anchor="ctr"/>
          <a:lstStyle/>
          <a:p>
            <a:pPr marL="0" indent="0">
              <a:buNone/>
            </a:pPr>
            <a:r>
              <a:rPr lang="en-US" sz="2000" b="1" dirty="0">
                <a:solidFill>
                  <a:srgbClr val="E0613E"/>
                </a:solidFill>
                <a:latin typeface="Cambria" pitchFamily="34" charset="0"/>
                <a:ea typeface="Cambria" pitchFamily="34" charset="-122"/>
                <a:cs typeface="Cambria" pitchFamily="34" charset="-120"/>
              </a:rPr>
              <a:t>03</a:t>
            </a:r>
            <a:endParaRPr lang="en-US" sz="2000" dirty="0"/>
          </a:p>
        </p:txBody>
      </p:sp>
      <p:sp>
        <p:nvSpPr>
          <p:cNvPr id="22" name="Text 20"/>
          <p:cNvSpPr/>
          <p:nvPr/>
        </p:nvSpPr>
        <p:spPr>
          <a:xfrm>
            <a:off x="8275320" y="3749040"/>
            <a:ext cx="3154680" cy="548640"/>
          </a:xfrm>
          <a:prstGeom prst="rect">
            <a:avLst/>
          </a:prstGeom>
          <a:noFill/>
          <a:ln/>
        </p:spPr>
        <p:txBody>
          <a:bodyPr wrap="square" lIns="0" tIns="0" rIns="0" bIns="0" rtlCol="0" anchor="ctr"/>
          <a:lstStyle/>
          <a:p>
            <a:pPr marL="0" indent="0">
              <a:buNone/>
            </a:pPr>
            <a:r>
              <a:rPr lang="en-US" sz="1600" b="1" dirty="0">
                <a:solidFill>
                  <a:srgbClr val="0D2C54"/>
                </a:solidFill>
                <a:latin typeface="Cambria" pitchFamily="34" charset="0"/>
                <a:ea typeface="Cambria" pitchFamily="34" charset="-122"/>
                <a:cs typeface="Cambria" pitchFamily="34" charset="-120"/>
              </a:rPr>
              <a:t>Why existing tools fall short</a:t>
            </a:r>
            <a:endParaRPr lang="en-US" sz="1600" dirty="0"/>
          </a:p>
        </p:txBody>
      </p:sp>
      <p:sp>
        <p:nvSpPr>
          <p:cNvPr id="23" name="Text 21"/>
          <p:cNvSpPr/>
          <p:nvPr/>
        </p:nvSpPr>
        <p:spPr>
          <a:xfrm>
            <a:off x="8275320" y="4343400"/>
            <a:ext cx="3154680" cy="169164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Hospital estimators return one vague number. Insurer portals require login. No public tool predicts allowed amount AND patient OOP from free public data.</a:t>
            </a:r>
            <a:endParaRPr lang="en-US" sz="1200" dirty="0"/>
          </a:p>
        </p:txBody>
      </p:sp>
      <p:sp>
        <p:nvSpPr>
          <p:cNvPr id="24" name="Shape 22"/>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25" name="Text 23"/>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26" name="Text 24"/>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NICK ROMANO</a:t>
            </a:r>
            <a:endParaRPr lang="en-US" sz="900" dirty="0"/>
          </a:p>
        </p:txBody>
      </p:sp>
      <p:sp>
        <p:nvSpPr>
          <p:cNvPr id="27" name="Text 25"/>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04 / 19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03  ·  WHAT WE BUILT</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A public, uncertainty-aware Medicare cost estimator</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Text 3"/>
          <p:cNvSpPr/>
          <p:nvPr/>
        </p:nvSpPr>
        <p:spPr>
          <a:xfrm>
            <a:off x="457200" y="1600200"/>
            <a:ext cx="6858000" cy="365760"/>
          </a:xfrm>
          <a:prstGeom prst="rect">
            <a:avLst/>
          </a:prstGeom>
          <a:noFill/>
          <a:ln/>
        </p:spPr>
        <p:txBody>
          <a:bodyPr wrap="square"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In one sentence</a:t>
            </a:r>
            <a:endParaRPr lang="en-US" sz="1300" dirty="0"/>
          </a:p>
        </p:txBody>
      </p:sp>
      <p:sp>
        <p:nvSpPr>
          <p:cNvPr id="6" name="Text 4"/>
          <p:cNvSpPr/>
          <p:nvPr/>
        </p:nvSpPr>
        <p:spPr>
          <a:xfrm>
            <a:off x="457200" y="1965960"/>
            <a:ext cx="6858000" cy="1280160"/>
          </a:xfrm>
          <a:prstGeom prst="rect">
            <a:avLst/>
          </a:prstGeom>
          <a:noFill/>
          <a:ln/>
        </p:spPr>
        <p:txBody>
          <a:bodyPr wrap="square" rtlCol="0" anchor="t"/>
          <a:lstStyle/>
          <a:p>
            <a:pPr marL="0" indent="0">
              <a:spcAft>
                <a:spcPts val="400"/>
              </a:spcAft>
              <a:buNone/>
            </a:pPr>
            <a:r>
              <a:rPr lang="en-US" sz="1600" dirty="0">
                <a:solidFill>
                  <a:srgbClr val="1A1A1A"/>
                </a:solidFill>
                <a:latin typeface="Calibri" pitchFamily="34" charset="0"/>
                <a:ea typeface="Calibri" pitchFamily="34" charset="-122"/>
                <a:cs typeface="Calibri" pitchFamily="34" charset="-120"/>
              </a:rPr>
              <a:t>A web app where any Medicare beneficiary can enter a </a:t>
            </a:r>
            <a:r>
              <a:rPr lang="en-US" sz="1600" b="1" dirty="0">
                <a:solidFill>
                  <a:srgbClr val="0D2C54"/>
                </a:solidFill>
                <a:latin typeface="Calibri" pitchFamily="34" charset="0"/>
                <a:ea typeface="Calibri" pitchFamily="34" charset="-122"/>
                <a:cs typeface="Calibri" pitchFamily="34" charset="-120"/>
              </a:rPr>
              <a:t>state, specialty, and procedure code</a:t>
            </a:r>
            <a:r>
              <a:rPr lang="en-US" sz="1600" dirty="0">
                <a:solidFill>
                  <a:srgbClr val="1A1A1A"/>
                </a:solidFill>
                <a:latin typeface="Calibri" pitchFamily="34" charset="0"/>
                <a:ea typeface="Calibri" pitchFamily="34" charset="-122"/>
                <a:cs typeface="Calibri" pitchFamily="34" charset="-120"/>
              </a:rPr>
              <a:t> and receive </a:t>
            </a:r>
            <a:r>
              <a:rPr lang="en-US" sz="1600" b="1" dirty="0">
                <a:solidFill>
                  <a:srgbClr val="0D2C54"/>
                </a:solidFill>
                <a:latin typeface="Calibri" pitchFamily="34" charset="0"/>
                <a:ea typeface="Calibri" pitchFamily="34" charset="-122"/>
                <a:cs typeface="Calibri" pitchFamily="34" charset="-120"/>
              </a:rPr>
              <a:t>two predicted cost numbers with ranges</a:t>
            </a:r>
            <a:r>
              <a:rPr lang="en-US" sz="1600" dirty="0">
                <a:solidFill>
                  <a:srgbClr val="1A1A1A"/>
                </a:solidFill>
                <a:latin typeface="Calibri" pitchFamily="34" charset="0"/>
                <a:ea typeface="Calibri" pitchFamily="34" charset="-122"/>
                <a:cs typeface="Calibri" pitchFamily="34" charset="-120"/>
              </a:rPr>
              <a:t> - what Medicare allows, and what the patient pays out of pocket.</a:t>
            </a:r>
            <a:endParaRPr lang="en-US" sz="1600" dirty="0"/>
          </a:p>
        </p:txBody>
      </p:sp>
      <p:sp>
        <p:nvSpPr>
          <p:cNvPr id="7" name="Text 5"/>
          <p:cNvSpPr/>
          <p:nvPr/>
        </p:nvSpPr>
        <p:spPr>
          <a:xfrm>
            <a:off x="457200" y="3291840"/>
            <a:ext cx="6858000" cy="365760"/>
          </a:xfrm>
          <a:prstGeom prst="rect">
            <a:avLst/>
          </a:prstGeom>
          <a:noFill/>
          <a:ln/>
        </p:spPr>
        <p:txBody>
          <a:bodyPr wrap="square"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Four design principles</a:t>
            </a:r>
            <a:endParaRPr lang="en-US" sz="1300" dirty="0"/>
          </a:p>
        </p:txBody>
      </p:sp>
      <p:sp>
        <p:nvSpPr>
          <p:cNvPr id="8" name="Shape 6"/>
          <p:cNvSpPr/>
          <p:nvPr/>
        </p:nvSpPr>
        <p:spPr>
          <a:xfrm>
            <a:off x="457200" y="3749040"/>
            <a:ext cx="292608" cy="292608"/>
          </a:xfrm>
          <a:prstGeom prst="ellipse">
            <a:avLst/>
          </a:prstGeom>
          <a:solidFill>
            <a:srgbClr val="2AB7CA"/>
          </a:solidFill>
          <a:ln/>
        </p:spPr>
        <p:txBody>
          <a:bodyPr/>
          <a:lstStyle/>
          <a:p>
            <a:endParaRPr lang="en-IN"/>
          </a:p>
        </p:txBody>
      </p:sp>
      <p:sp>
        <p:nvSpPr>
          <p:cNvPr id="9" name="Text 7"/>
          <p:cNvSpPr/>
          <p:nvPr/>
        </p:nvSpPr>
        <p:spPr>
          <a:xfrm>
            <a:off x="457200" y="374904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868680" y="3703320"/>
            <a:ext cx="6400800" cy="502920"/>
          </a:xfrm>
          <a:prstGeom prst="rect">
            <a:avLst/>
          </a:prstGeom>
          <a:noFill/>
          <a:ln/>
        </p:spPr>
        <p:txBody>
          <a:bodyPr wrap="square" lIns="0" tIns="0" rIns="0" bIns="0" rtlCol="0" anchor="ctr"/>
          <a:lstStyle/>
          <a:p>
            <a:pPr marL="0" indent="0">
              <a:buNone/>
            </a:pPr>
            <a:r>
              <a:rPr lang="en-US" sz="1300" b="1" kern="0" spc="100" dirty="0">
                <a:solidFill>
                  <a:srgbClr val="0D2C54"/>
                </a:solidFill>
                <a:latin typeface="Calibri" pitchFamily="34" charset="0"/>
                <a:ea typeface="Calibri" pitchFamily="34" charset="-122"/>
                <a:cs typeface="Calibri" pitchFamily="34" charset="-120"/>
              </a:rPr>
              <a:t>PREDICTIVE  </a:t>
            </a:r>
            <a:r>
              <a:rPr lang="en-US" sz="1200" dirty="0">
                <a:solidFill>
                  <a:srgbClr val="1A1A1A"/>
                </a:solidFill>
                <a:latin typeface="Calibri" pitchFamily="34" charset="0"/>
                <a:ea typeface="Calibri" pitchFamily="34" charset="-122"/>
                <a:cs typeface="Calibri" pitchFamily="34" charset="-120"/>
              </a:rPr>
              <a:t>A model that generalizes across specialty × state × procedure - not a lookup.</a:t>
            </a:r>
            <a:endParaRPr lang="en-US" sz="1300" dirty="0"/>
          </a:p>
        </p:txBody>
      </p:sp>
      <p:sp>
        <p:nvSpPr>
          <p:cNvPr id="11" name="Shape 9"/>
          <p:cNvSpPr/>
          <p:nvPr/>
        </p:nvSpPr>
        <p:spPr>
          <a:xfrm>
            <a:off x="457200" y="4343400"/>
            <a:ext cx="292608" cy="292608"/>
          </a:xfrm>
          <a:prstGeom prst="ellipse">
            <a:avLst/>
          </a:prstGeom>
          <a:solidFill>
            <a:srgbClr val="2AB7CA"/>
          </a:solidFill>
          <a:ln/>
        </p:spPr>
        <p:txBody>
          <a:bodyPr/>
          <a:lstStyle/>
          <a:p>
            <a:endParaRPr lang="en-IN"/>
          </a:p>
        </p:txBody>
      </p:sp>
      <p:sp>
        <p:nvSpPr>
          <p:cNvPr id="12" name="Text 10"/>
          <p:cNvSpPr/>
          <p:nvPr/>
        </p:nvSpPr>
        <p:spPr>
          <a:xfrm>
            <a:off x="457200" y="434340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868680" y="4297680"/>
            <a:ext cx="6400800" cy="502920"/>
          </a:xfrm>
          <a:prstGeom prst="rect">
            <a:avLst/>
          </a:prstGeom>
          <a:noFill/>
          <a:ln/>
        </p:spPr>
        <p:txBody>
          <a:bodyPr wrap="square" lIns="0" tIns="0" rIns="0" bIns="0" rtlCol="0" anchor="ctr"/>
          <a:lstStyle/>
          <a:p>
            <a:pPr marL="0" indent="0">
              <a:buNone/>
            </a:pPr>
            <a:r>
              <a:rPr lang="en-US" sz="1300" b="1" kern="0" spc="100" dirty="0">
                <a:solidFill>
                  <a:srgbClr val="0D2C54"/>
                </a:solidFill>
                <a:latin typeface="Calibri" pitchFamily="34" charset="0"/>
                <a:ea typeface="Calibri" pitchFamily="34" charset="-122"/>
                <a:cs typeface="Calibri" pitchFamily="34" charset="-120"/>
              </a:rPr>
              <a:t>TRANSPARENT  </a:t>
            </a:r>
            <a:r>
              <a:rPr lang="en-US" sz="1200" dirty="0">
                <a:solidFill>
                  <a:srgbClr val="1A1A1A"/>
                </a:solidFill>
                <a:latin typeface="Calibri" pitchFamily="34" charset="0"/>
                <a:ea typeface="Calibri" pitchFamily="34" charset="-122"/>
                <a:cs typeface="Calibri" pitchFamily="34" charset="-120"/>
              </a:rPr>
              <a:t>Every estimate surfaces low / middle / high bounds, never a single false-precision point.</a:t>
            </a:r>
            <a:endParaRPr lang="en-US" sz="1300" dirty="0"/>
          </a:p>
        </p:txBody>
      </p:sp>
      <p:sp>
        <p:nvSpPr>
          <p:cNvPr id="14" name="Shape 12"/>
          <p:cNvSpPr/>
          <p:nvPr/>
        </p:nvSpPr>
        <p:spPr>
          <a:xfrm>
            <a:off x="457200" y="4937760"/>
            <a:ext cx="292608" cy="292608"/>
          </a:xfrm>
          <a:prstGeom prst="ellipse">
            <a:avLst/>
          </a:prstGeom>
          <a:solidFill>
            <a:srgbClr val="2AB7CA"/>
          </a:solidFill>
          <a:ln/>
        </p:spPr>
        <p:txBody>
          <a:bodyPr/>
          <a:lstStyle/>
          <a:p>
            <a:endParaRPr lang="en-IN"/>
          </a:p>
        </p:txBody>
      </p:sp>
      <p:sp>
        <p:nvSpPr>
          <p:cNvPr id="15" name="Text 13"/>
          <p:cNvSpPr/>
          <p:nvPr/>
        </p:nvSpPr>
        <p:spPr>
          <a:xfrm>
            <a:off x="457200" y="493776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868680" y="4892040"/>
            <a:ext cx="6400800" cy="502920"/>
          </a:xfrm>
          <a:prstGeom prst="rect">
            <a:avLst/>
          </a:prstGeom>
          <a:noFill/>
          <a:ln/>
        </p:spPr>
        <p:txBody>
          <a:bodyPr wrap="square" lIns="0" tIns="0" rIns="0" bIns="0" rtlCol="0" anchor="ctr"/>
          <a:lstStyle/>
          <a:p>
            <a:pPr marL="0" indent="0">
              <a:buNone/>
            </a:pPr>
            <a:r>
              <a:rPr lang="en-US" sz="1300" b="1" kern="0" spc="100" dirty="0">
                <a:solidFill>
                  <a:srgbClr val="0D2C54"/>
                </a:solidFill>
                <a:latin typeface="Calibri" pitchFamily="34" charset="0"/>
                <a:ea typeface="Calibri" pitchFamily="34" charset="-122"/>
                <a:cs typeface="Calibri" pitchFamily="34" charset="-120"/>
              </a:rPr>
              <a:t>TWO-STAGE  </a:t>
            </a:r>
            <a:r>
              <a:rPr lang="en-US" sz="1200" dirty="0">
                <a:solidFill>
                  <a:srgbClr val="1A1A1A"/>
                </a:solidFill>
                <a:latin typeface="Calibri" pitchFamily="34" charset="0"/>
                <a:ea typeface="Calibri" pitchFamily="34" charset="-122"/>
                <a:cs typeface="Calibri" pitchFamily="34" charset="-120"/>
              </a:rPr>
              <a:t>Decouple what Medicare allows (Stage 1) from what the patient pays (Stage 2).</a:t>
            </a:r>
            <a:endParaRPr lang="en-US" sz="1300" dirty="0"/>
          </a:p>
        </p:txBody>
      </p:sp>
      <p:sp>
        <p:nvSpPr>
          <p:cNvPr id="17" name="Shape 15"/>
          <p:cNvSpPr/>
          <p:nvPr/>
        </p:nvSpPr>
        <p:spPr>
          <a:xfrm>
            <a:off x="457200" y="5532120"/>
            <a:ext cx="292608" cy="292608"/>
          </a:xfrm>
          <a:prstGeom prst="ellipse">
            <a:avLst/>
          </a:prstGeom>
          <a:solidFill>
            <a:srgbClr val="2AB7CA"/>
          </a:solidFill>
          <a:ln/>
        </p:spPr>
        <p:txBody>
          <a:bodyPr/>
          <a:lstStyle/>
          <a:p>
            <a:endParaRPr lang="en-IN"/>
          </a:p>
        </p:txBody>
      </p:sp>
      <p:sp>
        <p:nvSpPr>
          <p:cNvPr id="18" name="Text 16"/>
          <p:cNvSpPr/>
          <p:nvPr/>
        </p:nvSpPr>
        <p:spPr>
          <a:xfrm>
            <a:off x="457200" y="553212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868680" y="5486400"/>
            <a:ext cx="6400800" cy="502920"/>
          </a:xfrm>
          <a:prstGeom prst="rect">
            <a:avLst/>
          </a:prstGeom>
          <a:noFill/>
          <a:ln/>
        </p:spPr>
        <p:txBody>
          <a:bodyPr wrap="square" lIns="0" tIns="0" rIns="0" bIns="0" rtlCol="0" anchor="ctr"/>
          <a:lstStyle/>
          <a:p>
            <a:pPr marL="0" indent="0">
              <a:buNone/>
            </a:pPr>
            <a:r>
              <a:rPr lang="en-US" sz="1300" b="1" kern="0" spc="100" dirty="0">
                <a:solidFill>
                  <a:srgbClr val="0D2C54"/>
                </a:solidFill>
                <a:latin typeface="Calibri" pitchFamily="34" charset="0"/>
                <a:ea typeface="Calibri" pitchFamily="34" charset="-122"/>
                <a:cs typeface="Calibri" pitchFamily="34" charset="-120"/>
              </a:rPr>
              <a:t>FORWARD-LOOKING  </a:t>
            </a:r>
            <a:r>
              <a:rPr lang="en-US" sz="1200" dirty="0">
                <a:solidFill>
                  <a:srgbClr val="1A1A1A"/>
                </a:solidFill>
                <a:latin typeface="Calibri" pitchFamily="34" charset="0"/>
                <a:ea typeface="Calibri" pitchFamily="34" charset="-122"/>
                <a:cs typeface="Calibri" pitchFamily="34" charset="-120"/>
              </a:rPr>
              <a:t>LSTM-based forecasts project rates 2024-2026 at specialty resolution.</a:t>
            </a:r>
            <a:endParaRPr lang="en-US" sz="1300" dirty="0"/>
          </a:p>
        </p:txBody>
      </p:sp>
      <p:sp>
        <p:nvSpPr>
          <p:cNvPr id="20" name="Shape 18"/>
          <p:cNvSpPr/>
          <p:nvPr/>
        </p:nvSpPr>
        <p:spPr>
          <a:xfrm>
            <a:off x="7589520" y="1600200"/>
            <a:ext cx="4160520" cy="4663440"/>
          </a:xfrm>
          <a:prstGeom prst="rect">
            <a:avLst/>
          </a:prstGeom>
          <a:solidFill>
            <a:srgbClr val="F4F9FC"/>
          </a:solidFill>
          <a:ln w="12700">
            <a:solidFill>
              <a:srgbClr val="D5DFE9"/>
            </a:solidFill>
            <a:prstDash val="solid"/>
          </a:ln>
        </p:spPr>
        <p:txBody>
          <a:bodyPr/>
          <a:lstStyle/>
          <a:p>
            <a:endParaRPr lang="en-IN"/>
          </a:p>
        </p:txBody>
      </p:sp>
      <p:sp>
        <p:nvSpPr>
          <p:cNvPr id="21" name="Shape 19"/>
          <p:cNvSpPr/>
          <p:nvPr/>
        </p:nvSpPr>
        <p:spPr>
          <a:xfrm>
            <a:off x="7589520" y="1600200"/>
            <a:ext cx="4160520" cy="457200"/>
          </a:xfrm>
          <a:prstGeom prst="rect">
            <a:avLst/>
          </a:prstGeom>
          <a:solidFill>
            <a:srgbClr val="0D2C54"/>
          </a:solidFill>
          <a:ln/>
        </p:spPr>
        <p:txBody>
          <a:bodyPr/>
          <a:lstStyle/>
          <a:p>
            <a:endParaRPr lang="en-IN"/>
          </a:p>
        </p:txBody>
      </p:sp>
      <p:sp>
        <p:nvSpPr>
          <p:cNvPr id="22" name="Text 20"/>
          <p:cNvSpPr/>
          <p:nvPr/>
        </p:nvSpPr>
        <p:spPr>
          <a:xfrm>
            <a:off x="7726680" y="1600200"/>
            <a:ext cx="4023360" cy="457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allowancemap.vercel.app</a:t>
            </a:r>
            <a:endParaRPr lang="en-US" sz="1000" dirty="0"/>
          </a:p>
        </p:txBody>
      </p:sp>
      <p:sp>
        <p:nvSpPr>
          <p:cNvPr id="23" name="Text 21"/>
          <p:cNvSpPr/>
          <p:nvPr/>
        </p:nvSpPr>
        <p:spPr>
          <a:xfrm>
            <a:off x="7772400" y="2194560"/>
            <a:ext cx="3840480" cy="365760"/>
          </a:xfrm>
          <a:prstGeom prst="rect">
            <a:avLst/>
          </a:prstGeom>
          <a:noFill/>
          <a:ln/>
        </p:spPr>
        <p:txBody>
          <a:bodyPr wrap="square" rtlCol="0" anchor="ctr"/>
          <a:lstStyle/>
          <a:p>
            <a:pPr marL="0" indent="0">
              <a:buNone/>
            </a:pPr>
            <a:r>
              <a:rPr lang="en-US" sz="1800" b="1" dirty="0">
                <a:solidFill>
                  <a:srgbClr val="0D2C54"/>
                </a:solidFill>
                <a:latin typeface="Cambria" pitchFamily="34" charset="0"/>
                <a:ea typeface="Cambria" pitchFamily="34" charset="-122"/>
                <a:cs typeface="Cambria" pitchFamily="34" charset="-120"/>
              </a:rPr>
              <a:t>Cost Estimator</a:t>
            </a:r>
            <a:endParaRPr lang="en-US" sz="1800" dirty="0"/>
          </a:p>
        </p:txBody>
      </p:sp>
      <p:sp>
        <p:nvSpPr>
          <p:cNvPr id="24" name="Text 22"/>
          <p:cNvSpPr/>
          <p:nvPr/>
        </p:nvSpPr>
        <p:spPr>
          <a:xfrm>
            <a:off x="7772400" y="2651760"/>
            <a:ext cx="3840480" cy="274320"/>
          </a:xfrm>
          <a:prstGeom prst="rect">
            <a:avLst/>
          </a:prstGeom>
          <a:noFill/>
          <a:ln/>
        </p:spPr>
        <p:txBody>
          <a:bodyPr wrap="square" rtlCol="0" anchor="ctr"/>
          <a:lstStyle/>
          <a:p>
            <a:pPr marL="0" indent="0">
              <a:buNone/>
            </a:pPr>
            <a:r>
              <a:rPr lang="en-US" sz="1000" b="1" kern="0" spc="100" dirty="0">
                <a:solidFill>
                  <a:srgbClr val="6B7280"/>
                </a:solidFill>
                <a:latin typeface="Calibri" pitchFamily="34" charset="0"/>
                <a:ea typeface="Calibri" pitchFamily="34" charset="-122"/>
                <a:cs typeface="Calibri" pitchFamily="34" charset="-120"/>
              </a:rPr>
              <a:t>STATE</a:t>
            </a:r>
            <a:endParaRPr lang="en-US" sz="1000" dirty="0"/>
          </a:p>
        </p:txBody>
      </p:sp>
      <p:sp>
        <p:nvSpPr>
          <p:cNvPr id="25" name="Shape 23"/>
          <p:cNvSpPr/>
          <p:nvPr/>
        </p:nvSpPr>
        <p:spPr>
          <a:xfrm>
            <a:off x="7772400" y="2926080"/>
            <a:ext cx="3840480" cy="365760"/>
          </a:xfrm>
          <a:prstGeom prst="rect">
            <a:avLst/>
          </a:prstGeom>
          <a:solidFill>
            <a:srgbClr val="FFFFFF"/>
          </a:solidFill>
          <a:ln w="9525">
            <a:solidFill>
              <a:srgbClr val="D5DFE9"/>
            </a:solidFill>
            <a:prstDash val="solid"/>
          </a:ln>
        </p:spPr>
        <p:txBody>
          <a:bodyPr/>
          <a:lstStyle/>
          <a:p>
            <a:endParaRPr lang="en-IN"/>
          </a:p>
        </p:txBody>
      </p:sp>
      <p:sp>
        <p:nvSpPr>
          <p:cNvPr id="26" name="Text 24"/>
          <p:cNvSpPr/>
          <p:nvPr/>
        </p:nvSpPr>
        <p:spPr>
          <a:xfrm>
            <a:off x="7863840" y="2926080"/>
            <a:ext cx="3657600" cy="3657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Indiana</a:t>
            </a:r>
            <a:endParaRPr lang="en-US" sz="1200" dirty="0"/>
          </a:p>
        </p:txBody>
      </p:sp>
      <p:sp>
        <p:nvSpPr>
          <p:cNvPr id="27" name="Text 25"/>
          <p:cNvSpPr/>
          <p:nvPr/>
        </p:nvSpPr>
        <p:spPr>
          <a:xfrm>
            <a:off x="7772400" y="3291840"/>
            <a:ext cx="3840480" cy="274320"/>
          </a:xfrm>
          <a:prstGeom prst="rect">
            <a:avLst/>
          </a:prstGeom>
          <a:noFill/>
          <a:ln/>
        </p:spPr>
        <p:txBody>
          <a:bodyPr wrap="square" rtlCol="0" anchor="ctr"/>
          <a:lstStyle/>
          <a:p>
            <a:pPr marL="0" indent="0">
              <a:buNone/>
            </a:pPr>
            <a:r>
              <a:rPr lang="en-US" sz="1000" b="1" kern="0" spc="100" dirty="0">
                <a:solidFill>
                  <a:srgbClr val="6B7280"/>
                </a:solidFill>
                <a:latin typeface="Calibri" pitchFamily="34" charset="0"/>
                <a:ea typeface="Calibri" pitchFamily="34" charset="-122"/>
                <a:cs typeface="Calibri" pitchFamily="34" charset="-120"/>
              </a:rPr>
              <a:t>SPECIALTY</a:t>
            </a:r>
            <a:endParaRPr lang="en-US" sz="1000" dirty="0"/>
          </a:p>
        </p:txBody>
      </p:sp>
      <p:sp>
        <p:nvSpPr>
          <p:cNvPr id="28" name="Shape 26"/>
          <p:cNvSpPr/>
          <p:nvPr/>
        </p:nvSpPr>
        <p:spPr>
          <a:xfrm>
            <a:off x="7772400" y="3566160"/>
            <a:ext cx="3840480" cy="365760"/>
          </a:xfrm>
          <a:prstGeom prst="rect">
            <a:avLst/>
          </a:prstGeom>
          <a:solidFill>
            <a:srgbClr val="FFFFFF"/>
          </a:solidFill>
          <a:ln w="9525">
            <a:solidFill>
              <a:srgbClr val="D5DFE9"/>
            </a:solidFill>
            <a:prstDash val="solid"/>
          </a:ln>
        </p:spPr>
        <p:txBody>
          <a:bodyPr/>
          <a:lstStyle/>
          <a:p>
            <a:endParaRPr lang="en-IN"/>
          </a:p>
        </p:txBody>
      </p:sp>
      <p:sp>
        <p:nvSpPr>
          <p:cNvPr id="29" name="Text 27"/>
          <p:cNvSpPr/>
          <p:nvPr/>
        </p:nvSpPr>
        <p:spPr>
          <a:xfrm>
            <a:off x="7863840" y="3566160"/>
            <a:ext cx="3657600" cy="3657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Cardiology</a:t>
            </a:r>
            <a:endParaRPr lang="en-US" sz="1200" dirty="0"/>
          </a:p>
        </p:txBody>
      </p:sp>
      <p:sp>
        <p:nvSpPr>
          <p:cNvPr id="30" name="Text 28"/>
          <p:cNvSpPr/>
          <p:nvPr/>
        </p:nvSpPr>
        <p:spPr>
          <a:xfrm>
            <a:off x="7772400" y="3931920"/>
            <a:ext cx="3840480" cy="274320"/>
          </a:xfrm>
          <a:prstGeom prst="rect">
            <a:avLst/>
          </a:prstGeom>
          <a:noFill/>
          <a:ln/>
        </p:spPr>
        <p:txBody>
          <a:bodyPr wrap="square" rtlCol="0" anchor="ctr"/>
          <a:lstStyle/>
          <a:p>
            <a:pPr marL="0" indent="0">
              <a:buNone/>
            </a:pPr>
            <a:r>
              <a:rPr lang="en-US" sz="1000" b="1" kern="0" spc="100" dirty="0">
                <a:solidFill>
                  <a:srgbClr val="6B7280"/>
                </a:solidFill>
                <a:latin typeface="Calibri" pitchFamily="34" charset="0"/>
                <a:ea typeface="Calibri" pitchFamily="34" charset="-122"/>
                <a:cs typeface="Calibri" pitchFamily="34" charset="-120"/>
              </a:rPr>
              <a:t>PROCEDURE CODE</a:t>
            </a:r>
            <a:endParaRPr lang="en-US" sz="1000" dirty="0"/>
          </a:p>
        </p:txBody>
      </p:sp>
      <p:sp>
        <p:nvSpPr>
          <p:cNvPr id="31" name="Shape 29"/>
          <p:cNvSpPr/>
          <p:nvPr/>
        </p:nvSpPr>
        <p:spPr>
          <a:xfrm>
            <a:off x="7772400" y="4206240"/>
            <a:ext cx="3840480" cy="365760"/>
          </a:xfrm>
          <a:prstGeom prst="rect">
            <a:avLst/>
          </a:prstGeom>
          <a:solidFill>
            <a:srgbClr val="FFFFFF"/>
          </a:solidFill>
          <a:ln w="9525">
            <a:solidFill>
              <a:srgbClr val="D5DFE9"/>
            </a:solidFill>
            <a:prstDash val="solid"/>
          </a:ln>
        </p:spPr>
        <p:txBody>
          <a:bodyPr/>
          <a:lstStyle/>
          <a:p>
            <a:endParaRPr lang="en-IN"/>
          </a:p>
        </p:txBody>
      </p:sp>
      <p:sp>
        <p:nvSpPr>
          <p:cNvPr id="32" name="Text 30"/>
          <p:cNvSpPr/>
          <p:nvPr/>
        </p:nvSpPr>
        <p:spPr>
          <a:xfrm>
            <a:off x="7863840" y="4206240"/>
            <a:ext cx="3657600" cy="3657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99213 - Office visit</a:t>
            </a:r>
            <a:endParaRPr lang="en-US" sz="1200" dirty="0"/>
          </a:p>
        </p:txBody>
      </p:sp>
      <p:sp>
        <p:nvSpPr>
          <p:cNvPr id="33" name="Text 31"/>
          <p:cNvSpPr/>
          <p:nvPr/>
        </p:nvSpPr>
        <p:spPr>
          <a:xfrm>
            <a:off x="7772400" y="4572000"/>
            <a:ext cx="3840480" cy="274320"/>
          </a:xfrm>
          <a:prstGeom prst="rect">
            <a:avLst/>
          </a:prstGeom>
          <a:noFill/>
          <a:ln/>
        </p:spPr>
        <p:txBody>
          <a:bodyPr wrap="square" rtlCol="0" anchor="ctr"/>
          <a:lstStyle/>
          <a:p>
            <a:pPr marL="0" indent="0">
              <a:buNone/>
            </a:pPr>
            <a:r>
              <a:rPr lang="en-US" sz="1000" b="1" kern="0" spc="100" dirty="0">
                <a:solidFill>
                  <a:srgbClr val="6B7280"/>
                </a:solidFill>
                <a:latin typeface="Calibri" pitchFamily="34" charset="0"/>
                <a:ea typeface="Calibri" pitchFamily="34" charset="-122"/>
                <a:cs typeface="Calibri" pitchFamily="34" charset="-120"/>
              </a:rPr>
              <a:t>PLACE OF SERVICE</a:t>
            </a:r>
            <a:endParaRPr lang="en-US" sz="1000" dirty="0"/>
          </a:p>
        </p:txBody>
      </p:sp>
      <p:sp>
        <p:nvSpPr>
          <p:cNvPr id="34" name="Shape 32"/>
          <p:cNvSpPr/>
          <p:nvPr/>
        </p:nvSpPr>
        <p:spPr>
          <a:xfrm>
            <a:off x="7772400" y="4846320"/>
            <a:ext cx="3840480" cy="365760"/>
          </a:xfrm>
          <a:prstGeom prst="rect">
            <a:avLst/>
          </a:prstGeom>
          <a:solidFill>
            <a:srgbClr val="FFFFFF"/>
          </a:solidFill>
          <a:ln w="9525">
            <a:solidFill>
              <a:srgbClr val="D5DFE9"/>
            </a:solidFill>
            <a:prstDash val="solid"/>
          </a:ln>
        </p:spPr>
        <p:txBody>
          <a:bodyPr/>
          <a:lstStyle/>
          <a:p>
            <a:endParaRPr lang="en-IN"/>
          </a:p>
        </p:txBody>
      </p:sp>
      <p:sp>
        <p:nvSpPr>
          <p:cNvPr id="35" name="Text 33"/>
          <p:cNvSpPr/>
          <p:nvPr/>
        </p:nvSpPr>
        <p:spPr>
          <a:xfrm>
            <a:off x="7863840" y="4846320"/>
            <a:ext cx="3657600" cy="3657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Office</a:t>
            </a:r>
            <a:endParaRPr lang="en-US" sz="1200" dirty="0"/>
          </a:p>
        </p:txBody>
      </p:sp>
      <p:sp>
        <p:nvSpPr>
          <p:cNvPr id="36" name="Shape 34"/>
          <p:cNvSpPr/>
          <p:nvPr/>
        </p:nvSpPr>
        <p:spPr>
          <a:xfrm>
            <a:off x="7772400" y="5303520"/>
            <a:ext cx="3840480" cy="822960"/>
          </a:xfrm>
          <a:prstGeom prst="rect">
            <a:avLst/>
          </a:prstGeom>
          <a:solidFill>
            <a:srgbClr val="2AB7CA"/>
          </a:solidFill>
          <a:ln/>
        </p:spPr>
        <p:txBody>
          <a:bodyPr/>
          <a:lstStyle/>
          <a:p>
            <a:endParaRPr lang="en-IN"/>
          </a:p>
        </p:txBody>
      </p:sp>
      <p:sp>
        <p:nvSpPr>
          <p:cNvPr id="37" name="Text 35"/>
          <p:cNvSpPr/>
          <p:nvPr/>
        </p:nvSpPr>
        <p:spPr>
          <a:xfrm>
            <a:off x="7863840" y="5303520"/>
            <a:ext cx="3657600" cy="274320"/>
          </a:xfrm>
          <a:prstGeom prst="rect">
            <a:avLst/>
          </a:prstGeom>
          <a:noFill/>
          <a:ln/>
        </p:spPr>
        <p:txBody>
          <a:bodyPr wrap="square" lIns="0" tIns="0" rIns="0" bIns="0" rtlCol="0" anchor="ctr"/>
          <a:lstStyle/>
          <a:p>
            <a:pPr marL="0" indent="0">
              <a:buNone/>
            </a:pPr>
            <a:r>
              <a:rPr lang="en-US" sz="900" b="1" kern="0" spc="200" dirty="0">
                <a:solidFill>
                  <a:srgbClr val="FFFFFF"/>
                </a:solidFill>
                <a:latin typeface="Calibri" pitchFamily="34" charset="0"/>
                <a:ea typeface="Calibri" pitchFamily="34" charset="-122"/>
                <a:cs typeface="Calibri" pitchFamily="34" charset="-120"/>
              </a:rPr>
              <a:t>MEDIAN ALLOWED</a:t>
            </a:r>
            <a:endParaRPr lang="en-US" sz="900" dirty="0"/>
          </a:p>
        </p:txBody>
      </p:sp>
      <p:sp>
        <p:nvSpPr>
          <p:cNvPr id="38" name="Text 36"/>
          <p:cNvSpPr/>
          <p:nvPr/>
        </p:nvSpPr>
        <p:spPr>
          <a:xfrm>
            <a:off x="7863840" y="5532120"/>
            <a:ext cx="365760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$93.52</a:t>
            </a:r>
            <a:endParaRPr lang="en-US" sz="2400" dirty="0"/>
          </a:p>
        </p:txBody>
      </p:sp>
      <p:sp>
        <p:nvSpPr>
          <p:cNvPr id="39" name="Shape 37"/>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40" name="Text 38"/>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41" name="Text 39"/>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NICK ROMANO</a:t>
            </a:r>
            <a:endParaRPr lang="en-US" sz="900" dirty="0"/>
          </a:p>
        </p:txBody>
      </p:sp>
      <p:sp>
        <p:nvSpPr>
          <p:cNvPr id="42" name="Text 40"/>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05 / 19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C54"/>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AB7CA"/>
          </a:solidFill>
          <a:ln/>
        </p:spPr>
        <p:txBody>
          <a:bodyPr/>
          <a:lstStyle/>
          <a:p>
            <a:endParaRPr lang="en-IN"/>
          </a:p>
        </p:txBody>
      </p:sp>
      <p:sp>
        <p:nvSpPr>
          <p:cNvPr id="3" name="Text 1"/>
          <p:cNvSpPr/>
          <p:nvPr/>
        </p:nvSpPr>
        <p:spPr>
          <a:xfrm>
            <a:off x="731520" y="2194560"/>
            <a:ext cx="10972800" cy="411480"/>
          </a:xfrm>
          <a:prstGeom prst="rect">
            <a:avLst/>
          </a:prstGeom>
          <a:noFill/>
          <a:ln/>
        </p:spPr>
        <p:txBody>
          <a:bodyPr wrap="square" rtlCol="0" anchor="ctr"/>
          <a:lstStyle/>
          <a:p>
            <a:pPr marL="0" indent="0">
              <a:buNone/>
            </a:pPr>
            <a:r>
              <a:rPr lang="en-US" sz="1400" b="1" kern="0" spc="400" dirty="0">
                <a:solidFill>
                  <a:srgbClr val="2AB7CA"/>
                </a:solidFill>
                <a:latin typeface="Calibri" pitchFamily="34" charset="0"/>
                <a:ea typeface="Calibri" pitchFamily="34" charset="-122"/>
                <a:cs typeface="Calibri" pitchFamily="34" charset="-120"/>
              </a:rPr>
              <a:t>SECTION 2  ·  DATA</a:t>
            </a:r>
            <a:endParaRPr lang="en-US" sz="1400" dirty="0"/>
          </a:p>
        </p:txBody>
      </p:sp>
      <p:sp>
        <p:nvSpPr>
          <p:cNvPr id="4" name="Text 2"/>
          <p:cNvSpPr/>
          <p:nvPr/>
        </p:nvSpPr>
        <p:spPr>
          <a:xfrm>
            <a:off x="731520" y="2651760"/>
            <a:ext cx="10972800" cy="201168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The data behind the model</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and what the EDA revealed</a:t>
            </a:r>
            <a:endParaRPr lang="en-US" sz="4400" dirty="0"/>
          </a:p>
        </p:txBody>
      </p:sp>
      <p:sp>
        <p:nvSpPr>
          <p:cNvPr id="5" name="Text 3"/>
          <p:cNvSpPr/>
          <p:nvPr/>
        </p:nvSpPr>
        <p:spPr>
          <a:xfrm>
            <a:off x="731520" y="5303520"/>
            <a:ext cx="10972800" cy="36576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Presenter: Noor Ahmed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04  ·  DATASET SCOPE</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Four public CMS datasets, 103 million rows, 11 years</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graphicFrame>
        <p:nvGraphicFramePr>
          <p:cNvPr id="8" name="Table 0"/>
          <p:cNvGraphicFramePr>
            <a:graphicFrameLocks noGrp="1"/>
          </p:cNvGraphicFramePr>
          <p:nvPr>
            <p:extLst>
              <p:ext uri="{D42A27DB-BD31-4B8C-83A1-F6EECF244321}">
                <p14:modId xmlns:p14="http://schemas.microsoft.com/office/powerpoint/2010/main" val="1329232631"/>
              </p:ext>
            </p:extLst>
          </p:nvPr>
        </p:nvGraphicFramePr>
        <p:xfrm>
          <a:off x="457200" y="1600200"/>
          <a:ext cx="7589520" cy="2389632"/>
        </p:xfrm>
        <a:graphic>
          <a:graphicData uri="http://schemas.openxmlformats.org/drawingml/2006/table">
            <a:tbl>
              <a:tblPr/>
              <a:tblGrid>
                <a:gridCol w="3383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3891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YEARS</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USED FOR</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extLst>
                  <a:ext uri="{0D108BD9-81ED-4DB2-BD59-A6C34878D82A}">
                    <a16:rowId xmlns:a16="http://schemas.microsoft.com/office/drawing/2014/main" val="10000"/>
                  </a:ext>
                </a:extLst>
              </a:tr>
              <a:tr h="438912">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Medicare Physician &amp; Other Practitioners</a:t>
                      </a:r>
                      <a:endParaRPr lang="en-US" sz="1100" b="1"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chemeClr val="tx2">
                        <a:lumMod val="40000"/>
                        <a:lumOff val="60000"/>
                      </a:schemeClr>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2013 - 2023</a:t>
                      </a:r>
                      <a:endParaRPr lang="en-US" sz="1100" b="1"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chemeClr val="tx2">
                        <a:lumMod val="40000"/>
                        <a:lumOff val="60000"/>
                      </a:schemeClr>
                    </a:solidFill>
                  </a:tcPr>
                </a:tc>
                <a:tc>
                  <a:txBody>
                    <a:bodyPr/>
                    <a:lstStyle/>
                    <a:p>
                      <a:pPr marL="0" indent="0" algn="ctr">
                        <a:buNone/>
                      </a:pPr>
                      <a:r>
                        <a:rPr lang="en-US" sz="1100" b="1" dirty="0">
                          <a:solidFill>
                            <a:srgbClr val="0D2C54"/>
                          </a:solidFill>
                          <a:latin typeface="Calibri" pitchFamily="34" charset="0"/>
                          <a:ea typeface="Calibri" pitchFamily="34" charset="-122"/>
                          <a:cs typeface="Calibri" pitchFamily="34" charset="-120"/>
                        </a:rPr>
                        <a:t>~103M</a:t>
                      </a:r>
                      <a:endParaRPr lang="en-US" sz="1100" b="1"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chemeClr val="tx2">
                        <a:lumMod val="40000"/>
                        <a:lumOff val="60000"/>
                      </a:schemeClr>
                    </a:solidFill>
                  </a:tcPr>
                </a:tc>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Stage 1 training (allowed amount)</a:t>
                      </a:r>
                      <a:endParaRPr lang="en-US" sz="1100" b="1"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1"/>
                  </a:ext>
                </a:extLst>
              </a:tr>
              <a:tr h="438912">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Medicare Provider Summary (by NPI)</a:t>
                      </a:r>
                      <a:endParaRPr lang="en-US" sz="1100" b="1"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chemeClr val="tx2">
                        <a:lumMod val="40000"/>
                        <a:lumOff val="60000"/>
                      </a:schemeClr>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2013 - 2023</a:t>
                      </a:r>
                      <a:endParaRPr lang="en-US" sz="1100" b="1"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chemeClr val="tx2">
                        <a:lumMod val="40000"/>
                        <a:lumOff val="60000"/>
                      </a:schemeClr>
                    </a:solidFill>
                  </a:tcPr>
                </a:tc>
                <a:tc>
                  <a:txBody>
                    <a:bodyPr/>
                    <a:lstStyle/>
                    <a:p>
                      <a:pPr marL="0" indent="0" algn="ctr">
                        <a:buNone/>
                      </a:pPr>
                      <a:r>
                        <a:rPr lang="en-US" sz="1100" b="1" dirty="0">
                          <a:solidFill>
                            <a:srgbClr val="0D2C54"/>
                          </a:solidFill>
                          <a:latin typeface="Calibri" pitchFamily="34" charset="0"/>
                          <a:ea typeface="Calibri" pitchFamily="34" charset="-122"/>
                          <a:cs typeface="Calibri" pitchFamily="34" charset="-120"/>
                        </a:rPr>
                        <a:t>~10M NPIs</a:t>
                      </a:r>
                      <a:endParaRPr lang="en-US" sz="1100" b="1"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chemeClr val="tx2">
                        <a:lumMod val="40000"/>
                        <a:lumOff val="60000"/>
                      </a:schemeClr>
                    </a:solidFill>
                  </a:tcPr>
                </a:tc>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Joined in for provider risk score</a:t>
                      </a:r>
                      <a:endParaRPr lang="en-US" sz="1100" b="1"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2"/>
                  </a:ext>
                </a:extLst>
              </a:tr>
              <a:tr h="438912">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MCBS Cost Supplement PUF</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2018 - 2023</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tcPr>
                </a:tc>
                <a:tc>
                  <a:txBody>
                    <a:bodyPr/>
                    <a:lstStyle/>
                    <a:p>
                      <a:pPr marL="0" indent="0" algn="ctr">
                        <a:buNone/>
                      </a:pPr>
                      <a:r>
                        <a:rPr lang="en-US" sz="1100" b="1" dirty="0">
                          <a:solidFill>
                            <a:srgbClr val="0D2C54"/>
                          </a:solidFill>
                          <a:latin typeface="Calibri" pitchFamily="34" charset="0"/>
                          <a:ea typeface="Calibri" pitchFamily="34" charset="-122"/>
                          <a:cs typeface="Calibri" pitchFamily="34" charset="-120"/>
                        </a:rPr>
                        <a:t>~30K / yr</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Stage 2 out-of-pocket distributions</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MCBS Survey File PUF</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2015 - 2023</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100" b="1" dirty="0">
                          <a:solidFill>
                            <a:srgbClr val="0D2C54"/>
                          </a:solidFill>
                          <a:latin typeface="Calibri" pitchFamily="34" charset="0"/>
                          <a:ea typeface="Calibri" pitchFamily="34" charset="-122"/>
                          <a:cs typeface="Calibri" pitchFamily="34" charset="-120"/>
                        </a:rPr>
                        <a:t>~15K / yr</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Demographic synthesis for Stage 2</a:t>
                      </a:r>
                      <a:endParaRPr lang="en-US" sz="110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extLst>
                  <a:ext uri="{0D108BD9-81ED-4DB2-BD59-A6C34878D82A}">
                    <a16:rowId xmlns:a16="http://schemas.microsoft.com/office/drawing/2014/main" val="10004"/>
                  </a:ext>
                </a:extLst>
              </a:tr>
            </a:tbl>
          </a:graphicData>
        </a:graphic>
      </p:graphicFrame>
      <p:sp>
        <p:nvSpPr>
          <p:cNvPr id="6" name="Text 3"/>
          <p:cNvSpPr/>
          <p:nvPr/>
        </p:nvSpPr>
        <p:spPr>
          <a:xfrm>
            <a:off x="457200" y="4023360"/>
            <a:ext cx="758952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All four are public (CMS Data Navigator or APIs). No login, no DUA, no paid access.</a:t>
            </a:r>
            <a:endParaRPr lang="en-US" sz="1100" dirty="0"/>
          </a:p>
        </p:txBody>
      </p:sp>
      <p:sp>
        <p:nvSpPr>
          <p:cNvPr id="7" name="Shape 4"/>
          <p:cNvSpPr/>
          <p:nvPr/>
        </p:nvSpPr>
        <p:spPr>
          <a:xfrm>
            <a:off x="8321040" y="1600200"/>
            <a:ext cx="3429000" cy="1188720"/>
          </a:xfrm>
          <a:prstGeom prst="rect">
            <a:avLst/>
          </a:prstGeom>
          <a:solidFill>
            <a:srgbClr val="F4F9FC"/>
          </a:solidFill>
          <a:ln w="6350">
            <a:solidFill>
              <a:srgbClr val="D5DFE9"/>
            </a:solidFill>
            <a:prstDash val="solid"/>
          </a:ln>
        </p:spPr>
        <p:txBody>
          <a:bodyPr/>
          <a:lstStyle/>
          <a:p>
            <a:endParaRPr lang="en-IN"/>
          </a:p>
        </p:txBody>
      </p:sp>
      <p:sp>
        <p:nvSpPr>
          <p:cNvPr id="5" name="Shape 5"/>
          <p:cNvSpPr/>
          <p:nvPr/>
        </p:nvSpPr>
        <p:spPr>
          <a:xfrm>
            <a:off x="8321040" y="1600200"/>
            <a:ext cx="73152" cy="1188720"/>
          </a:xfrm>
          <a:prstGeom prst="rect">
            <a:avLst/>
          </a:prstGeom>
          <a:solidFill>
            <a:srgbClr val="2AB7CA"/>
          </a:solidFill>
          <a:ln/>
        </p:spPr>
        <p:txBody>
          <a:bodyPr/>
          <a:lstStyle/>
          <a:p>
            <a:endParaRPr lang="en-IN"/>
          </a:p>
        </p:txBody>
      </p:sp>
      <p:sp>
        <p:nvSpPr>
          <p:cNvPr id="9" name="Text 6"/>
          <p:cNvSpPr/>
          <p:nvPr/>
        </p:nvSpPr>
        <p:spPr>
          <a:xfrm>
            <a:off x="8549640" y="1737360"/>
            <a:ext cx="3108960" cy="653796"/>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103M</a:t>
            </a:r>
            <a:endParaRPr lang="en-US" sz="3000" dirty="0"/>
          </a:p>
        </p:txBody>
      </p:sp>
      <p:sp>
        <p:nvSpPr>
          <p:cNvPr id="10" name="Text 7"/>
          <p:cNvSpPr/>
          <p:nvPr/>
        </p:nvSpPr>
        <p:spPr>
          <a:xfrm>
            <a:off x="8549640" y="2337206"/>
            <a:ext cx="3108960" cy="404165"/>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provider-service rows</a:t>
            </a:r>
            <a:endParaRPr lang="en-US" sz="1000" dirty="0"/>
          </a:p>
        </p:txBody>
      </p:sp>
      <p:sp>
        <p:nvSpPr>
          <p:cNvPr id="11" name="Shape 8"/>
          <p:cNvSpPr/>
          <p:nvPr/>
        </p:nvSpPr>
        <p:spPr>
          <a:xfrm>
            <a:off x="8321040" y="2926080"/>
            <a:ext cx="3429000" cy="1188720"/>
          </a:xfrm>
          <a:prstGeom prst="rect">
            <a:avLst/>
          </a:prstGeom>
          <a:solidFill>
            <a:srgbClr val="F4F9FC"/>
          </a:solidFill>
          <a:ln w="6350">
            <a:solidFill>
              <a:srgbClr val="D5DFE9"/>
            </a:solidFill>
            <a:prstDash val="solid"/>
          </a:ln>
        </p:spPr>
        <p:txBody>
          <a:bodyPr/>
          <a:lstStyle/>
          <a:p>
            <a:endParaRPr lang="en-IN"/>
          </a:p>
        </p:txBody>
      </p:sp>
      <p:sp>
        <p:nvSpPr>
          <p:cNvPr id="12" name="Shape 9"/>
          <p:cNvSpPr/>
          <p:nvPr/>
        </p:nvSpPr>
        <p:spPr>
          <a:xfrm>
            <a:off x="8321040" y="2926080"/>
            <a:ext cx="73152" cy="1188720"/>
          </a:xfrm>
          <a:prstGeom prst="rect">
            <a:avLst/>
          </a:prstGeom>
          <a:solidFill>
            <a:srgbClr val="065A82"/>
          </a:solidFill>
          <a:ln/>
        </p:spPr>
        <p:txBody>
          <a:bodyPr/>
          <a:lstStyle/>
          <a:p>
            <a:endParaRPr lang="en-IN"/>
          </a:p>
        </p:txBody>
      </p:sp>
      <p:sp>
        <p:nvSpPr>
          <p:cNvPr id="13" name="Text 10"/>
          <p:cNvSpPr/>
          <p:nvPr/>
        </p:nvSpPr>
        <p:spPr>
          <a:xfrm>
            <a:off x="8549640" y="3063240"/>
            <a:ext cx="3108960" cy="653796"/>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131</a:t>
            </a:r>
            <a:endParaRPr lang="en-US" sz="3000" dirty="0"/>
          </a:p>
        </p:txBody>
      </p:sp>
      <p:sp>
        <p:nvSpPr>
          <p:cNvPr id="14" name="Text 11"/>
          <p:cNvSpPr/>
          <p:nvPr/>
        </p:nvSpPr>
        <p:spPr>
          <a:xfrm>
            <a:off x="8549640" y="3663086"/>
            <a:ext cx="3108960" cy="404165"/>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unique specialties</a:t>
            </a:r>
            <a:endParaRPr lang="en-US" sz="1000" dirty="0"/>
          </a:p>
        </p:txBody>
      </p:sp>
      <p:sp>
        <p:nvSpPr>
          <p:cNvPr id="15" name="Shape 12"/>
          <p:cNvSpPr/>
          <p:nvPr/>
        </p:nvSpPr>
        <p:spPr>
          <a:xfrm>
            <a:off x="8321040" y="4251960"/>
            <a:ext cx="3429000" cy="1188720"/>
          </a:xfrm>
          <a:prstGeom prst="rect">
            <a:avLst/>
          </a:prstGeom>
          <a:solidFill>
            <a:srgbClr val="F4F9FC"/>
          </a:solidFill>
          <a:ln w="6350">
            <a:solidFill>
              <a:srgbClr val="D5DFE9"/>
            </a:solidFill>
            <a:prstDash val="solid"/>
          </a:ln>
        </p:spPr>
        <p:txBody>
          <a:bodyPr/>
          <a:lstStyle/>
          <a:p>
            <a:endParaRPr lang="en-IN"/>
          </a:p>
        </p:txBody>
      </p:sp>
      <p:sp>
        <p:nvSpPr>
          <p:cNvPr id="16" name="Shape 13"/>
          <p:cNvSpPr/>
          <p:nvPr/>
        </p:nvSpPr>
        <p:spPr>
          <a:xfrm>
            <a:off x="8321040" y="4251960"/>
            <a:ext cx="73152" cy="1188720"/>
          </a:xfrm>
          <a:prstGeom prst="rect">
            <a:avLst/>
          </a:prstGeom>
          <a:solidFill>
            <a:srgbClr val="0D2C54"/>
          </a:solidFill>
          <a:ln/>
        </p:spPr>
        <p:txBody>
          <a:bodyPr/>
          <a:lstStyle/>
          <a:p>
            <a:endParaRPr lang="en-IN"/>
          </a:p>
        </p:txBody>
      </p:sp>
      <p:sp>
        <p:nvSpPr>
          <p:cNvPr id="17" name="Text 14"/>
          <p:cNvSpPr/>
          <p:nvPr/>
        </p:nvSpPr>
        <p:spPr>
          <a:xfrm>
            <a:off x="8549640" y="4389120"/>
            <a:ext cx="3108960" cy="653796"/>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~6K</a:t>
            </a:r>
            <a:endParaRPr lang="en-US" sz="3000" dirty="0"/>
          </a:p>
        </p:txBody>
      </p:sp>
      <p:sp>
        <p:nvSpPr>
          <p:cNvPr id="18" name="Text 15"/>
          <p:cNvSpPr/>
          <p:nvPr/>
        </p:nvSpPr>
        <p:spPr>
          <a:xfrm>
            <a:off x="8549640" y="4988966"/>
            <a:ext cx="3108960" cy="404165"/>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unique HCPCS codes</a:t>
            </a:r>
            <a:endParaRPr lang="en-US" sz="1000" dirty="0"/>
          </a:p>
        </p:txBody>
      </p:sp>
      <p:sp>
        <p:nvSpPr>
          <p:cNvPr id="19" name="Shape 16"/>
          <p:cNvSpPr/>
          <p:nvPr/>
        </p:nvSpPr>
        <p:spPr>
          <a:xfrm>
            <a:off x="8321040" y="5577840"/>
            <a:ext cx="3429000" cy="777240"/>
          </a:xfrm>
          <a:prstGeom prst="rect">
            <a:avLst/>
          </a:prstGeom>
          <a:solidFill>
            <a:srgbClr val="F4F9FC"/>
          </a:solidFill>
          <a:ln w="6350">
            <a:solidFill>
              <a:srgbClr val="D5DFE9"/>
            </a:solidFill>
            <a:prstDash val="solid"/>
          </a:ln>
        </p:spPr>
        <p:txBody>
          <a:bodyPr/>
          <a:lstStyle/>
          <a:p>
            <a:endParaRPr lang="en-IN"/>
          </a:p>
        </p:txBody>
      </p:sp>
      <p:sp>
        <p:nvSpPr>
          <p:cNvPr id="20" name="Shape 17"/>
          <p:cNvSpPr/>
          <p:nvPr/>
        </p:nvSpPr>
        <p:spPr>
          <a:xfrm>
            <a:off x="8321040" y="5577840"/>
            <a:ext cx="73152" cy="777240"/>
          </a:xfrm>
          <a:prstGeom prst="rect">
            <a:avLst/>
          </a:prstGeom>
          <a:solidFill>
            <a:srgbClr val="D4A017"/>
          </a:solidFill>
          <a:ln/>
        </p:spPr>
        <p:txBody>
          <a:bodyPr/>
          <a:lstStyle/>
          <a:p>
            <a:endParaRPr lang="en-IN"/>
          </a:p>
        </p:txBody>
      </p:sp>
      <p:sp>
        <p:nvSpPr>
          <p:cNvPr id="21" name="Text 18"/>
          <p:cNvSpPr/>
          <p:nvPr/>
        </p:nvSpPr>
        <p:spPr>
          <a:xfrm>
            <a:off x="8549640" y="5715000"/>
            <a:ext cx="3108960" cy="427482"/>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63</a:t>
            </a:r>
            <a:endParaRPr lang="en-US" sz="3000" dirty="0"/>
          </a:p>
        </p:txBody>
      </p:sp>
      <p:sp>
        <p:nvSpPr>
          <p:cNvPr id="22" name="Text 19"/>
          <p:cNvSpPr/>
          <p:nvPr/>
        </p:nvSpPr>
        <p:spPr>
          <a:xfrm>
            <a:off x="8549640" y="6059729"/>
            <a:ext cx="3108960" cy="264262"/>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states &amp; territories</a:t>
            </a:r>
            <a:endParaRPr lang="en-US" sz="1000" dirty="0"/>
          </a:p>
        </p:txBody>
      </p:sp>
      <p:sp>
        <p:nvSpPr>
          <p:cNvPr id="23" name="Text 20"/>
          <p:cNvSpPr/>
          <p:nvPr/>
        </p:nvSpPr>
        <p:spPr>
          <a:xfrm>
            <a:off x="457200" y="5577840"/>
            <a:ext cx="7589520" cy="685800"/>
          </a:xfrm>
          <a:prstGeom prst="rect">
            <a:avLst/>
          </a:prstGeom>
          <a:noFill/>
          <a:ln/>
        </p:spPr>
        <p:txBody>
          <a:bodyPr wrap="square" rtlCol="0" anchor="t"/>
          <a:lstStyle/>
          <a:p>
            <a:pPr marL="0" indent="0">
              <a:buNone/>
            </a:pPr>
            <a:r>
              <a:rPr lang="en-US" sz="1100" b="1" i="1" dirty="0">
                <a:solidFill>
                  <a:srgbClr val="E0613E"/>
                </a:solidFill>
                <a:latin typeface="Calibri" pitchFamily="34" charset="0"/>
                <a:ea typeface="Calibri" pitchFamily="34" charset="-122"/>
                <a:cs typeface="Calibri" pitchFamily="34" charset="-120"/>
              </a:rPr>
              <a:t>Scope limit: Part B physician/practitioner only. No hospital facility fees (Part A), no drugs (Part D), no Medicare Advantage (Part C).</a:t>
            </a:r>
            <a:endParaRPr lang="en-US" sz="1100" dirty="0"/>
          </a:p>
        </p:txBody>
      </p:sp>
      <p:sp>
        <p:nvSpPr>
          <p:cNvPr id="24" name="Shape 21"/>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25" name="Text 22"/>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26" name="Text 23"/>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NOOR AHMED</a:t>
            </a:r>
            <a:endParaRPr lang="en-US" sz="900" dirty="0"/>
          </a:p>
        </p:txBody>
      </p:sp>
      <p:sp>
        <p:nvSpPr>
          <p:cNvPr id="27" name="Text 24"/>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07 / 19</a:t>
            </a:r>
            <a:endParaRPr lang="en-US" sz="900" dirty="0"/>
          </a:p>
        </p:txBody>
      </p:sp>
      <p:sp>
        <p:nvSpPr>
          <p:cNvPr id="28" name="Rectangle 27">
            <a:extLst>
              <a:ext uri="{FF2B5EF4-FFF2-40B4-BE49-F238E27FC236}">
                <a16:creationId xmlns:a16="http://schemas.microsoft.com/office/drawing/2014/main" id="{EAAAA727-6FC0-F19C-6D33-F45BD84323AB}"/>
              </a:ext>
            </a:extLst>
          </p:cNvPr>
          <p:cNvSpPr/>
          <p:nvPr/>
        </p:nvSpPr>
        <p:spPr>
          <a:xfrm>
            <a:off x="457200" y="2057397"/>
            <a:ext cx="7589520" cy="97200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05  ·  WHAT ONE ROW LOOKS LIKE</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Provider x procedure x year  →  target variable</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Text 3"/>
          <p:cNvSpPr/>
          <p:nvPr/>
        </p:nvSpPr>
        <p:spPr>
          <a:xfrm>
            <a:off x="457200" y="1600200"/>
            <a:ext cx="6858000" cy="365760"/>
          </a:xfrm>
          <a:prstGeom prst="rect">
            <a:avLst/>
          </a:prstGeom>
          <a:noFill/>
          <a:ln/>
        </p:spPr>
        <p:txBody>
          <a:bodyPr wrap="square"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One row of the raw dataset</a:t>
            </a:r>
            <a:endParaRPr lang="en-US" sz="1300" dirty="0"/>
          </a:p>
        </p:txBody>
      </p:sp>
      <p:sp>
        <p:nvSpPr>
          <p:cNvPr id="6" name="Shape 4"/>
          <p:cNvSpPr/>
          <p:nvPr/>
        </p:nvSpPr>
        <p:spPr>
          <a:xfrm>
            <a:off x="457200" y="1965960"/>
            <a:ext cx="6858000" cy="310896"/>
          </a:xfrm>
          <a:prstGeom prst="rect">
            <a:avLst/>
          </a:prstGeom>
          <a:solidFill>
            <a:srgbClr val="F4F9FC"/>
          </a:solidFill>
          <a:ln/>
        </p:spPr>
        <p:txBody>
          <a:bodyPr/>
          <a:lstStyle/>
          <a:p>
            <a:endParaRPr lang="en-IN"/>
          </a:p>
        </p:txBody>
      </p:sp>
      <p:sp>
        <p:nvSpPr>
          <p:cNvPr id="7" name="Text 5"/>
          <p:cNvSpPr/>
          <p:nvPr/>
        </p:nvSpPr>
        <p:spPr>
          <a:xfrm>
            <a:off x="548640" y="1965960"/>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Rndrng_NPI</a:t>
            </a:r>
            <a:endParaRPr lang="en-US" sz="1000" dirty="0"/>
          </a:p>
        </p:txBody>
      </p:sp>
      <p:sp>
        <p:nvSpPr>
          <p:cNvPr id="8" name="Text 6"/>
          <p:cNvSpPr/>
          <p:nvPr/>
        </p:nvSpPr>
        <p:spPr>
          <a:xfrm>
            <a:off x="2697480" y="1965960"/>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1234567890</a:t>
            </a:r>
            <a:endParaRPr lang="en-US" sz="1000" dirty="0"/>
          </a:p>
        </p:txBody>
      </p:sp>
      <p:sp>
        <p:nvSpPr>
          <p:cNvPr id="9" name="Text 7"/>
          <p:cNvSpPr/>
          <p:nvPr/>
        </p:nvSpPr>
        <p:spPr>
          <a:xfrm>
            <a:off x="4206240" y="1965960"/>
            <a:ext cx="3017520" cy="31089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unique provider ID</a:t>
            </a:r>
            <a:endParaRPr lang="en-US" sz="1000" dirty="0"/>
          </a:p>
        </p:txBody>
      </p:sp>
      <p:sp>
        <p:nvSpPr>
          <p:cNvPr id="10" name="Shape 8"/>
          <p:cNvSpPr/>
          <p:nvPr/>
        </p:nvSpPr>
        <p:spPr>
          <a:xfrm>
            <a:off x="457200" y="2295144"/>
            <a:ext cx="6858000" cy="310896"/>
          </a:xfrm>
          <a:prstGeom prst="rect">
            <a:avLst/>
          </a:prstGeom>
          <a:solidFill>
            <a:srgbClr val="FFFFFF"/>
          </a:solidFill>
          <a:ln/>
        </p:spPr>
        <p:txBody>
          <a:bodyPr/>
          <a:lstStyle/>
          <a:p>
            <a:endParaRPr lang="en-IN"/>
          </a:p>
        </p:txBody>
      </p:sp>
      <p:sp>
        <p:nvSpPr>
          <p:cNvPr id="11" name="Text 9"/>
          <p:cNvSpPr/>
          <p:nvPr/>
        </p:nvSpPr>
        <p:spPr>
          <a:xfrm>
            <a:off x="548640" y="2295144"/>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Rndrng_Prvdr_State</a:t>
            </a:r>
            <a:endParaRPr lang="en-US" sz="1000" dirty="0"/>
          </a:p>
        </p:txBody>
      </p:sp>
      <p:sp>
        <p:nvSpPr>
          <p:cNvPr id="12" name="Text 10"/>
          <p:cNvSpPr/>
          <p:nvPr/>
        </p:nvSpPr>
        <p:spPr>
          <a:xfrm>
            <a:off x="2697480" y="2295144"/>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IN</a:t>
            </a:r>
            <a:endParaRPr lang="en-US" sz="1000" dirty="0"/>
          </a:p>
        </p:txBody>
      </p:sp>
      <p:sp>
        <p:nvSpPr>
          <p:cNvPr id="13" name="Text 11"/>
          <p:cNvSpPr/>
          <p:nvPr/>
        </p:nvSpPr>
        <p:spPr>
          <a:xfrm>
            <a:off x="4206240" y="2295144"/>
            <a:ext cx="3017520" cy="31089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state of practice</a:t>
            </a:r>
            <a:endParaRPr lang="en-US" sz="1000" dirty="0"/>
          </a:p>
        </p:txBody>
      </p:sp>
      <p:sp>
        <p:nvSpPr>
          <p:cNvPr id="14" name="Shape 12"/>
          <p:cNvSpPr/>
          <p:nvPr/>
        </p:nvSpPr>
        <p:spPr>
          <a:xfrm>
            <a:off x="457200" y="2624328"/>
            <a:ext cx="6858000" cy="310896"/>
          </a:xfrm>
          <a:prstGeom prst="rect">
            <a:avLst/>
          </a:prstGeom>
          <a:solidFill>
            <a:srgbClr val="F4F9FC"/>
          </a:solidFill>
          <a:ln/>
        </p:spPr>
        <p:txBody>
          <a:bodyPr/>
          <a:lstStyle/>
          <a:p>
            <a:endParaRPr lang="en-IN"/>
          </a:p>
        </p:txBody>
      </p:sp>
      <p:sp>
        <p:nvSpPr>
          <p:cNvPr id="15" name="Text 13"/>
          <p:cNvSpPr/>
          <p:nvPr/>
        </p:nvSpPr>
        <p:spPr>
          <a:xfrm>
            <a:off x="548640" y="2624328"/>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Rndrng_Prvdr_Type</a:t>
            </a:r>
            <a:endParaRPr lang="en-US" sz="1000" dirty="0"/>
          </a:p>
        </p:txBody>
      </p:sp>
      <p:sp>
        <p:nvSpPr>
          <p:cNvPr id="16" name="Text 14"/>
          <p:cNvSpPr/>
          <p:nvPr/>
        </p:nvSpPr>
        <p:spPr>
          <a:xfrm>
            <a:off x="2697480" y="2624328"/>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Cardiology</a:t>
            </a:r>
            <a:endParaRPr lang="en-US" sz="1000" dirty="0"/>
          </a:p>
        </p:txBody>
      </p:sp>
      <p:sp>
        <p:nvSpPr>
          <p:cNvPr id="17" name="Text 15"/>
          <p:cNvSpPr/>
          <p:nvPr/>
        </p:nvSpPr>
        <p:spPr>
          <a:xfrm>
            <a:off x="4206240" y="2624328"/>
            <a:ext cx="3017520" cy="31089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specialty</a:t>
            </a:r>
            <a:endParaRPr lang="en-US" sz="1000" dirty="0"/>
          </a:p>
        </p:txBody>
      </p:sp>
      <p:sp>
        <p:nvSpPr>
          <p:cNvPr id="18" name="Shape 16"/>
          <p:cNvSpPr/>
          <p:nvPr/>
        </p:nvSpPr>
        <p:spPr>
          <a:xfrm>
            <a:off x="457200" y="2953512"/>
            <a:ext cx="6858000" cy="310896"/>
          </a:xfrm>
          <a:prstGeom prst="rect">
            <a:avLst/>
          </a:prstGeom>
          <a:solidFill>
            <a:srgbClr val="FFFFFF"/>
          </a:solidFill>
          <a:ln/>
        </p:spPr>
        <p:txBody>
          <a:bodyPr/>
          <a:lstStyle/>
          <a:p>
            <a:endParaRPr lang="en-IN"/>
          </a:p>
        </p:txBody>
      </p:sp>
      <p:sp>
        <p:nvSpPr>
          <p:cNvPr id="19" name="Text 17"/>
          <p:cNvSpPr/>
          <p:nvPr/>
        </p:nvSpPr>
        <p:spPr>
          <a:xfrm>
            <a:off x="548640" y="2953512"/>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HCPCS_Cd</a:t>
            </a:r>
            <a:endParaRPr lang="en-US" sz="1000" dirty="0"/>
          </a:p>
        </p:txBody>
      </p:sp>
      <p:sp>
        <p:nvSpPr>
          <p:cNvPr id="20" name="Text 18"/>
          <p:cNvSpPr/>
          <p:nvPr/>
        </p:nvSpPr>
        <p:spPr>
          <a:xfrm>
            <a:off x="2697480" y="2953512"/>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99213</a:t>
            </a:r>
            <a:endParaRPr lang="en-US" sz="1000" dirty="0"/>
          </a:p>
        </p:txBody>
      </p:sp>
      <p:sp>
        <p:nvSpPr>
          <p:cNvPr id="21" name="Text 19"/>
          <p:cNvSpPr/>
          <p:nvPr/>
        </p:nvSpPr>
        <p:spPr>
          <a:xfrm>
            <a:off x="4206240" y="2953512"/>
            <a:ext cx="3017520" cy="31089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billing code (office visit)</a:t>
            </a:r>
            <a:endParaRPr lang="en-US" sz="1000" dirty="0"/>
          </a:p>
        </p:txBody>
      </p:sp>
      <p:sp>
        <p:nvSpPr>
          <p:cNvPr id="22" name="Shape 20"/>
          <p:cNvSpPr/>
          <p:nvPr/>
        </p:nvSpPr>
        <p:spPr>
          <a:xfrm>
            <a:off x="457200" y="3282696"/>
            <a:ext cx="6858000" cy="310896"/>
          </a:xfrm>
          <a:prstGeom prst="rect">
            <a:avLst/>
          </a:prstGeom>
          <a:solidFill>
            <a:srgbClr val="F4F9FC"/>
          </a:solidFill>
          <a:ln/>
        </p:spPr>
        <p:txBody>
          <a:bodyPr/>
          <a:lstStyle/>
          <a:p>
            <a:endParaRPr lang="en-IN"/>
          </a:p>
        </p:txBody>
      </p:sp>
      <p:sp>
        <p:nvSpPr>
          <p:cNvPr id="23" name="Text 21"/>
          <p:cNvSpPr/>
          <p:nvPr/>
        </p:nvSpPr>
        <p:spPr>
          <a:xfrm>
            <a:off x="548640" y="3282696"/>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Place_Of_Srvc</a:t>
            </a:r>
            <a:endParaRPr lang="en-US" sz="1000" dirty="0"/>
          </a:p>
        </p:txBody>
      </p:sp>
      <p:sp>
        <p:nvSpPr>
          <p:cNvPr id="24" name="Text 22"/>
          <p:cNvSpPr/>
          <p:nvPr/>
        </p:nvSpPr>
        <p:spPr>
          <a:xfrm>
            <a:off x="2697480" y="3282696"/>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O</a:t>
            </a:r>
            <a:endParaRPr lang="en-US" sz="1000" dirty="0"/>
          </a:p>
        </p:txBody>
      </p:sp>
      <p:sp>
        <p:nvSpPr>
          <p:cNvPr id="25" name="Text 23"/>
          <p:cNvSpPr/>
          <p:nvPr/>
        </p:nvSpPr>
        <p:spPr>
          <a:xfrm>
            <a:off x="4206240" y="3282696"/>
            <a:ext cx="3017520" cy="31089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office (O) or facility (F)</a:t>
            </a:r>
            <a:endParaRPr lang="en-US" sz="1000" dirty="0"/>
          </a:p>
        </p:txBody>
      </p:sp>
      <p:sp>
        <p:nvSpPr>
          <p:cNvPr id="26" name="Shape 24"/>
          <p:cNvSpPr/>
          <p:nvPr/>
        </p:nvSpPr>
        <p:spPr>
          <a:xfrm>
            <a:off x="457200" y="3611880"/>
            <a:ext cx="6858000" cy="310896"/>
          </a:xfrm>
          <a:prstGeom prst="rect">
            <a:avLst/>
          </a:prstGeom>
          <a:solidFill>
            <a:srgbClr val="FFFFFF"/>
          </a:solidFill>
          <a:ln/>
        </p:spPr>
        <p:txBody>
          <a:bodyPr/>
          <a:lstStyle/>
          <a:p>
            <a:endParaRPr lang="en-IN"/>
          </a:p>
        </p:txBody>
      </p:sp>
      <p:sp>
        <p:nvSpPr>
          <p:cNvPr id="27" name="Text 25"/>
          <p:cNvSpPr/>
          <p:nvPr/>
        </p:nvSpPr>
        <p:spPr>
          <a:xfrm>
            <a:off x="548640" y="3611880"/>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Tot_Srvcs</a:t>
            </a:r>
            <a:endParaRPr lang="en-US" sz="1000" dirty="0"/>
          </a:p>
        </p:txBody>
      </p:sp>
      <p:sp>
        <p:nvSpPr>
          <p:cNvPr id="28" name="Text 26"/>
          <p:cNvSpPr/>
          <p:nvPr/>
        </p:nvSpPr>
        <p:spPr>
          <a:xfrm>
            <a:off x="2697480" y="3611880"/>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1,842</a:t>
            </a:r>
            <a:endParaRPr lang="en-US" sz="1000" dirty="0"/>
          </a:p>
        </p:txBody>
      </p:sp>
      <p:sp>
        <p:nvSpPr>
          <p:cNvPr id="29" name="Text 27"/>
          <p:cNvSpPr/>
          <p:nvPr/>
        </p:nvSpPr>
        <p:spPr>
          <a:xfrm>
            <a:off x="4206240" y="3611880"/>
            <a:ext cx="3017520" cy="31089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times the procedure was done</a:t>
            </a:r>
            <a:endParaRPr lang="en-US" sz="1000" dirty="0"/>
          </a:p>
        </p:txBody>
      </p:sp>
      <p:sp>
        <p:nvSpPr>
          <p:cNvPr id="30" name="Shape 28"/>
          <p:cNvSpPr/>
          <p:nvPr/>
        </p:nvSpPr>
        <p:spPr>
          <a:xfrm>
            <a:off x="457200" y="3941064"/>
            <a:ext cx="6858000" cy="310896"/>
          </a:xfrm>
          <a:prstGeom prst="rect">
            <a:avLst/>
          </a:prstGeom>
          <a:solidFill>
            <a:srgbClr val="F4F9FC"/>
          </a:solidFill>
          <a:ln/>
        </p:spPr>
        <p:txBody>
          <a:bodyPr/>
          <a:lstStyle/>
          <a:p>
            <a:endParaRPr lang="en-IN"/>
          </a:p>
        </p:txBody>
      </p:sp>
      <p:sp>
        <p:nvSpPr>
          <p:cNvPr id="31" name="Text 29"/>
          <p:cNvSpPr/>
          <p:nvPr/>
        </p:nvSpPr>
        <p:spPr>
          <a:xfrm>
            <a:off x="548640" y="3941064"/>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Tot_Benes</a:t>
            </a:r>
            <a:endParaRPr lang="en-US" sz="1000" dirty="0"/>
          </a:p>
        </p:txBody>
      </p:sp>
      <p:sp>
        <p:nvSpPr>
          <p:cNvPr id="32" name="Text 30"/>
          <p:cNvSpPr/>
          <p:nvPr/>
        </p:nvSpPr>
        <p:spPr>
          <a:xfrm>
            <a:off x="2697480" y="3941064"/>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1,423</a:t>
            </a:r>
            <a:endParaRPr lang="en-US" sz="1000" dirty="0"/>
          </a:p>
        </p:txBody>
      </p:sp>
      <p:sp>
        <p:nvSpPr>
          <p:cNvPr id="33" name="Text 31"/>
          <p:cNvSpPr/>
          <p:nvPr/>
        </p:nvSpPr>
        <p:spPr>
          <a:xfrm>
            <a:off x="4206240" y="3941064"/>
            <a:ext cx="3017520" cy="31089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unique Medicare patients</a:t>
            </a:r>
            <a:endParaRPr lang="en-US" sz="1000" dirty="0"/>
          </a:p>
        </p:txBody>
      </p:sp>
      <p:sp>
        <p:nvSpPr>
          <p:cNvPr id="34" name="Shape 32"/>
          <p:cNvSpPr/>
          <p:nvPr/>
        </p:nvSpPr>
        <p:spPr>
          <a:xfrm>
            <a:off x="457200" y="4270248"/>
            <a:ext cx="6858000" cy="310896"/>
          </a:xfrm>
          <a:prstGeom prst="rect">
            <a:avLst/>
          </a:prstGeom>
          <a:solidFill>
            <a:srgbClr val="FFFFFF"/>
          </a:solidFill>
          <a:ln/>
        </p:spPr>
        <p:txBody>
          <a:bodyPr/>
          <a:lstStyle/>
          <a:p>
            <a:endParaRPr lang="en-IN"/>
          </a:p>
        </p:txBody>
      </p:sp>
      <p:sp>
        <p:nvSpPr>
          <p:cNvPr id="35" name="Text 33"/>
          <p:cNvSpPr/>
          <p:nvPr/>
        </p:nvSpPr>
        <p:spPr>
          <a:xfrm>
            <a:off x="548640" y="4270248"/>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Avg_Sbmtd_Chrg</a:t>
            </a:r>
            <a:endParaRPr lang="en-US" sz="1000" dirty="0"/>
          </a:p>
        </p:txBody>
      </p:sp>
      <p:sp>
        <p:nvSpPr>
          <p:cNvPr id="36" name="Text 34"/>
          <p:cNvSpPr/>
          <p:nvPr/>
        </p:nvSpPr>
        <p:spPr>
          <a:xfrm>
            <a:off x="2697480" y="4270248"/>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$187.42</a:t>
            </a:r>
            <a:endParaRPr lang="en-US" sz="1000" dirty="0"/>
          </a:p>
        </p:txBody>
      </p:sp>
      <p:sp>
        <p:nvSpPr>
          <p:cNvPr id="37" name="Text 35"/>
          <p:cNvSpPr/>
          <p:nvPr/>
        </p:nvSpPr>
        <p:spPr>
          <a:xfrm>
            <a:off x="4206240" y="4270248"/>
            <a:ext cx="3017520" cy="31089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amount billed to Medicare</a:t>
            </a:r>
            <a:endParaRPr lang="en-US" sz="1000" dirty="0"/>
          </a:p>
        </p:txBody>
      </p:sp>
      <p:sp>
        <p:nvSpPr>
          <p:cNvPr id="38" name="Shape 36"/>
          <p:cNvSpPr/>
          <p:nvPr/>
        </p:nvSpPr>
        <p:spPr>
          <a:xfrm>
            <a:off x="457200" y="4599432"/>
            <a:ext cx="6858000" cy="310896"/>
          </a:xfrm>
          <a:prstGeom prst="rect">
            <a:avLst/>
          </a:prstGeom>
          <a:solidFill>
            <a:srgbClr val="FFF4D6"/>
          </a:solidFill>
          <a:ln/>
        </p:spPr>
        <p:txBody>
          <a:bodyPr/>
          <a:lstStyle/>
          <a:p>
            <a:endParaRPr lang="en-IN"/>
          </a:p>
        </p:txBody>
      </p:sp>
      <p:sp>
        <p:nvSpPr>
          <p:cNvPr id="39" name="Text 37"/>
          <p:cNvSpPr/>
          <p:nvPr/>
        </p:nvSpPr>
        <p:spPr>
          <a:xfrm>
            <a:off x="548640" y="4599432"/>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Avg_Mdcr_Alowd_Amt</a:t>
            </a:r>
            <a:endParaRPr lang="en-US" sz="1000" dirty="0"/>
          </a:p>
        </p:txBody>
      </p:sp>
      <p:sp>
        <p:nvSpPr>
          <p:cNvPr id="40" name="Text 38"/>
          <p:cNvSpPr/>
          <p:nvPr/>
        </p:nvSpPr>
        <p:spPr>
          <a:xfrm>
            <a:off x="2697480" y="4599432"/>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$93.52</a:t>
            </a:r>
            <a:endParaRPr lang="en-US" sz="1000" dirty="0"/>
          </a:p>
        </p:txBody>
      </p:sp>
      <p:sp>
        <p:nvSpPr>
          <p:cNvPr id="41" name="Text 39"/>
          <p:cNvSpPr/>
          <p:nvPr/>
        </p:nvSpPr>
        <p:spPr>
          <a:xfrm>
            <a:off x="4206240" y="4599432"/>
            <a:ext cx="3017520" cy="310896"/>
          </a:xfrm>
          <a:prstGeom prst="rect">
            <a:avLst/>
          </a:prstGeom>
          <a:noFill/>
          <a:ln/>
        </p:spPr>
        <p:txBody>
          <a:bodyPr wrap="square" lIns="0" tIns="0" rIns="0" bIns="0" rtlCol="0" anchor="ctr"/>
          <a:lstStyle/>
          <a:p>
            <a:pPr marL="0" indent="0">
              <a:buNone/>
            </a:pPr>
            <a:r>
              <a:rPr lang="en-US" sz="1000" b="1" i="1" dirty="0">
                <a:solidFill>
                  <a:srgbClr val="0D2C54"/>
                </a:solidFill>
                <a:latin typeface="Calibri" pitchFamily="34" charset="0"/>
                <a:ea typeface="Calibri" pitchFamily="34" charset="-122"/>
                <a:cs typeface="Calibri" pitchFamily="34" charset="-120"/>
              </a:rPr>
              <a:t>TARGET - what we predict</a:t>
            </a:r>
            <a:endParaRPr lang="en-US" sz="1000" dirty="0"/>
          </a:p>
        </p:txBody>
      </p:sp>
      <p:sp>
        <p:nvSpPr>
          <p:cNvPr id="42" name="Shape 40"/>
          <p:cNvSpPr/>
          <p:nvPr/>
        </p:nvSpPr>
        <p:spPr>
          <a:xfrm>
            <a:off x="457200" y="4928616"/>
            <a:ext cx="6858000" cy="310896"/>
          </a:xfrm>
          <a:prstGeom prst="rect">
            <a:avLst/>
          </a:prstGeom>
          <a:solidFill>
            <a:srgbClr val="FFE4DE"/>
          </a:solidFill>
          <a:ln/>
        </p:spPr>
        <p:txBody>
          <a:bodyPr/>
          <a:lstStyle/>
          <a:p>
            <a:endParaRPr lang="en-IN"/>
          </a:p>
        </p:txBody>
      </p:sp>
      <p:sp>
        <p:nvSpPr>
          <p:cNvPr id="43" name="Text 41"/>
          <p:cNvSpPr/>
          <p:nvPr/>
        </p:nvSpPr>
        <p:spPr>
          <a:xfrm>
            <a:off x="548640" y="4928616"/>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Avg_Mdcr_Pymt_Amt</a:t>
            </a:r>
            <a:endParaRPr lang="en-US" sz="1000" dirty="0"/>
          </a:p>
        </p:txBody>
      </p:sp>
      <p:sp>
        <p:nvSpPr>
          <p:cNvPr id="44" name="Text 42"/>
          <p:cNvSpPr/>
          <p:nvPr/>
        </p:nvSpPr>
        <p:spPr>
          <a:xfrm>
            <a:off x="2697480" y="4928616"/>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$74.82</a:t>
            </a:r>
            <a:endParaRPr lang="en-US" sz="1000" dirty="0"/>
          </a:p>
        </p:txBody>
      </p:sp>
      <p:sp>
        <p:nvSpPr>
          <p:cNvPr id="45" name="Text 43"/>
          <p:cNvSpPr/>
          <p:nvPr/>
        </p:nvSpPr>
        <p:spPr>
          <a:xfrm>
            <a:off x="4206240" y="4928616"/>
            <a:ext cx="3017520" cy="310896"/>
          </a:xfrm>
          <a:prstGeom prst="rect">
            <a:avLst/>
          </a:prstGeom>
          <a:noFill/>
          <a:ln/>
        </p:spPr>
        <p:txBody>
          <a:bodyPr wrap="square" lIns="0" tIns="0" rIns="0" bIns="0" rtlCol="0" anchor="ctr"/>
          <a:lstStyle/>
          <a:p>
            <a:pPr marL="0" indent="0">
              <a:buNone/>
            </a:pPr>
            <a:r>
              <a:rPr lang="en-US" sz="1000" b="1" i="1" dirty="0">
                <a:solidFill>
                  <a:srgbClr val="E0613E"/>
                </a:solidFill>
                <a:latin typeface="Calibri" pitchFamily="34" charset="0"/>
                <a:ea typeface="Calibri" pitchFamily="34" charset="-122"/>
                <a:cs typeface="Calibri" pitchFamily="34" charset="-120"/>
              </a:rPr>
              <a:t>dropped: leakage (80% of allowed)</a:t>
            </a:r>
            <a:endParaRPr lang="en-US" sz="1000" dirty="0"/>
          </a:p>
        </p:txBody>
      </p:sp>
      <p:sp>
        <p:nvSpPr>
          <p:cNvPr id="46" name="Shape 44"/>
          <p:cNvSpPr/>
          <p:nvPr/>
        </p:nvSpPr>
        <p:spPr>
          <a:xfrm>
            <a:off x="457200" y="5257800"/>
            <a:ext cx="6858000" cy="310896"/>
          </a:xfrm>
          <a:prstGeom prst="rect">
            <a:avLst/>
          </a:prstGeom>
          <a:solidFill>
            <a:srgbClr val="FFE4DE"/>
          </a:solidFill>
          <a:ln/>
        </p:spPr>
        <p:txBody>
          <a:bodyPr/>
          <a:lstStyle/>
          <a:p>
            <a:endParaRPr lang="en-IN"/>
          </a:p>
        </p:txBody>
      </p:sp>
      <p:sp>
        <p:nvSpPr>
          <p:cNvPr id="47" name="Text 45"/>
          <p:cNvSpPr/>
          <p:nvPr/>
        </p:nvSpPr>
        <p:spPr>
          <a:xfrm>
            <a:off x="548640" y="5257800"/>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Avg_Mdcr_Stdzd_Amt</a:t>
            </a:r>
            <a:endParaRPr lang="en-US" sz="1000" dirty="0"/>
          </a:p>
        </p:txBody>
      </p:sp>
      <p:sp>
        <p:nvSpPr>
          <p:cNvPr id="48" name="Text 46"/>
          <p:cNvSpPr/>
          <p:nvPr/>
        </p:nvSpPr>
        <p:spPr>
          <a:xfrm>
            <a:off x="2697480" y="5257800"/>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$89.11</a:t>
            </a:r>
            <a:endParaRPr lang="en-US" sz="1000" dirty="0"/>
          </a:p>
        </p:txBody>
      </p:sp>
      <p:sp>
        <p:nvSpPr>
          <p:cNvPr id="49" name="Text 47"/>
          <p:cNvSpPr/>
          <p:nvPr/>
        </p:nvSpPr>
        <p:spPr>
          <a:xfrm>
            <a:off x="4206240" y="5257800"/>
            <a:ext cx="3017520" cy="310896"/>
          </a:xfrm>
          <a:prstGeom prst="rect">
            <a:avLst/>
          </a:prstGeom>
          <a:noFill/>
          <a:ln/>
        </p:spPr>
        <p:txBody>
          <a:bodyPr wrap="square" lIns="0" tIns="0" rIns="0" bIns="0" rtlCol="0" anchor="ctr"/>
          <a:lstStyle/>
          <a:p>
            <a:pPr marL="0" indent="0">
              <a:buNone/>
            </a:pPr>
            <a:r>
              <a:rPr lang="en-US" sz="1000" b="1" i="1" dirty="0">
                <a:solidFill>
                  <a:srgbClr val="E0613E"/>
                </a:solidFill>
                <a:latin typeface="Calibri" pitchFamily="34" charset="0"/>
                <a:ea typeface="Calibri" pitchFamily="34" charset="-122"/>
                <a:cs typeface="Calibri" pitchFamily="34" charset="-120"/>
              </a:rPr>
              <a:t>dropped: leakage (geo-normalized allowed)</a:t>
            </a:r>
            <a:endParaRPr lang="en-US" sz="1000" dirty="0"/>
          </a:p>
        </p:txBody>
      </p:sp>
      <p:sp>
        <p:nvSpPr>
          <p:cNvPr id="50" name="Shape 48"/>
          <p:cNvSpPr/>
          <p:nvPr/>
        </p:nvSpPr>
        <p:spPr>
          <a:xfrm>
            <a:off x="457200" y="5586984"/>
            <a:ext cx="6858000" cy="310896"/>
          </a:xfrm>
          <a:prstGeom prst="rect">
            <a:avLst/>
          </a:prstGeom>
          <a:solidFill>
            <a:srgbClr val="FFFFFF"/>
          </a:solidFill>
          <a:ln/>
        </p:spPr>
        <p:txBody>
          <a:bodyPr/>
          <a:lstStyle/>
          <a:p>
            <a:endParaRPr lang="en-IN"/>
          </a:p>
        </p:txBody>
      </p:sp>
      <p:sp>
        <p:nvSpPr>
          <p:cNvPr id="51" name="Text 49"/>
          <p:cNvSpPr/>
          <p:nvPr/>
        </p:nvSpPr>
        <p:spPr>
          <a:xfrm>
            <a:off x="548640" y="5586984"/>
            <a:ext cx="2103120" cy="310896"/>
          </a:xfrm>
          <a:prstGeom prst="rect">
            <a:avLst/>
          </a:prstGeom>
          <a:noFill/>
          <a:ln/>
        </p:spPr>
        <p:txBody>
          <a:bodyPr wrap="square" lIns="0" tIns="0" rIns="0" bIns="0" rtlCol="0" anchor="ctr"/>
          <a:lstStyle/>
          <a:p>
            <a:pPr marL="0" indent="0">
              <a:buNone/>
            </a:pPr>
            <a:r>
              <a:rPr lang="en-US" sz="1000" b="1" dirty="0">
                <a:solidFill>
                  <a:srgbClr val="0D2C54"/>
                </a:solidFill>
                <a:latin typeface="Consolas" pitchFamily="34" charset="0"/>
                <a:ea typeface="Consolas" pitchFamily="34" charset="-122"/>
                <a:cs typeface="Consolas" pitchFamily="34" charset="-120"/>
              </a:rPr>
              <a:t>year</a:t>
            </a:r>
            <a:endParaRPr lang="en-US" sz="1000" dirty="0"/>
          </a:p>
        </p:txBody>
      </p:sp>
      <p:sp>
        <p:nvSpPr>
          <p:cNvPr id="52" name="Text 50"/>
          <p:cNvSpPr/>
          <p:nvPr/>
        </p:nvSpPr>
        <p:spPr>
          <a:xfrm>
            <a:off x="2697480" y="5586984"/>
            <a:ext cx="1463040" cy="310896"/>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2021</a:t>
            </a:r>
            <a:endParaRPr lang="en-US" sz="1000" dirty="0"/>
          </a:p>
        </p:txBody>
      </p:sp>
      <p:sp>
        <p:nvSpPr>
          <p:cNvPr id="53" name="Text 51"/>
          <p:cNvSpPr/>
          <p:nvPr/>
        </p:nvSpPr>
        <p:spPr>
          <a:xfrm>
            <a:off x="4206240" y="5586984"/>
            <a:ext cx="3017520" cy="310896"/>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injected during partitioning</a:t>
            </a:r>
            <a:endParaRPr lang="en-US" sz="1000" dirty="0"/>
          </a:p>
        </p:txBody>
      </p:sp>
      <p:sp>
        <p:nvSpPr>
          <p:cNvPr id="54" name="Shape 52"/>
          <p:cNvSpPr/>
          <p:nvPr/>
        </p:nvSpPr>
        <p:spPr>
          <a:xfrm>
            <a:off x="7589520" y="1600200"/>
            <a:ext cx="4160520" cy="2286000"/>
          </a:xfrm>
          <a:prstGeom prst="rect">
            <a:avLst/>
          </a:prstGeom>
          <a:solidFill>
            <a:srgbClr val="0D2C54"/>
          </a:solidFill>
          <a:ln/>
        </p:spPr>
        <p:txBody>
          <a:bodyPr/>
          <a:lstStyle/>
          <a:p>
            <a:endParaRPr lang="en-IN"/>
          </a:p>
        </p:txBody>
      </p:sp>
      <p:sp>
        <p:nvSpPr>
          <p:cNvPr id="55" name="Text 53"/>
          <p:cNvSpPr/>
          <p:nvPr/>
        </p:nvSpPr>
        <p:spPr>
          <a:xfrm>
            <a:off x="7818120" y="1691640"/>
            <a:ext cx="3840480" cy="274320"/>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TARGET VARIABLE</a:t>
            </a:r>
            <a:endParaRPr lang="en-US" sz="1100" dirty="0"/>
          </a:p>
        </p:txBody>
      </p:sp>
      <p:sp>
        <p:nvSpPr>
          <p:cNvPr id="56" name="Text 54"/>
          <p:cNvSpPr/>
          <p:nvPr/>
        </p:nvSpPr>
        <p:spPr>
          <a:xfrm>
            <a:off x="7818120" y="2011680"/>
            <a:ext cx="3840480" cy="457200"/>
          </a:xfrm>
          <a:prstGeom prst="rect">
            <a:avLst/>
          </a:prstGeom>
          <a:noFill/>
          <a:ln/>
        </p:spPr>
        <p:txBody>
          <a:bodyPr wrap="square" lIns="0" tIns="0" rIns="0" bIns="0" rtlCol="0" anchor="ctr"/>
          <a:lstStyle/>
          <a:p>
            <a:pPr marL="0" indent="0">
              <a:buNone/>
            </a:pPr>
            <a:r>
              <a:rPr lang="en-US" sz="1800" b="1" dirty="0">
                <a:solidFill>
                  <a:srgbClr val="FFFFFF"/>
                </a:solidFill>
                <a:latin typeface="Consolas" pitchFamily="34" charset="0"/>
                <a:ea typeface="Consolas" pitchFamily="34" charset="-122"/>
                <a:cs typeface="Consolas" pitchFamily="34" charset="-120"/>
              </a:rPr>
              <a:t>Avg_Mdcr_Alowd_Amt</a:t>
            </a:r>
            <a:endParaRPr lang="en-US" sz="1800" dirty="0"/>
          </a:p>
        </p:txBody>
      </p:sp>
      <p:sp>
        <p:nvSpPr>
          <p:cNvPr id="57" name="Text 55"/>
          <p:cNvSpPr/>
          <p:nvPr/>
        </p:nvSpPr>
        <p:spPr>
          <a:xfrm>
            <a:off x="7818120" y="2560320"/>
            <a:ext cx="3840480" cy="91440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The average dollar amount Medicare officially allows for one service line (NPI, procedure, year).</a:t>
            </a:r>
            <a:endParaRPr lang="en-US" sz="1200" dirty="0"/>
          </a:p>
        </p:txBody>
      </p:sp>
      <p:sp>
        <p:nvSpPr>
          <p:cNvPr id="58" name="Text 56"/>
          <p:cNvSpPr/>
          <p:nvPr/>
        </p:nvSpPr>
        <p:spPr>
          <a:xfrm>
            <a:off x="7818120" y="3291840"/>
            <a:ext cx="3840480" cy="502920"/>
          </a:xfrm>
          <a:prstGeom prst="rect">
            <a:avLst/>
          </a:prstGeom>
          <a:noFill/>
          <a:ln/>
        </p:spPr>
        <p:txBody>
          <a:bodyPr wrap="square" lIns="0" tIns="0" rIns="0" bIns="0" rtlCol="0" anchor="t"/>
          <a:lstStyle/>
          <a:p>
            <a:pPr marL="0" indent="0">
              <a:buNone/>
            </a:pPr>
            <a:r>
              <a:rPr lang="en-US" sz="1100" i="1" dirty="0">
                <a:solidFill>
                  <a:srgbClr val="FFFFFF"/>
                </a:solidFill>
                <a:latin typeface="Calibri" pitchFamily="34" charset="0"/>
                <a:ea typeface="Calibri" pitchFamily="34" charset="-122"/>
                <a:cs typeface="Calibri" pitchFamily="34" charset="-120"/>
              </a:rPr>
              <a:t>We log-transform it (log1p) for training, then invert at prediction.</a:t>
            </a:r>
            <a:endParaRPr lang="en-US" sz="1100" dirty="0"/>
          </a:p>
        </p:txBody>
      </p:sp>
      <p:sp>
        <p:nvSpPr>
          <p:cNvPr id="59" name="Shape 57"/>
          <p:cNvSpPr/>
          <p:nvPr/>
        </p:nvSpPr>
        <p:spPr>
          <a:xfrm>
            <a:off x="7589520" y="4023360"/>
            <a:ext cx="4160520" cy="2194560"/>
          </a:xfrm>
          <a:prstGeom prst="rect">
            <a:avLst/>
          </a:prstGeom>
          <a:solidFill>
            <a:srgbClr val="FFE4DE"/>
          </a:solidFill>
          <a:ln w="12700">
            <a:solidFill>
              <a:srgbClr val="E0613E"/>
            </a:solidFill>
            <a:prstDash val="solid"/>
          </a:ln>
        </p:spPr>
        <p:txBody>
          <a:bodyPr/>
          <a:lstStyle/>
          <a:p>
            <a:endParaRPr lang="en-IN"/>
          </a:p>
        </p:txBody>
      </p:sp>
      <p:sp>
        <p:nvSpPr>
          <p:cNvPr id="60" name="Text 58"/>
          <p:cNvSpPr/>
          <p:nvPr/>
        </p:nvSpPr>
        <p:spPr>
          <a:xfrm>
            <a:off x="7772400" y="4114800"/>
            <a:ext cx="3886200" cy="274320"/>
          </a:xfrm>
          <a:prstGeom prst="rect">
            <a:avLst/>
          </a:prstGeom>
          <a:noFill/>
          <a:ln/>
        </p:spPr>
        <p:txBody>
          <a:bodyPr wrap="square" lIns="0" tIns="0" rIns="0" bIns="0" rtlCol="0" anchor="ctr"/>
          <a:lstStyle/>
          <a:p>
            <a:pPr marL="0" indent="0">
              <a:buNone/>
            </a:pPr>
            <a:r>
              <a:rPr lang="en-US" sz="1100" b="1" kern="0" spc="200" dirty="0">
                <a:solidFill>
                  <a:srgbClr val="E0613E"/>
                </a:solidFill>
                <a:latin typeface="Calibri" pitchFamily="34" charset="0"/>
                <a:ea typeface="Calibri" pitchFamily="34" charset="-122"/>
                <a:cs typeface="Calibri" pitchFamily="34" charset="-120"/>
              </a:rPr>
              <a:t>DATA LEAKAGE CHECK</a:t>
            </a:r>
            <a:endParaRPr lang="en-US" sz="1100" dirty="0"/>
          </a:p>
        </p:txBody>
      </p:sp>
      <p:sp>
        <p:nvSpPr>
          <p:cNvPr id="61" name="Text 59"/>
          <p:cNvSpPr/>
          <p:nvPr/>
        </p:nvSpPr>
        <p:spPr>
          <a:xfrm>
            <a:off x="7772400" y="4434840"/>
            <a:ext cx="3886200" cy="64008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Two columns were algebraically derived from the target - we dropped both:</a:t>
            </a:r>
            <a:endParaRPr lang="en-US" sz="1100" dirty="0"/>
          </a:p>
        </p:txBody>
      </p:sp>
      <p:sp>
        <p:nvSpPr>
          <p:cNvPr id="62" name="Text 60"/>
          <p:cNvSpPr/>
          <p:nvPr/>
        </p:nvSpPr>
        <p:spPr>
          <a:xfrm>
            <a:off x="7772400" y="5074920"/>
            <a:ext cx="3886200" cy="1097280"/>
          </a:xfrm>
          <a:prstGeom prst="rect">
            <a:avLst/>
          </a:prstGeom>
          <a:noFill/>
          <a:ln/>
        </p:spPr>
        <p:txBody>
          <a:bodyPr wrap="square" lIns="0" tIns="0" rIns="0" bIns="0" rtlCol="0" anchor="t"/>
          <a:lstStyle/>
          <a:p>
            <a:pPr marL="0" indent="0">
              <a:spcAft>
                <a:spcPts val="200"/>
              </a:spcAft>
              <a:buNone/>
            </a:pPr>
            <a:r>
              <a:rPr lang="en-US" sz="1000" b="1" dirty="0">
                <a:solidFill>
                  <a:srgbClr val="E0613E"/>
                </a:solidFill>
                <a:latin typeface="Consolas" pitchFamily="34" charset="0"/>
                <a:ea typeface="Consolas" pitchFamily="34" charset="-122"/>
                <a:cs typeface="Consolas" pitchFamily="34" charset="-120"/>
              </a:rPr>
              <a:t>·  Avg_Mdcr_Pymt_Amt </a:t>
            </a:r>
            <a:r>
              <a:rPr lang="en-US" sz="1000" dirty="0">
                <a:solidFill>
                  <a:srgbClr val="1A1A1A"/>
                </a:solidFill>
                <a:latin typeface="Calibri" pitchFamily="34" charset="0"/>
                <a:ea typeface="Calibri" pitchFamily="34" charset="-122"/>
                <a:cs typeface="Calibri" pitchFamily="34" charset="-120"/>
              </a:rPr>
              <a:t>= 0.80 × allowed</a:t>
            </a:r>
            <a:endParaRPr lang="en-US" sz="1000" dirty="0"/>
          </a:p>
          <a:p>
            <a:pPr marL="0" indent="0">
              <a:spcAft>
                <a:spcPts val="200"/>
              </a:spcAft>
              <a:buNone/>
            </a:pPr>
            <a:r>
              <a:rPr lang="en-US" sz="1000" b="1" dirty="0">
                <a:solidFill>
                  <a:srgbClr val="E0613E"/>
                </a:solidFill>
                <a:latin typeface="Consolas" pitchFamily="34" charset="0"/>
                <a:ea typeface="Consolas" pitchFamily="34" charset="-122"/>
                <a:cs typeface="Consolas" pitchFamily="34" charset="-120"/>
              </a:rPr>
              <a:t>·  Avg_Mdcr_Stdzd_Amt </a:t>
            </a:r>
            <a:endParaRPr lang="en-US" sz="1000" dirty="0"/>
          </a:p>
          <a:p>
            <a:pPr marL="0" indent="0">
              <a:spcAft>
                <a:spcPts val="200"/>
              </a:spcAft>
              <a:buNone/>
            </a:pPr>
            <a:r>
              <a:rPr lang="en-US" sz="1000" dirty="0">
                <a:solidFill>
                  <a:srgbClr val="1A1A1A"/>
                </a:solidFill>
                <a:latin typeface="Calibri" pitchFamily="34" charset="0"/>
                <a:ea typeface="Calibri" pitchFamily="34" charset="-122"/>
                <a:cs typeface="Calibri" pitchFamily="34" charset="-120"/>
              </a:rPr>
              <a:t>= geo-normalized allowed</a:t>
            </a:r>
            <a:endParaRPr lang="en-US" sz="1000" dirty="0"/>
          </a:p>
          <a:p>
            <a:pPr marL="0" indent="0">
              <a:spcAft>
                <a:spcPts val="200"/>
              </a:spcAft>
              <a:buNone/>
            </a:pPr>
            <a:endParaRPr lang="en-US" sz="1000" dirty="0"/>
          </a:p>
          <a:p>
            <a:pPr marL="0" indent="0">
              <a:spcAft>
                <a:spcPts val="200"/>
              </a:spcAft>
              <a:buNone/>
            </a:pPr>
            <a:r>
              <a:rPr lang="en-US" sz="1100" b="1" i="1" dirty="0">
                <a:solidFill>
                  <a:srgbClr val="0D2C54"/>
                </a:solidFill>
                <a:latin typeface="Calibri" pitchFamily="34" charset="0"/>
                <a:ea typeface="Calibri" pitchFamily="34" charset="-122"/>
                <a:cs typeface="Calibri" pitchFamily="34" charset="-120"/>
              </a:rPr>
              <a:t>Leaving them in = fake 0.96 R-squared.</a:t>
            </a:r>
            <a:endParaRPr lang="en-US" sz="1000" dirty="0"/>
          </a:p>
        </p:txBody>
      </p:sp>
      <p:sp>
        <p:nvSpPr>
          <p:cNvPr id="63" name="Shape 61"/>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64" name="Text 62"/>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65" name="Text 63"/>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NOOR AHMED</a:t>
            </a:r>
            <a:endParaRPr lang="en-US" sz="900" dirty="0"/>
          </a:p>
        </p:txBody>
      </p:sp>
      <p:sp>
        <p:nvSpPr>
          <p:cNvPr id="66" name="Text 64"/>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08 / 19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06  ·  WHAT THE EDA REVEALED</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Three findings that shaped every modeling decision</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Shape 3"/>
          <p:cNvSpPr/>
          <p:nvPr/>
        </p:nvSpPr>
        <p:spPr>
          <a:xfrm>
            <a:off x="457200" y="1600200"/>
            <a:ext cx="3657600" cy="4754880"/>
          </a:xfrm>
          <a:prstGeom prst="rect">
            <a:avLst/>
          </a:prstGeom>
          <a:solidFill>
            <a:srgbClr val="F4F9FC"/>
          </a:solidFill>
          <a:ln w="6350">
            <a:solidFill>
              <a:srgbClr val="D5DFE9"/>
            </a:solidFill>
            <a:prstDash val="solid"/>
          </a:ln>
        </p:spPr>
        <p:txBody>
          <a:bodyPr/>
          <a:lstStyle/>
          <a:p>
            <a:endParaRPr lang="en-IN"/>
          </a:p>
        </p:txBody>
      </p:sp>
      <p:sp>
        <p:nvSpPr>
          <p:cNvPr id="6" name="Shape 4"/>
          <p:cNvSpPr/>
          <p:nvPr/>
        </p:nvSpPr>
        <p:spPr>
          <a:xfrm>
            <a:off x="457200" y="1600200"/>
            <a:ext cx="3657600" cy="73152"/>
          </a:xfrm>
          <a:prstGeom prst="rect">
            <a:avLst/>
          </a:prstGeom>
          <a:solidFill>
            <a:srgbClr val="2AB7CA"/>
          </a:solidFill>
          <a:ln/>
        </p:spPr>
        <p:txBody>
          <a:bodyPr/>
          <a:lstStyle/>
          <a:p>
            <a:endParaRPr lang="en-IN"/>
          </a:p>
        </p:txBody>
      </p:sp>
      <p:sp>
        <p:nvSpPr>
          <p:cNvPr id="7" name="Text 5"/>
          <p:cNvSpPr/>
          <p:nvPr/>
        </p:nvSpPr>
        <p:spPr>
          <a:xfrm>
            <a:off x="685800" y="1737360"/>
            <a:ext cx="548640" cy="365760"/>
          </a:xfrm>
          <a:prstGeom prst="rect">
            <a:avLst/>
          </a:prstGeom>
          <a:noFill/>
          <a:ln/>
        </p:spPr>
        <p:txBody>
          <a:bodyPr wrap="square" lIns="0" tIns="0" rIns="0" bIns="0" rtlCol="0" anchor="ctr"/>
          <a:lstStyle/>
          <a:p>
            <a:pPr marL="0" indent="0">
              <a:buNone/>
            </a:pPr>
            <a:r>
              <a:rPr lang="en-US" sz="2000" b="1" dirty="0">
                <a:solidFill>
                  <a:srgbClr val="2AB7CA"/>
                </a:solidFill>
                <a:latin typeface="Cambria" pitchFamily="34" charset="0"/>
                <a:ea typeface="Cambria" pitchFamily="34" charset="-122"/>
                <a:cs typeface="Cambria" pitchFamily="34" charset="-120"/>
              </a:rPr>
              <a:t>01</a:t>
            </a:r>
            <a:endParaRPr lang="en-US" sz="2000" dirty="0"/>
          </a:p>
        </p:txBody>
      </p:sp>
      <p:sp>
        <p:nvSpPr>
          <p:cNvPr id="8" name="Text 6"/>
          <p:cNvSpPr/>
          <p:nvPr/>
        </p:nvSpPr>
        <p:spPr>
          <a:xfrm>
            <a:off x="685800" y="2148840"/>
            <a:ext cx="3200400" cy="548640"/>
          </a:xfrm>
          <a:prstGeom prst="rect">
            <a:avLst/>
          </a:prstGeom>
          <a:noFill/>
          <a:ln/>
        </p:spPr>
        <p:txBody>
          <a:bodyPr wrap="square" lIns="0" tIns="0" rIns="0" bIns="0" rtlCol="0" anchor="ctr"/>
          <a:lstStyle/>
          <a:p>
            <a:pPr marL="0" indent="0">
              <a:buNone/>
            </a:pPr>
            <a:r>
              <a:rPr lang="en-US" sz="1500" b="1" dirty="0">
                <a:solidFill>
                  <a:srgbClr val="0D2C54"/>
                </a:solidFill>
                <a:latin typeface="Cambria" pitchFamily="34" charset="0"/>
                <a:ea typeface="Cambria" pitchFamily="34" charset="-122"/>
                <a:cs typeface="Cambria" pitchFamily="34" charset="-120"/>
              </a:rPr>
              <a:t>Target is heavily right-skewed</a:t>
            </a:r>
            <a:endParaRPr lang="en-US" sz="1500" dirty="0"/>
          </a:p>
        </p:txBody>
      </p:sp>
      <p:sp>
        <p:nvSpPr>
          <p:cNvPr id="9" name="Shape 7"/>
          <p:cNvSpPr/>
          <p:nvPr/>
        </p:nvSpPr>
        <p:spPr>
          <a:xfrm>
            <a:off x="685800" y="2788920"/>
            <a:ext cx="3200400" cy="1737360"/>
          </a:xfrm>
          <a:prstGeom prst="rect">
            <a:avLst/>
          </a:prstGeom>
          <a:solidFill>
            <a:srgbClr val="FFFFFF"/>
          </a:solidFill>
          <a:ln w="6350">
            <a:solidFill>
              <a:srgbClr val="D5DFE9"/>
            </a:solidFill>
            <a:prstDash val="solid"/>
          </a:ln>
        </p:spPr>
        <p:txBody>
          <a:bodyPr/>
          <a:lstStyle/>
          <a:p>
            <a:endParaRPr lang="en-IN"/>
          </a:p>
        </p:txBody>
      </p:sp>
      <p:sp>
        <p:nvSpPr>
          <p:cNvPr id="10" name="Shape 8"/>
          <p:cNvSpPr/>
          <p:nvPr/>
        </p:nvSpPr>
        <p:spPr>
          <a:xfrm>
            <a:off x="868680" y="2926080"/>
            <a:ext cx="210312" cy="1371600"/>
          </a:xfrm>
          <a:prstGeom prst="rect">
            <a:avLst/>
          </a:prstGeom>
          <a:solidFill>
            <a:srgbClr val="065A82"/>
          </a:solidFill>
          <a:ln/>
        </p:spPr>
        <p:txBody>
          <a:bodyPr/>
          <a:lstStyle/>
          <a:p>
            <a:endParaRPr lang="en-IN"/>
          </a:p>
        </p:txBody>
      </p:sp>
      <p:sp>
        <p:nvSpPr>
          <p:cNvPr id="11" name="Shape 9"/>
          <p:cNvSpPr/>
          <p:nvPr/>
        </p:nvSpPr>
        <p:spPr>
          <a:xfrm>
            <a:off x="1115568" y="3017520"/>
            <a:ext cx="210312" cy="1280160"/>
          </a:xfrm>
          <a:prstGeom prst="rect">
            <a:avLst/>
          </a:prstGeom>
          <a:solidFill>
            <a:srgbClr val="065A82"/>
          </a:solidFill>
          <a:ln/>
        </p:spPr>
        <p:txBody>
          <a:bodyPr/>
          <a:lstStyle/>
          <a:p>
            <a:endParaRPr lang="en-IN"/>
          </a:p>
        </p:txBody>
      </p:sp>
      <p:sp>
        <p:nvSpPr>
          <p:cNvPr id="12" name="Shape 10"/>
          <p:cNvSpPr/>
          <p:nvPr/>
        </p:nvSpPr>
        <p:spPr>
          <a:xfrm>
            <a:off x="1362456" y="3200400"/>
            <a:ext cx="210312" cy="1097280"/>
          </a:xfrm>
          <a:prstGeom prst="rect">
            <a:avLst/>
          </a:prstGeom>
          <a:solidFill>
            <a:srgbClr val="065A82"/>
          </a:solidFill>
          <a:ln/>
        </p:spPr>
        <p:txBody>
          <a:bodyPr/>
          <a:lstStyle/>
          <a:p>
            <a:endParaRPr lang="en-IN"/>
          </a:p>
        </p:txBody>
      </p:sp>
      <p:sp>
        <p:nvSpPr>
          <p:cNvPr id="13" name="Shape 11"/>
          <p:cNvSpPr/>
          <p:nvPr/>
        </p:nvSpPr>
        <p:spPr>
          <a:xfrm>
            <a:off x="1609344" y="3429000"/>
            <a:ext cx="210312" cy="868680"/>
          </a:xfrm>
          <a:prstGeom prst="rect">
            <a:avLst/>
          </a:prstGeom>
          <a:solidFill>
            <a:srgbClr val="065A82"/>
          </a:solidFill>
          <a:ln/>
        </p:spPr>
        <p:txBody>
          <a:bodyPr/>
          <a:lstStyle/>
          <a:p>
            <a:endParaRPr lang="en-IN"/>
          </a:p>
        </p:txBody>
      </p:sp>
      <p:sp>
        <p:nvSpPr>
          <p:cNvPr id="14" name="Shape 12"/>
          <p:cNvSpPr/>
          <p:nvPr/>
        </p:nvSpPr>
        <p:spPr>
          <a:xfrm>
            <a:off x="1856232" y="3657600"/>
            <a:ext cx="210312" cy="640080"/>
          </a:xfrm>
          <a:prstGeom prst="rect">
            <a:avLst/>
          </a:prstGeom>
          <a:solidFill>
            <a:srgbClr val="065A82"/>
          </a:solidFill>
          <a:ln/>
        </p:spPr>
        <p:txBody>
          <a:bodyPr/>
          <a:lstStyle/>
          <a:p>
            <a:endParaRPr lang="en-IN"/>
          </a:p>
        </p:txBody>
      </p:sp>
      <p:sp>
        <p:nvSpPr>
          <p:cNvPr id="15" name="Shape 13"/>
          <p:cNvSpPr/>
          <p:nvPr/>
        </p:nvSpPr>
        <p:spPr>
          <a:xfrm>
            <a:off x="2103120" y="3840480"/>
            <a:ext cx="210312" cy="457200"/>
          </a:xfrm>
          <a:prstGeom prst="rect">
            <a:avLst/>
          </a:prstGeom>
          <a:solidFill>
            <a:srgbClr val="065A82"/>
          </a:solidFill>
          <a:ln/>
        </p:spPr>
        <p:txBody>
          <a:bodyPr/>
          <a:lstStyle/>
          <a:p>
            <a:endParaRPr lang="en-IN"/>
          </a:p>
        </p:txBody>
      </p:sp>
      <p:sp>
        <p:nvSpPr>
          <p:cNvPr id="16" name="Shape 14"/>
          <p:cNvSpPr/>
          <p:nvPr/>
        </p:nvSpPr>
        <p:spPr>
          <a:xfrm>
            <a:off x="2350008" y="3977640"/>
            <a:ext cx="210312" cy="320040"/>
          </a:xfrm>
          <a:prstGeom prst="rect">
            <a:avLst/>
          </a:prstGeom>
          <a:solidFill>
            <a:srgbClr val="065A82"/>
          </a:solidFill>
          <a:ln/>
        </p:spPr>
        <p:txBody>
          <a:bodyPr/>
          <a:lstStyle/>
          <a:p>
            <a:endParaRPr lang="en-IN"/>
          </a:p>
        </p:txBody>
      </p:sp>
      <p:sp>
        <p:nvSpPr>
          <p:cNvPr id="17" name="Shape 15"/>
          <p:cNvSpPr/>
          <p:nvPr/>
        </p:nvSpPr>
        <p:spPr>
          <a:xfrm>
            <a:off x="2596896" y="4096512"/>
            <a:ext cx="210312" cy="201168"/>
          </a:xfrm>
          <a:prstGeom prst="rect">
            <a:avLst/>
          </a:prstGeom>
          <a:solidFill>
            <a:srgbClr val="065A82"/>
          </a:solidFill>
          <a:ln/>
        </p:spPr>
        <p:txBody>
          <a:bodyPr/>
          <a:lstStyle/>
          <a:p>
            <a:endParaRPr lang="en-IN"/>
          </a:p>
        </p:txBody>
      </p:sp>
      <p:sp>
        <p:nvSpPr>
          <p:cNvPr id="18" name="Shape 16"/>
          <p:cNvSpPr/>
          <p:nvPr/>
        </p:nvSpPr>
        <p:spPr>
          <a:xfrm>
            <a:off x="2843784" y="4169664"/>
            <a:ext cx="210312" cy="128016"/>
          </a:xfrm>
          <a:prstGeom prst="rect">
            <a:avLst/>
          </a:prstGeom>
          <a:solidFill>
            <a:srgbClr val="065A82"/>
          </a:solidFill>
          <a:ln/>
        </p:spPr>
        <p:txBody>
          <a:bodyPr/>
          <a:lstStyle/>
          <a:p>
            <a:endParaRPr lang="en-IN"/>
          </a:p>
        </p:txBody>
      </p:sp>
      <p:sp>
        <p:nvSpPr>
          <p:cNvPr id="19" name="Shape 17"/>
          <p:cNvSpPr/>
          <p:nvPr/>
        </p:nvSpPr>
        <p:spPr>
          <a:xfrm>
            <a:off x="3090672" y="4224528"/>
            <a:ext cx="210312" cy="73152"/>
          </a:xfrm>
          <a:prstGeom prst="rect">
            <a:avLst/>
          </a:prstGeom>
          <a:solidFill>
            <a:srgbClr val="065A82"/>
          </a:solidFill>
          <a:ln/>
        </p:spPr>
        <p:txBody>
          <a:bodyPr/>
          <a:lstStyle/>
          <a:p>
            <a:endParaRPr lang="en-IN"/>
          </a:p>
        </p:txBody>
      </p:sp>
      <p:sp>
        <p:nvSpPr>
          <p:cNvPr id="20" name="Shape 18"/>
          <p:cNvSpPr/>
          <p:nvPr/>
        </p:nvSpPr>
        <p:spPr>
          <a:xfrm>
            <a:off x="3337560" y="4251960"/>
            <a:ext cx="210312" cy="45720"/>
          </a:xfrm>
          <a:prstGeom prst="rect">
            <a:avLst/>
          </a:prstGeom>
          <a:solidFill>
            <a:srgbClr val="065A82"/>
          </a:solidFill>
          <a:ln/>
        </p:spPr>
        <p:txBody>
          <a:bodyPr/>
          <a:lstStyle/>
          <a:p>
            <a:endParaRPr lang="en-IN"/>
          </a:p>
        </p:txBody>
      </p:sp>
      <p:sp>
        <p:nvSpPr>
          <p:cNvPr id="21" name="Text 19"/>
          <p:cNvSpPr/>
          <p:nvPr/>
        </p:nvSpPr>
        <p:spPr>
          <a:xfrm>
            <a:off x="685800" y="4343400"/>
            <a:ext cx="3200400" cy="182880"/>
          </a:xfrm>
          <a:prstGeom prst="rect">
            <a:avLst/>
          </a:prstGeom>
          <a:noFill/>
          <a:ln/>
        </p:spPr>
        <p:txBody>
          <a:bodyPr wrap="square" lIns="0" tIns="0" rIns="0" bIns="0"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allowed amount ($)</a:t>
            </a:r>
            <a:endParaRPr lang="en-US" sz="800" dirty="0"/>
          </a:p>
        </p:txBody>
      </p:sp>
      <p:sp>
        <p:nvSpPr>
          <p:cNvPr id="22" name="Text 20"/>
          <p:cNvSpPr/>
          <p:nvPr/>
        </p:nvSpPr>
        <p:spPr>
          <a:xfrm rot="5400000" flipV="1">
            <a:off x="562356" y="3509062"/>
            <a:ext cx="393192" cy="91440"/>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count</a:t>
            </a:r>
            <a:endParaRPr lang="en-US" sz="800" dirty="0"/>
          </a:p>
        </p:txBody>
      </p:sp>
      <p:sp>
        <p:nvSpPr>
          <p:cNvPr id="23" name="Text 21"/>
          <p:cNvSpPr/>
          <p:nvPr/>
        </p:nvSpPr>
        <p:spPr>
          <a:xfrm>
            <a:off x="685800" y="4663440"/>
            <a:ext cx="3200400" cy="10058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Most services cost under $200, but surgeries and imaging run into the thousands. Raw dollars are unmodellable.</a:t>
            </a:r>
            <a:endParaRPr lang="en-US" sz="1100" dirty="0"/>
          </a:p>
        </p:txBody>
      </p:sp>
      <p:sp>
        <p:nvSpPr>
          <p:cNvPr id="24" name="Text 22"/>
          <p:cNvSpPr/>
          <p:nvPr/>
        </p:nvSpPr>
        <p:spPr>
          <a:xfrm>
            <a:off x="685800" y="5715000"/>
            <a:ext cx="3200400" cy="548640"/>
          </a:xfrm>
          <a:prstGeom prst="rect">
            <a:avLst/>
          </a:prstGeom>
          <a:noFill/>
          <a:ln/>
        </p:spPr>
        <p:txBody>
          <a:bodyPr wrap="square" lIns="0" tIns="0" rIns="0" bIns="0" rtlCol="0" anchor="t"/>
          <a:lstStyle/>
          <a:p>
            <a:pPr marL="0" indent="0">
              <a:buNone/>
            </a:pPr>
            <a:r>
              <a:rPr lang="en-US" sz="1000" b="1" i="1" dirty="0">
                <a:solidFill>
                  <a:srgbClr val="065A82"/>
                </a:solidFill>
                <a:latin typeface="Calibri" pitchFamily="34" charset="0"/>
                <a:ea typeface="Calibri" pitchFamily="34" charset="-122"/>
                <a:cs typeface="Calibri" pitchFamily="34" charset="-120"/>
              </a:rPr>
              <a:t>FIX: log1p transform on the target for training; invert at inference.</a:t>
            </a:r>
            <a:endParaRPr lang="en-US" sz="1000" dirty="0"/>
          </a:p>
        </p:txBody>
      </p:sp>
      <p:sp>
        <p:nvSpPr>
          <p:cNvPr id="25" name="Shape 23"/>
          <p:cNvSpPr/>
          <p:nvPr/>
        </p:nvSpPr>
        <p:spPr>
          <a:xfrm>
            <a:off x="4297680" y="1600200"/>
            <a:ext cx="3657600" cy="4754880"/>
          </a:xfrm>
          <a:prstGeom prst="rect">
            <a:avLst/>
          </a:prstGeom>
          <a:solidFill>
            <a:srgbClr val="F4F9FC"/>
          </a:solidFill>
          <a:ln w="6350">
            <a:solidFill>
              <a:srgbClr val="D5DFE9"/>
            </a:solidFill>
            <a:prstDash val="solid"/>
          </a:ln>
        </p:spPr>
        <p:txBody>
          <a:bodyPr/>
          <a:lstStyle/>
          <a:p>
            <a:endParaRPr lang="en-IN"/>
          </a:p>
        </p:txBody>
      </p:sp>
      <p:sp>
        <p:nvSpPr>
          <p:cNvPr id="26" name="Shape 24"/>
          <p:cNvSpPr/>
          <p:nvPr/>
        </p:nvSpPr>
        <p:spPr>
          <a:xfrm>
            <a:off x="4297680" y="1600200"/>
            <a:ext cx="3657600" cy="73152"/>
          </a:xfrm>
          <a:prstGeom prst="rect">
            <a:avLst/>
          </a:prstGeom>
          <a:solidFill>
            <a:srgbClr val="2AB7CA"/>
          </a:solidFill>
          <a:ln/>
        </p:spPr>
        <p:txBody>
          <a:bodyPr/>
          <a:lstStyle/>
          <a:p>
            <a:endParaRPr lang="en-IN"/>
          </a:p>
        </p:txBody>
      </p:sp>
      <p:sp>
        <p:nvSpPr>
          <p:cNvPr id="27" name="Text 25"/>
          <p:cNvSpPr/>
          <p:nvPr/>
        </p:nvSpPr>
        <p:spPr>
          <a:xfrm>
            <a:off x="4526280" y="1737360"/>
            <a:ext cx="548640" cy="365760"/>
          </a:xfrm>
          <a:prstGeom prst="rect">
            <a:avLst/>
          </a:prstGeom>
          <a:noFill/>
          <a:ln/>
        </p:spPr>
        <p:txBody>
          <a:bodyPr wrap="square" lIns="0" tIns="0" rIns="0" bIns="0" rtlCol="0" anchor="ctr"/>
          <a:lstStyle/>
          <a:p>
            <a:pPr marL="0" indent="0">
              <a:buNone/>
            </a:pPr>
            <a:r>
              <a:rPr lang="en-US" sz="2000" b="1" dirty="0">
                <a:solidFill>
                  <a:srgbClr val="2AB7CA"/>
                </a:solidFill>
                <a:latin typeface="Cambria" pitchFamily="34" charset="0"/>
                <a:ea typeface="Cambria" pitchFamily="34" charset="-122"/>
                <a:cs typeface="Cambria" pitchFamily="34" charset="-120"/>
              </a:rPr>
              <a:t>02</a:t>
            </a:r>
            <a:endParaRPr lang="en-US" sz="2000" dirty="0"/>
          </a:p>
        </p:txBody>
      </p:sp>
      <p:sp>
        <p:nvSpPr>
          <p:cNvPr id="28" name="Text 26"/>
          <p:cNvSpPr/>
          <p:nvPr/>
        </p:nvSpPr>
        <p:spPr>
          <a:xfrm>
            <a:off x="4526280" y="2148840"/>
            <a:ext cx="3200400" cy="548640"/>
          </a:xfrm>
          <a:prstGeom prst="rect">
            <a:avLst/>
          </a:prstGeom>
          <a:noFill/>
          <a:ln/>
        </p:spPr>
        <p:txBody>
          <a:bodyPr wrap="square" lIns="0" tIns="0" rIns="0" bIns="0" rtlCol="0" anchor="ctr"/>
          <a:lstStyle/>
          <a:p>
            <a:pPr marL="0" indent="0">
              <a:buNone/>
            </a:pPr>
            <a:r>
              <a:rPr lang="en-US" sz="1500" b="1" dirty="0">
                <a:solidFill>
                  <a:srgbClr val="0D2C54"/>
                </a:solidFill>
                <a:latin typeface="Cambria" pitchFamily="34" charset="0"/>
                <a:ea typeface="Cambria" pitchFamily="34" charset="-122"/>
                <a:cs typeface="Cambria" pitchFamily="34" charset="-120"/>
              </a:rPr>
              <a:t>Allowed amounts drift upward</a:t>
            </a:r>
            <a:endParaRPr lang="en-US" sz="1500" dirty="0"/>
          </a:p>
        </p:txBody>
      </p:sp>
      <p:sp>
        <p:nvSpPr>
          <p:cNvPr id="29" name="Shape 27"/>
          <p:cNvSpPr/>
          <p:nvPr/>
        </p:nvSpPr>
        <p:spPr>
          <a:xfrm>
            <a:off x="4526280" y="2788920"/>
            <a:ext cx="3200400" cy="1737360"/>
          </a:xfrm>
          <a:prstGeom prst="rect">
            <a:avLst/>
          </a:prstGeom>
          <a:solidFill>
            <a:srgbClr val="FFFFFF"/>
          </a:solidFill>
          <a:ln w="6350">
            <a:solidFill>
              <a:srgbClr val="D5DFE9"/>
            </a:solidFill>
            <a:prstDash val="solid"/>
          </a:ln>
        </p:spPr>
        <p:txBody>
          <a:bodyPr/>
          <a:lstStyle/>
          <a:p>
            <a:endParaRPr lang="en-IN"/>
          </a:p>
        </p:txBody>
      </p:sp>
      <p:sp>
        <p:nvSpPr>
          <p:cNvPr id="30" name="Shape 28"/>
          <p:cNvSpPr/>
          <p:nvPr/>
        </p:nvSpPr>
        <p:spPr>
          <a:xfrm>
            <a:off x="4663440" y="4160520"/>
            <a:ext cx="274320" cy="91440"/>
          </a:xfrm>
          <a:prstGeom prst="line">
            <a:avLst/>
          </a:prstGeom>
          <a:noFill/>
          <a:ln w="25400">
            <a:solidFill>
              <a:srgbClr val="065A82"/>
            </a:solidFill>
            <a:prstDash val="solid"/>
          </a:ln>
        </p:spPr>
        <p:txBody>
          <a:bodyPr/>
          <a:lstStyle/>
          <a:p>
            <a:endParaRPr lang="en-IN"/>
          </a:p>
        </p:txBody>
      </p:sp>
      <p:sp>
        <p:nvSpPr>
          <p:cNvPr id="31" name="Shape 29"/>
          <p:cNvSpPr/>
          <p:nvPr/>
        </p:nvSpPr>
        <p:spPr>
          <a:xfrm>
            <a:off x="4937760" y="4114800"/>
            <a:ext cx="274320" cy="45720"/>
          </a:xfrm>
          <a:prstGeom prst="line">
            <a:avLst/>
          </a:prstGeom>
          <a:noFill/>
          <a:ln w="25400">
            <a:solidFill>
              <a:srgbClr val="065A82"/>
            </a:solidFill>
            <a:prstDash val="solid"/>
          </a:ln>
        </p:spPr>
        <p:txBody>
          <a:bodyPr/>
          <a:lstStyle/>
          <a:p>
            <a:endParaRPr lang="en-IN"/>
          </a:p>
        </p:txBody>
      </p:sp>
      <p:sp>
        <p:nvSpPr>
          <p:cNvPr id="32" name="Shape 30"/>
          <p:cNvSpPr/>
          <p:nvPr/>
        </p:nvSpPr>
        <p:spPr>
          <a:xfrm>
            <a:off x="5212080" y="3977640"/>
            <a:ext cx="274320" cy="137160"/>
          </a:xfrm>
          <a:prstGeom prst="line">
            <a:avLst/>
          </a:prstGeom>
          <a:noFill/>
          <a:ln w="25400">
            <a:solidFill>
              <a:srgbClr val="065A82"/>
            </a:solidFill>
            <a:prstDash val="solid"/>
          </a:ln>
        </p:spPr>
        <p:txBody>
          <a:bodyPr/>
          <a:lstStyle/>
          <a:p>
            <a:endParaRPr lang="en-IN"/>
          </a:p>
        </p:txBody>
      </p:sp>
      <p:sp>
        <p:nvSpPr>
          <p:cNvPr id="33" name="Shape 31"/>
          <p:cNvSpPr/>
          <p:nvPr/>
        </p:nvSpPr>
        <p:spPr>
          <a:xfrm>
            <a:off x="5486400" y="3886200"/>
            <a:ext cx="274320" cy="91440"/>
          </a:xfrm>
          <a:prstGeom prst="line">
            <a:avLst/>
          </a:prstGeom>
          <a:noFill/>
          <a:ln w="25400">
            <a:solidFill>
              <a:srgbClr val="065A82"/>
            </a:solidFill>
            <a:prstDash val="solid"/>
          </a:ln>
        </p:spPr>
        <p:txBody>
          <a:bodyPr/>
          <a:lstStyle/>
          <a:p>
            <a:endParaRPr lang="en-IN"/>
          </a:p>
        </p:txBody>
      </p:sp>
      <p:sp>
        <p:nvSpPr>
          <p:cNvPr id="34" name="Shape 32"/>
          <p:cNvSpPr/>
          <p:nvPr/>
        </p:nvSpPr>
        <p:spPr>
          <a:xfrm>
            <a:off x="5760720" y="3794760"/>
            <a:ext cx="274320" cy="91440"/>
          </a:xfrm>
          <a:prstGeom prst="line">
            <a:avLst/>
          </a:prstGeom>
          <a:noFill/>
          <a:ln w="25400">
            <a:solidFill>
              <a:srgbClr val="065A82"/>
            </a:solidFill>
            <a:prstDash val="solid"/>
          </a:ln>
        </p:spPr>
        <p:txBody>
          <a:bodyPr/>
          <a:lstStyle/>
          <a:p>
            <a:endParaRPr lang="en-IN"/>
          </a:p>
        </p:txBody>
      </p:sp>
      <p:sp>
        <p:nvSpPr>
          <p:cNvPr id="35" name="Shape 33"/>
          <p:cNvSpPr/>
          <p:nvPr/>
        </p:nvSpPr>
        <p:spPr>
          <a:xfrm>
            <a:off x="6035040" y="3611880"/>
            <a:ext cx="274320" cy="182880"/>
          </a:xfrm>
          <a:prstGeom prst="line">
            <a:avLst/>
          </a:prstGeom>
          <a:noFill/>
          <a:ln w="25400">
            <a:solidFill>
              <a:srgbClr val="065A82"/>
            </a:solidFill>
            <a:prstDash val="solid"/>
          </a:ln>
        </p:spPr>
        <p:txBody>
          <a:bodyPr/>
          <a:lstStyle/>
          <a:p>
            <a:endParaRPr lang="en-IN"/>
          </a:p>
        </p:txBody>
      </p:sp>
      <p:sp>
        <p:nvSpPr>
          <p:cNvPr id="36" name="Shape 34"/>
          <p:cNvSpPr/>
          <p:nvPr/>
        </p:nvSpPr>
        <p:spPr>
          <a:xfrm>
            <a:off x="6309360" y="3474720"/>
            <a:ext cx="274320" cy="137160"/>
          </a:xfrm>
          <a:prstGeom prst="line">
            <a:avLst/>
          </a:prstGeom>
          <a:noFill/>
          <a:ln w="25400">
            <a:solidFill>
              <a:srgbClr val="065A82"/>
            </a:solidFill>
            <a:prstDash val="solid"/>
          </a:ln>
        </p:spPr>
        <p:txBody>
          <a:bodyPr/>
          <a:lstStyle/>
          <a:p>
            <a:endParaRPr lang="en-IN"/>
          </a:p>
        </p:txBody>
      </p:sp>
      <p:sp>
        <p:nvSpPr>
          <p:cNvPr id="37" name="Shape 35"/>
          <p:cNvSpPr/>
          <p:nvPr/>
        </p:nvSpPr>
        <p:spPr>
          <a:xfrm>
            <a:off x="6583680" y="3291840"/>
            <a:ext cx="274320" cy="182880"/>
          </a:xfrm>
          <a:prstGeom prst="line">
            <a:avLst/>
          </a:prstGeom>
          <a:noFill/>
          <a:ln w="25400">
            <a:solidFill>
              <a:srgbClr val="065A82"/>
            </a:solidFill>
            <a:prstDash val="solid"/>
          </a:ln>
        </p:spPr>
        <p:txBody>
          <a:bodyPr/>
          <a:lstStyle/>
          <a:p>
            <a:endParaRPr lang="en-IN"/>
          </a:p>
        </p:txBody>
      </p:sp>
      <p:sp>
        <p:nvSpPr>
          <p:cNvPr id="38" name="Shape 36"/>
          <p:cNvSpPr/>
          <p:nvPr/>
        </p:nvSpPr>
        <p:spPr>
          <a:xfrm>
            <a:off x="6858000" y="3154680"/>
            <a:ext cx="274320" cy="137160"/>
          </a:xfrm>
          <a:prstGeom prst="line">
            <a:avLst/>
          </a:prstGeom>
          <a:noFill/>
          <a:ln w="25400">
            <a:solidFill>
              <a:srgbClr val="065A82"/>
            </a:solidFill>
            <a:prstDash val="solid"/>
          </a:ln>
        </p:spPr>
        <p:txBody>
          <a:bodyPr/>
          <a:lstStyle/>
          <a:p>
            <a:endParaRPr lang="en-IN"/>
          </a:p>
        </p:txBody>
      </p:sp>
      <p:sp>
        <p:nvSpPr>
          <p:cNvPr id="39" name="Shape 37"/>
          <p:cNvSpPr/>
          <p:nvPr/>
        </p:nvSpPr>
        <p:spPr>
          <a:xfrm>
            <a:off x="7132320" y="2971800"/>
            <a:ext cx="274320" cy="182880"/>
          </a:xfrm>
          <a:prstGeom prst="line">
            <a:avLst/>
          </a:prstGeom>
          <a:noFill/>
          <a:ln w="25400">
            <a:solidFill>
              <a:srgbClr val="065A82"/>
            </a:solidFill>
            <a:prstDash val="solid"/>
          </a:ln>
        </p:spPr>
        <p:txBody>
          <a:bodyPr/>
          <a:lstStyle/>
          <a:p>
            <a:endParaRPr lang="en-IN"/>
          </a:p>
        </p:txBody>
      </p:sp>
      <p:sp>
        <p:nvSpPr>
          <p:cNvPr id="40" name="Shape 38"/>
          <p:cNvSpPr/>
          <p:nvPr/>
        </p:nvSpPr>
        <p:spPr>
          <a:xfrm>
            <a:off x="4599432" y="4187952"/>
            <a:ext cx="128016" cy="128016"/>
          </a:xfrm>
          <a:prstGeom prst="ellipse">
            <a:avLst/>
          </a:prstGeom>
          <a:solidFill>
            <a:srgbClr val="2AB7CA"/>
          </a:solidFill>
          <a:ln/>
        </p:spPr>
        <p:txBody>
          <a:bodyPr/>
          <a:lstStyle/>
          <a:p>
            <a:endParaRPr lang="en-IN"/>
          </a:p>
        </p:txBody>
      </p:sp>
      <p:sp>
        <p:nvSpPr>
          <p:cNvPr id="41" name="Shape 39"/>
          <p:cNvSpPr/>
          <p:nvPr/>
        </p:nvSpPr>
        <p:spPr>
          <a:xfrm>
            <a:off x="4873752" y="4096512"/>
            <a:ext cx="128016" cy="128016"/>
          </a:xfrm>
          <a:prstGeom prst="ellipse">
            <a:avLst/>
          </a:prstGeom>
          <a:solidFill>
            <a:srgbClr val="2AB7CA"/>
          </a:solidFill>
          <a:ln/>
        </p:spPr>
        <p:txBody>
          <a:bodyPr/>
          <a:lstStyle/>
          <a:p>
            <a:endParaRPr lang="en-IN"/>
          </a:p>
        </p:txBody>
      </p:sp>
      <p:sp>
        <p:nvSpPr>
          <p:cNvPr id="42" name="Shape 40"/>
          <p:cNvSpPr/>
          <p:nvPr/>
        </p:nvSpPr>
        <p:spPr>
          <a:xfrm>
            <a:off x="5148072" y="4050792"/>
            <a:ext cx="128016" cy="128016"/>
          </a:xfrm>
          <a:prstGeom prst="ellipse">
            <a:avLst/>
          </a:prstGeom>
          <a:solidFill>
            <a:srgbClr val="2AB7CA"/>
          </a:solidFill>
          <a:ln/>
        </p:spPr>
        <p:txBody>
          <a:bodyPr/>
          <a:lstStyle/>
          <a:p>
            <a:endParaRPr lang="en-IN"/>
          </a:p>
        </p:txBody>
      </p:sp>
      <p:sp>
        <p:nvSpPr>
          <p:cNvPr id="43" name="Shape 41"/>
          <p:cNvSpPr/>
          <p:nvPr/>
        </p:nvSpPr>
        <p:spPr>
          <a:xfrm>
            <a:off x="5422392" y="3913632"/>
            <a:ext cx="128016" cy="128016"/>
          </a:xfrm>
          <a:prstGeom prst="ellipse">
            <a:avLst/>
          </a:prstGeom>
          <a:solidFill>
            <a:srgbClr val="2AB7CA"/>
          </a:solidFill>
          <a:ln/>
        </p:spPr>
        <p:txBody>
          <a:bodyPr/>
          <a:lstStyle/>
          <a:p>
            <a:endParaRPr lang="en-IN"/>
          </a:p>
        </p:txBody>
      </p:sp>
      <p:sp>
        <p:nvSpPr>
          <p:cNvPr id="44" name="Shape 42"/>
          <p:cNvSpPr/>
          <p:nvPr/>
        </p:nvSpPr>
        <p:spPr>
          <a:xfrm>
            <a:off x="5696712" y="3822192"/>
            <a:ext cx="128016" cy="128016"/>
          </a:xfrm>
          <a:prstGeom prst="ellipse">
            <a:avLst/>
          </a:prstGeom>
          <a:solidFill>
            <a:srgbClr val="2AB7CA"/>
          </a:solidFill>
          <a:ln/>
        </p:spPr>
        <p:txBody>
          <a:bodyPr/>
          <a:lstStyle/>
          <a:p>
            <a:endParaRPr lang="en-IN"/>
          </a:p>
        </p:txBody>
      </p:sp>
      <p:sp>
        <p:nvSpPr>
          <p:cNvPr id="45" name="Shape 43"/>
          <p:cNvSpPr/>
          <p:nvPr/>
        </p:nvSpPr>
        <p:spPr>
          <a:xfrm>
            <a:off x="5971032" y="3730752"/>
            <a:ext cx="128016" cy="128016"/>
          </a:xfrm>
          <a:prstGeom prst="ellipse">
            <a:avLst/>
          </a:prstGeom>
          <a:solidFill>
            <a:srgbClr val="2AB7CA"/>
          </a:solidFill>
          <a:ln/>
        </p:spPr>
        <p:txBody>
          <a:bodyPr/>
          <a:lstStyle/>
          <a:p>
            <a:endParaRPr lang="en-IN"/>
          </a:p>
        </p:txBody>
      </p:sp>
      <p:sp>
        <p:nvSpPr>
          <p:cNvPr id="46" name="Shape 44"/>
          <p:cNvSpPr/>
          <p:nvPr/>
        </p:nvSpPr>
        <p:spPr>
          <a:xfrm>
            <a:off x="6245352" y="3547872"/>
            <a:ext cx="128016" cy="128016"/>
          </a:xfrm>
          <a:prstGeom prst="ellipse">
            <a:avLst/>
          </a:prstGeom>
          <a:solidFill>
            <a:srgbClr val="2AB7CA"/>
          </a:solidFill>
          <a:ln/>
        </p:spPr>
        <p:txBody>
          <a:bodyPr/>
          <a:lstStyle/>
          <a:p>
            <a:endParaRPr lang="en-IN"/>
          </a:p>
        </p:txBody>
      </p:sp>
      <p:sp>
        <p:nvSpPr>
          <p:cNvPr id="47" name="Shape 45"/>
          <p:cNvSpPr/>
          <p:nvPr/>
        </p:nvSpPr>
        <p:spPr>
          <a:xfrm>
            <a:off x="6519672" y="3410712"/>
            <a:ext cx="128016" cy="128016"/>
          </a:xfrm>
          <a:prstGeom prst="ellipse">
            <a:avLst/>
          </a:prstGeom>
          <a:solidFill>
            <a:srgbClr val="2AB7CA"/>
          </a:solidFill>
          <a:ln/>
        </p:spPr>
        <p:txBody>
          <a:bodyPr/>
          <a:lstStyle/>
          <a:p>
            <a:endParaRPr lang="en-IN"/>
          </a:p>
        </p:txBody>
      </p:sp>
      <p:sp>
        <p:nvSpPr>
          <p:cNvPr id="48" name="Shape 46"/>
          <p:cNvSpPr/>
          <p:nvPr/>
        </p:nvSpPr>
        <p:spPr>
          <a:xfrm>
            <a:off x="6793992" y="3227832"/>
            <a:ext cx="128016" cy="128016"/>
          </a:xfrm>
          <a:prstGeom prst="ellipse">
            <a:avLst/>
          </a:prstGeom>
          <a:solidFill>
            <a:srgbClr val="2AB7CA"/>
          </a:solidFill>
          <a:ln/>
        </p:spPr>
        <p:txBody>
          <a:bodyPr/>
          <a:lstStyle/>
          <a:p>
            <a:endParaRPr lang="en-IN"/>
          </a:p>
        </p:txBody>
      </p:sp>
      <p:sp>
        <p:nvSpPr>
          <p:cNvPr id="49" name="Shape 47"/>
          <p:cNvSpPr/>
          <p:nvPr/>
        </p:nvSpPr>
        <p:spPr>
          <a:xfrm>
            <a:off x="7068312" y="3090672"/>
            <a:ext cx="128016" cy="128016"/>
          </a:xfrm>
          <a:prstGeom prst="ellipse">
            <a:avLst/>
          </a:prstGeom>
          <a:solidFill>
            <a:srgbClr val="2AB7CA"/>
          </a:solidFill>
          <a:ln/>
        </p:spPr>
        <p:txBody>
          <a:bodyPr/>
          <a:lstStyle/>
          <a:p>
            <a:endParaRPr lang="en-IN"/>
          </a:p>
        </p:txBody>
      </p:sp>
      <p:sp>
        <p:nvSpPr>
          <p:cNvPr id="50" name="Shape 48"/>
          <p:cNvSpPr/>
          <p:nvPr/>
        </p:nvSpPr>
        <p:spPr>
          <a:xfrm>
            <a:off x="7342632" y="2907792"/>
            <a:ext cx="128016" cy="128016"/>
          </a:xfrm>
          <a:prstGeom prst="ellipse">
            <a:avLst/>
          </a:prstGeom>
          <a:solidFill>
            <a:srgbClr val="2AB7CA"/>
          </a:solidFill>
          <a:ln/>
        </p:spPr>
        <p:txBody>
          <a:bodyPr/>
          <a:lstStyle/>
          <a:p>
            <a:endParaRPr lang="en-IN"/>
          </a:p>
        </p:txBody>
      </p:sp>
      <p:sp>
        <p:nvSpPr>
          <p:cNvPr id="51" name="Text 49"/>
          <p:cNvSpPr/>
          <p:nvPr/>
        </p:nvSpPr>
        <p:spPr>
          <a:xfrm>
            <a:off x="4526280" y="4343400"/>
            <a:ext cx="914400" cy="182880"/>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2013</a:t>
            </a:r>
            <a:endParaRPr lang="en-US" sz="800" dirty="0"/>
          </a:p>
        </p:txBody>
      </p:sp>
      <p:sp>
        <p:nvSpPr>
          <p:cNvPr id="52" name="Text 50"/>
          <p:cNvSpPr/>
          <p:nvPr/>
        </p:nvSpPr>
        <p:spPr>
          <a:xfrm>
            <a:off x="6812280" y="4343400"/>
            <a:ext cx="914400" cy="182880"/>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2023</a:t>
            </a:r>
            <a:endParaRPr lang="en-US" sz="800" dirty="0"/>
          </a:p>
        </p:txBody>
      </p:sp>
      <p:sp>
        <p:nvSpPr>
          <p:cNvPr id="53" name="Text 51"/>
          <p:cNvSpPr/>
          <p:nvPr/>
        </p:nvSpPr>
        <p:spPr>
          <a:xfrm>
            <a:off x="6240780" y="2813146"/>
            <a:ext cx="777240" cy="274320"/>
          </a:xfrm>
          <a:prstGeom prst="rect">
            <a:avLst/>
          </a:prstGeom>
          <a:noFill/>
          <a:ln/>
        </p:spPr>
        <p:txBody>
          <a:bodyPr wrap="square" lIns="0" tIns="0" rIns="0" bIns="0" rtlCol="0" anchor="ctr"/>
          <a:lstStyle/>
          <a:p>
            <a:pPr marL="0" indent="0" algn="r">
              <a:buNone/>
            </a:pPr>
            <a:r>
              <a:rPr lang="en-US" sz="1400" b="1" dirty="0">
                <a:solidFill>
                  <a:srgbClr val="2E7D32"/>
                </a:solidFill>
                <a:latin typeface="Cambria" pitchFamily="34" charset="0"/>
                <a:ea typeface="Cambria" pitchFamily="34" charset="-122"/>
                <a:cs typeface="Cambria" pitchFamily="34" charset="-120"/>
              </a:rPr>
              <a:t>+18%</a:t>
            </a:r>
            <a:endParaRPr lang="en-US" sz="1400" dirty="0"/>
          </a:p>
        </p:txBody>
      </p:sp>
      <p:sp>
        <p:nvSpPr>
          <p:cNvPr id="54" name="Text 52"/>
          <p:cNvSpPr/>
          <p:nvPr/>
        </p:nvSpPr>
        <p:spPr>
          <a:xfrm>
            <a:off x="4526280" y="4663440"/>
            <a:ext cx="3200400" cy="10058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+18% average from 2013 to 2023. Mix of CPI, fee-schedule updates, and shift toward higher-RVU services.</a:t>
            </a:r>
            <a:endParaRPr lang="en-US" sz="1100" dirty="0"/>
          </a:p>
        </p:txBody>
      </p:sp>
      <p:sp>
        <p:nvSpPr>
          <p:cNvPr id="55" name="Text 53"/>
          <p:cNvSpPr/>
          <p:nvPr/>
        </p:nvSpPr>
        <p:spPr>
          <a:xfrm>
            <a:off x="4526280" y="5715000"/>
            <a:ext cx="3200400" cy="548640"/>
          </a:xfrm>
          <a:prstGeom prst="rect">
            <a:avLst/>
          </a:prstGeom>
          <a:noFill/>
          <a:ln/>
        </p:spPr>
        <p:txBody>
          <a:bodyPr wrap="square" lIns="0" tIns="0" rIns="0" bIns="0" rtlCol="0" anchor="t"/>
          <a:lstStyle/>
          <a:p>
            <a:pPr marL="0" indent="0">
              <a:buNone/>
            </a:pPr>
            <a:r>
              <a:rPr lang="en-US" sz="1000" b="1" i="1" dirty="0">
                <a:solidFill>
                  <a:srgbClr val="065A82"/>
                </a:solidFill>
                <a:latin typeface="Calibri" pitchFamily="34" charset="0"/>
                <a:ea typeface="Calibri" pitchFamily="34" charset="-122"/>
                <a:cs typeface="Calibri" pitchFamily="34" charset="-120"/>
              </a:rPr>
              <a:t>FIX: year is kept as metadata; forecasting track projects 2024-2026.</a:t>
            </a:r>
            <a:endParaRPr lang="en-US" sz="1000" dirty="0"/>
          </a:p>
        </p:txBody>
      </p:sp>
      <p:sp>
        <p:nvSpPr>
          <p:cNvPr id="56" name="Shape 54"/>
          <p:cNvSpPr/>
          <p:nvPr/>
        </p:nvSpPr>
        <p:spPr>
          <a:xfrm>
            <a:off x="8138160" y="1600200"/>
            <a:ext cx="3657600" cy="4754880"/>
          </a:xfrm>
          <a:prstGeom prst="rect">
            <a:avLst/>
          </a:prstGeom>
          <a:solidFill>
            <a:srgbClr val="F4F9FC"/>
          </a:solidFill>
          <a:ln w="6350">
            <a:solidFill>
              <a:srgbClr val="D5DFE9"/>
            </a:solidFill>
            <a:prstDash val="solid"/>
          </a:ln>
        </p:spPr>
        <p:txBody>
          <a:bodyPr/>
          <a:lstStyle/>
          <a:p>
            <a:endParaRPr lang="en-IN"/>
          </a:p>
        </p:txBody>
      </p:sp>
      <p:sp>
        <p:nvSpPr>
          <p:cNvPr id="57" name="Shape 55"/>
          <p:cNvSpPr/>
          <p:nvPr/>
        </p:nvSpPr>
        <p:spPr>
          <a:xfrm>
            <a:off x="8138160" y="1600200"/>
            <a:ext cx="3657600" cy="73152"/>
          </a:xfrm>
          <a:prstGeom prst="rect">
            <a:avLst/>
          </a:prstGeom>
          <a:solidFill>
            <a:srgbClr val="2AB7CA"/>
          </a:solidFill>
          <a:ln/>
        </p:spPr>
        <p:txBody>
          <a:bodyPr/>
          <a:lstStyle/>
          <a:p>
            <a:endParaRPr lang="en-IN"/>
          </a:p>
        </p:txBody>
      </p:sp>
      <p:sp>
        <p:nvSpPr>
          <p:cNvPr id="58" name="Text 56"/>
          <p:cNvSpPr/>
          <p:nvPr/>
        </p:nvSpPr>
        <p:spPr>
          <a:xfrm>
            <a:off x="8366760" y="1737360"/>
            <a:ext cx="548640" cy="365760"/>
          </a:xfrm>
          <a:prstGeom prst="rect">
            <a:avLst/>
          </a:prstGeom>
          <a:noFill/>
          <a:ln/>
        </p:spPr>
        <p:txBody>
          <a:bodyPr wrap="square" lIns="0" tIns="0" rIns="0" bIns="0" rtlCol="0" anchor="ctr"/>
          <a:lstStyle/>
          <a:p>
            <a:pPr marL="0" indent="0">
              <a:buNone/>
            </a:pPr>
            <a:r>
              <a:rPr lang="en-US" sz="2000" b="1" dirty="0">
                <a:solidFill>
                  <a:srgbClr val="2AB7CA"/>
                </a:solidFill>
                <a:latin typeface="Cambria" pitchFamily="34" charset="0"/>
                <a:ea typeface="Cambria" pitchFamily="34" charset="-122"/>
                <a:cs typeface="Cambria" pitchFamily="34" charset="-120"/>
              </a:rPr>
              <a:t>03</a:t>
            </a:r>
            <a:endParaRPr lang="en-US" sz="2000" dirty="0"/>
          </a:p>
        </p:txBody>
      </p:sp>
      <p:sp>
        <p:nvSpPr>
          <p:cNvPr id="59" name="Text 57"/>
          <p:cNvSpPr/>
          <p:nvPr/>
        </p:nvSpPr>
        <p:spPr>
          <a:xfrm>
            <a:off x="8366760" y="2148840"/>
            <a:ext cx="3200400" cy="548640"/>
          </a:xfrm>
          <a:prstGeom prst="rect">
            <a:avLst/>
          </a:prstGeom>
          <a:noFill/>
          <a:ln/>
        </p:spPr>
        <p:txBody>
          <a:bodyPr wrap="square" lIns="0" tIns="0" rIns="0" bIns="0" rtlCol="0" anchor="ctr"/>
          <a:lstStyle/>
          <a:p>
            <a:pPr marL="0" indent="0">
              <a:buNone/>
            </a:pPr>
            <a:r>
              <a:rPr lang="en-US" sz="1500" b="1" dirty="0">
                <a:solidFill>
                  <a:srgbClr val="0D2C54"/>
                </a:solidFill>
                <a:latin typeface="Cambria" pitchFamily="34" charset="0"/>
                <a:ea typeface="Cambria" pitchFamily="34" charset="-122"/>
                <a:cs typeface="Cambria" pitchFamily="34" charset="-120"/>
              </a:rPr>
              <a:t>Coverage is uneven</a:t>
            </a:r>
            <a:endParaRPr lang="en-US" sz="1500" dirty="0"/>
          </a:p>
        </p:txBody>
      </p:sp>
      <p:sp>
        <p:nvSpPr>
          <p:cNvPr id="60" name="Shape 58"/>
          <p:cNvSpPr/>
          <p:nvPr/>
        </p:nvSpPr>
        <p:spPr>
          <a:xfrm>
            <a:off x="8366760" y="2788920"/>
            <a:ext cx="3200400" cy="1737360"/>
          </a:xfrm>
          <a:prstGeom prst="rect">
            <a:avLst/>
          </a:prstGeom>
          <a:solidFill>
            <a:srgbClr val="FFFFFF"/>
          </a:solidFill>
          <a:ln w="6350">
            <a:solidFill>
              <a:srgbClr val="D5DFE9"/>
            </a:solidFill>
            <a:prstDash val="solid"/>
          </a:ln>
        </p:spPr>
        <p:txBody>
          <a:bodyPr/>
          <a:lstStyle/>
          <a:p>
            <a:endParaRPr lang="en-IN"/>
          </a:p>
        </p:txBody>
      </p:sp>
      <p:sp>
        <p:nvSpPr>
          <p:cNvPr id="61" name="Shape 59"/>
          <p:cNvSpPr/>
          <p:nvPr/>
        </p:nvSpPr>
        <p:spPr>
          <a:xfrm>
            <a:off x="9326880" y="3017520"/>
            <a:ext cx="2377440" cy="182880"/>
          </a:xfrm>
          <a:prstGeom prst="rect">
            <a:avLst/>
          </a:prstGeom>
          <a:solidFill>
            <a:srgbClr val="0D2C54"/>
          </a:solidFill>
          <a:ln/>
        </p:spPr>
        <p:txBody>
          <a:bodyPr/>
          <a:lstStyle/>
          <a:p>
            <a:endParaRPr lang="en-IN"/>
          </a:p>
        </p:txBody>
      </p:sp>
      <p:sp>
        <p:nvSpPr>
          <p:cNvPr id="62" name="Text 60"/>
          <p:cNvSpPr/>
          <p:nvPr/>
        </p:nvSpPr>
        <p:spPr>
          <a:xfrm>
            <a:off x="8412480" y="2999232"/>
            <a:ext cx="868680" cy="219456"/>
          </a:xfrm>
          <a:prstGeom prst="rect">
            <a:avLst/>
          </a:prstGeom>
          <a:noFill/>
          <a:ln/>
        </p:spPr>
        <p:txBody>
          <a:bodyPr wrap="square" lIns="0" tIns="0" rIns="0" bIns="0" rtlCol="0" anchor="ctr"/>
          <a:lstStyle/>
          <a:p>
            <a:pPr marL="0" indent="0">
              <a:buNone/>
            </a:pPr>
            <a:r>
              <a:rPr lang="en-US" sz="800" dirty="0">
                <a:solidFill>
                  <a:srgbClr val="1A1A1A"/>
                </a:solidFill>
                <a:latin typeface="Calibri" pitchFamily="34" charset="0"/>
                <a:ea typeface="Calibri" pitchFamily="34" charset="-122"/>
                <a:cs typeface="Calibri" pitchFamily="34" charset="-120"/>
              </a:rPr>
              <a:t>Internal Med</a:t>
            </a:r>
            <a:endParaRPr lang="en-US" sz="800" dirty="0"/>
          </a:p>
        </p:txBody>
      </p:sp>
      <p:sp>
        <p:nvSpPr>
          <p:cNvPr id="63" name="Shape 61"/>
          <p:cNvSpPr/>
          <p:nvPr/>
        </p:nvSpPr>
        <p:spPr>
          <a:xfrm>
            <a:off x="9326880" y="3291840"/>
            <a:ext cx="2011680" cy="182880"/>
          </a:xfrm>
          <a:prstGeom prst="rect">
            <a:avLst/>
          </a:prstGeom>
          <a:solidFill>
            <a:srgbClr val="065A82"/>
          </a:solidFill>
          <a:ln/>
        </p:spPr>
        <p:txBody>
          <a:bodyPr/>
          <a:lstStyle/>
          <a:p>
            <a:endParaRPr lang="en-IN"/>
          </a:p>
        </p:txBody>
      </p:sp>
      <p:sp>
        <p:nvSpPr>
          <p:cNvPr id="64" name="Text 62"/>
          <p:cNvSpPr/>
          <p:nvPr/>
        </p:nvSpPr>
        <p:spPr>
          <a:xfrm>
            <a:off x="8412480" y="3273552"/>
            <a:ext cx="868680" cy="219456"/>
          </a:xfrm>
          <a:prstGeom prst="rect">
            <a:avLst/>
          </a:prstGeom>
          <a:noFill/>
          <a:ln/>
        </p:spPr>
        <p:txBody>
          <a:bodyPr wrap="square" lIns="0" tIns="0" rIns="0" bIns="0" rtlCol="0" anchor="ctr"/>
          <a:lstStyle/>
          <a:p>
            <a:pPr marL="0" indent="0">
              <a:buNone/>
            </a:pPr>
            <a:r>
              <a:rPr lang="en-US" sz="800" dirty="0">
                <a:solidFill>
                  <a:srgbClr val="1A1A1A"/>
                </a:solidFill>
                <a:latin typeface="Calibri" pitchFamily="34" charset="0"/>
                <a:ea typeface="Calibri" pitchFamily="34" charset="-122"/>
                <a:cs typeface="Calibri" pitchFamily="34" charset="-120"/>
              </a:rPr>
              <a:t>Family Prac.</a:t>
            </a:r>
            <a:endParaRPr lang="en-US" sz="800" dirty="0"/>
          </a:p>
        </p:txBody>
      </p:sp>
      <p:sp>
        <p:nvSpPr>
          <p:cNvPr id="65" name="Shape 63"/>
          <p:cNvSpPr/>
          <p:nvPr/>
        </p:nvSpPr>
        <p:spPr>
          <a:xfrm>
            <a:off x="9326880" y="3566160"/>
            <a:ext cx="1645920" cy="182880"/>
          </a:xfrm>
          <a:prstGeom prst="rect">
            <a:avLst/>
          </a:prstGeom>
          <a:solidFill>
            <a:srgbClr val="065A82"/>
          </a:solidFill>
          <a:ln/>
        </p:spPr>
        <p:txBody>
          <a:bodyPr/>
          <a:lstStyle/>
          <a:p>
            <a:endParaRPr lang="en-IN"/>
          </a:p>
        </p:txBody>
      </p:sp>
      <p:sp>
        <p:nvSpPr>
          <p:cNvPr id="66" name="Text 64"/>
          <p:cNvSpPr/>
          <p:nvPr/>
        </p:nvSpPr>
        <p:spPr>
          <a:xfrm>
            <a:off x="8412480" y="3547872"/>
            <a:ext cx="868680" cy="219456"/>
          </a:xfrm>
          <a:prstGeom prst="rect">
            <a:avLst/>
          </a:prstGeom>
          <a:noFill/>
          <a:ln/>
        </p:spPr>
        <p:txBody>
          <a:bodyPr wrap="square" lIns="0" tIns="0" rIns="0" bIns="0" rtlCol="0" anchor="ctr"/>
          <a:lstStyle/>
          <a:p>
            <a:pPr marL="0" indent="0">
              <a:buNone/>
            </a:pPr>
            <a:r>
              <a:rPr lang="en-US" sz="800" dirty="0">
                <a:solidFill>
                  <a:srgbClr val="1A1A1A"/>
                </a:solidFill>
                <a:latin typeface="Calibri" pitchFamily="34" charset="0"/>
                <a:ea typeface="Calibri" pitchFamily="34" charset="-122"/>
                <a:cs typeface="Calibri" pitchFamily="34" charset="-120"/>
              </a:rPr>
              <a:t>Cardiology</a:t>
            </a:r>
            <a:endParaRPr lang="en-US" sz="800" dirty="0"/>
          </a:p>
        </p:txBody>
      </p:sp>
      <p:sp>
        <p:nvSpPr>
          <p:cNvPr id="67" name="Shape 65"/>
          <p:cNvSpPr/>
          <p:nvPr/>
        </p:nvSpPr>
        <p:spPr>
          <a:xfrm>
            <a:off x="9326880" y="3840480"/>
            <a:ext cx="1188720" cy="182880"/>
          </a:xfrm>
          <a:prstGeom prst="rect">
            <a:avLst/>
          </a:prstGeom>
          <a:solidFill>
            <a:srgbClr val="2AB7CA"/>
          </a:solidFill>
          <a:ln/>
        </p:spPr>
        <p:txBody>
          <a:bodyPr/>
          <a:lstStyle/>
          <a:p>
            <a:endParaRPr lang="en-IN"/>
          </a:p>
        </p:txBody>
      </p:sp>
      <p:sp>
        <p:nvSpPr>
          <p:cNvPr id="68" name="Text 66"/>
          <p:cNvSpPr/>
          <p:nvPr/>
        </p:nvSpPr>
        <p:spPr>
          <a:xfrm>
            <a:off x="8412480" y="3822192"/>
            <a:ext cx="868680" cy="219456"/>
          </a:xfrm>
          <a:prstGeom prst="rect">
            <a:avLst/>
          </a:prstGeom>
          <a:noFill/>
          <a:ln/>
        </p:spPr>
        <p:txBody>
          <a:bodyPr wrap="square" lIns="0" tIns="0" rIns="0" bIns="0" rtlCol="0" anchor="ctr"/>
          <a:lstStyle/>
          <a:p>
            <a:pPr marL="0" indent="0">
              <a:buNone/>
            </a:pPr>
            <a:r>
              <a:rPr lang="en-US" sz="800" dirty="0">
                <a:solidFill>
                  <a:srgbClr val="1A1A1A"/>
                </a:solidFill>
                <a:latin typeface="Calibri" pitchFamily="34" charset="0"/>
                <a:ea typeface="Calibri" pitchFamily="34" charset="-122"/>
                <a:cs typeface="Calibri" pitchFamily="34" charset="-120"/>
              </a:rPr>
              <a:t>Radiology</a:t>
            </a:r>
            <a:endParaRPr lang="en-US" sz="800" dirty="0"/>
          </a:p>
        </p:txBody>
      </p:sp>
      <p:sp>
        <p:nvSpPr>
          <p:cNvPr id="69" name="Shape 67"/>
          <p:cNvSpPr/>
          <p:nvPr/>
        </p:nvSpPr>
        <p:spPr>
          <a:xfrm>
            <a:off x="9326880" y="4114800"/>
            <a:ext cx="822960" cy="182880"/>
          </a:xfrm>
          <a:prstGeom prst="rect">
            <a:avLst/>
          </a:prstGeom>
          <a:solidFill>
            <a:srgbClr val="2AB7CA"/>
          </a:solidFill>
          <a:ln/>
        </p:spPr>
        <p:txBody>
          <a:bodyPr/>
          <a:lstStyle/>
          <a:p>
            <a:endParaRPr lang="en-IN"/>
          </a:p>
        </p:txBody>
      </p:sp>
      <p:sp>
        <p:nvSpPr>
          <p:cNvPr id="70" name="Text 68"/>
          <p:cNvSpPr/>
          <p:nvPr/>
        </p:nvSpPr>
        <p:spPr>
          <a:xfrm>
            <a:off x="8412480" y="4096512"/>
            <a:ext cx="868680" cy="219456"/>
          </a:xfrm>
          <a:prstGeom prst="rect">
            <a:avLst/>
          </a:prstGeom>
          <a:noFill/>
          <a:ln/>
        </p:spPr>
        <p:txBody>
          <a:bodyPr wrap="square" lIns="0" tIns="0" rIns="0" bIns="0" rtlCol="0" anchor="ctr"/>
          <a:lstStyle/>
          <a:p>
            <a:pPr marL="0" indent="0">
              <a:buNone/>
            </a:pPr>
            <a:r>
              <a:rPr lang="en-US" sz="800" dirty="0">
                <a:solidFill>
                  <a:srgbClr val="1A1A1A"/>
                </a:solidFill>
                <a:latin typeface="Calibri" pitchFamily="34" charset="0"/>
                <a:ea typeface="Calibri" pitchFamily="34" charset="-122"/>
                <a:cs typeface="Calibri" pitchFamily="34" charset="-120"/>
              </a:rPr>
              <a:t>Ortho</a:t>
            </a:r>
            <a:endParaRPr lang="en-US" sz="800" dirty="0"/>
          </a:p>
        </p:txBody>
      </p:sp>
      <p:sp>
        <p:nvSpPr>
          <p:cNvPr id="71" name="Text 69"/>
          <p:cNvSpPr/>
          <p:nvPr/>
        </p:nvSpPr>
        <p:spPr>
          <a:xfrm>
            <a:off x="8366760" y="4663440"/>
            <a:ext cx="3200400" cy="10058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Top 3 specialties = 30% of rows. CA / TX / FL / NY each contribute 8-12%. Territories under 0.5%.</a:t>
            </a:r>
            <a:endParaRPr lang="en-US" sz="1100" dirty="0"/>
          </a:p>
        </p:txBody>
      </p:sp>
      <p:sp>
        <p:nvSpPr>
          <p:cNvPr id="72" name="Text 70"/>
          <p:cNvSpPr/>
          <p:nvPr/>
        </p:nvSpPr>
        <p:spPr>
          <a:xfrm>
            <a:off x="8366760" y="5715000"/>
            <a:ext cx="3200400" cy="548640"/>
          </a:xfrm>
          <a:prstGeom prst="rect">
            <a:avLst/>
          </a:prstGeom>
          <a:noFill/>
          <a:ln/>
        </p:spPr>
        <p:txBody>
          <a:bodyPr wrap="square" lIns="0" tIns="0" rIns="0" bIns="0" rtlCol="0" anchor="t"/>
          <a:lstStyle/>
          <a:p>
            <a:pPr marL="0" indent="0">
              <a:buNone/>
            </a:pPr>
            <a:r>
              <a:rPr lang="en-US" sz="1000" b="1" i="1" dirty="0">
                <a:solidFill>
                  <a:srgbClr val="065A82"/>
                </a:solidFill>
                <a:latin typeface="Calibri" pitchFamily="34" charset="0"/>
                <a:ea typeface="Calibri" pitchFamily="34" charset="-122"/>
                <a:cs typeface="Calibri" pitchFamily="34" charset="-120"/>
              </a:rPr>
              <a:t>FIX: batch-train by Census region to keep memory bounded and class balance visible.</a:t>
            </a:r>
            <a:endParaRPr lang="en-US" sz="1000" dirty="0"/>
          </a:p>
        </p:txBody>
      </p:sp>
      <p:sp>
        <p:nvSpPr>
          <p:cNvPr id="73" name="Shape 71"/>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74" name="Text 72"/>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75" name="Text 73"/>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NOOR AHMED</a:t>
            </a:r>
            <a:endParaRPr lang="en-US" sz="900" dirty="0"/>
          </a:p>
        </p:txBody>
      </p:sp>
      <p:sp>
        <p:nvSpPr>
          <p:cNvPr id="76" name="Text 74"/>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09 / 19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C54"/>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AB7CA"/>
          </a:solidFill>
          <a:ln/>
        </p:spPr>
        <p:txBody>
          <a:bodyPr/>
          <a:lstStyle/>
          <a:p>
            <a:endParaRPr lang="en-IN"/>
          </a:p>
        </p:txBody>
      </p:sp>
      <p:sp>
        <p:nvSpPr>
          <p:cNvPr id="3" name="Text 1"/>
          <p:cNvSpPr/>
          <p:nvPr/>
        </p:nvSpPr>
        <p:spPr>
          <a:xfrm>
            <a:off x="731520" y="2194560"/>
            <a:ext cx="10972800" cy="411480"/>
          </a:xfrm>
          <a:prstGeom prst="rect">
            <a:avLst/>
          </a:prstGeom>
          <a:noFill/>
          <a:ln/>
        </p:spPr>
        <p:txBody>
          <a:bodyPr wrap="square" rtlCol="0" anchor="ctr"/>
          <a:lstStyle/>
          <a:p>
            <a:pPr marL="0" indent="0">
              <a:buNone/>
            </a:pPr>
            <a:r>
              <a:rPr lang="en-US" sz="1400" b="1" kern="0" spc="400" dirty="0">
                <a:solidFill>
                  <a:srgbClr val="2AB7CA"/>
                </a:solidFill>
                <a:latin typeface="Calibri" pitchFamily="34" charset="0"/>
                <a:ea typeface="Calibri" pitchFamily="34" charset="-122"/>
                <a:cs typeface="Calibri" pitchFamily="34" charset="-120"/>
              </a:rPr>
              <a:t>SECTION 3  ·  MODELING</a:t>
            </a:r>
            <a:endParaRPr lang="en-US" sz="1400" dirty="0"/>
          </a:p>
        </p:txBody>
      </p:sp>
      <p:sp>
        <p:nvSpPr>
          <p:cNvPr id="4" name="Text 2"/>
          <p:cNvSpPr/>
          <p:nvPr/>
        </p:nvSpPr>
        <p:spPr>
          <a:xfrm>
            <a:off x="731520" y="2651760"/>
            <a:ext cx="10972800" cy="201168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Feature engineering, three model families,</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and what the numbers say</a:t>
            </a:r>
            <a:endParaRPr lang="en-US" sz="4000" dirty="0"/>
          </a:p>
        </p:txBody>
      </p:sp>
      <p:sp>
        <p:nvSpPr>
          <p:cNvPr id="5" name="Text 3"/>
          <p:cNvSpPr/>
          <p:nvPr/>
        </p:nvSpPr>
        <p:spPr>
          <a:xfrm>
            <a:off x="731520" y="5303520"/>
            <a:ext cx="10972800" cy="36576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Presenter: Raj Vedire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07  ·  FEATURE ENGINEERING</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12 features, grouped by what they tell the model</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Shape 3"/>
          <p:cNvSpPr/>
          <p:nvPr/>
        </p:nvSpPr>
        <p:spPr>
          <a:xfrm>
            <a:off x="457200" y="1600200"/>
            <a:ext cx="2103120" cy="1024128"/>
          </a:xfrm>
          <a:prstGeom prst="rect">
            <a:avLst/>
          </a:prstGeom>
          <a:solidFill>
            <a:srgbClr val="065A82"/>
          </a:solidFill>
          <a:ln/>
        </p:spPr>
        <p:txBody>
          <a:bodyPr/>
          <a:lstStyle/>
          <a:p>
            <a:endParaRPr lang="en-IN"/>
          </a:p>
        </p:txBody>
      </p:sp>
      <p:sp>
        <p:nvSpPr>
          <p:cNvPr id="6" name="Text 4"/>
          <p:cNvSpPr/>
          <p:nvPr/>
        </p:nvSpPr>
        <p:spPr>
          <a:xfrm>
            <a:off x="594360" y="1737360"/>
            <a:ext cx="182880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WHO</a:t>
            </a:r>
            <a:endParaRPr lang="en-US" sz="2000" dirty="0"/>
          </a:p>
        </p:txBody>
      </p:sp>
      <p:sp>
        <p:nvSpPr>
          <p:cNvPr id="7" name="Text 5"/>
          <p:cNvSpPr/>
          <p:nvPr/>
        </p:nvSpPr>
        <p:spPr>
          <a:xfrm>
            <a:off x="594360" y="2148840"/>
            <a:ext cx="1828800" cy="36576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The provider</a:t>
            </a:r>
            <a:endParaRPr lang="en-US" sz="1100" dirty="0"/>
          </a:p>
        </p:txBody>
      </p:sp>
      <p:sp>
        <p:nvSpPr>
          <p:cNvPr id="8" name="Shape 6"/>
          <p:cNvSpPr/>
          <p:nvPr/>
        </p:nvSpPr>
        <p:spPr>
          <a:xfrm>
            <a:off x="2560320" y="1600200"/>
            <a:ext cx="9189720" cy="1024128"/>
          </a:xfrm>
          <a:prstGeom prst="rect">
            <a:avLst/>
          </a:prstGeom>
          <a:solidFill>
            <a:srgbClr val="F4F9FC"/>
          </a:solidFill>
          <a:ln w="6350">
            <a:solidFill>
              <a:srgbClr val="D5DFE9"/>
            </a:solidFill>
            <a:prstDash val="solid"/>
          </a:ln>
        </p:spPr>
        <p:txBody>
          <a:bodyPr/>
          <a:lstStyle/>
          <a:p>
            <a:endParaRPr lang="en-IN"/>
          </a:p>
        </p:txBody>
      </p:sp>
      <p:sp>
        <p:nvSpPr>
          <p:cNvPr id="9" name="Text 7"/>
          <p:cNvSpPr/>
          <p:nvPr/>
        </p:nvSpPr>
        <p:spPr>
          <a:xfrm>
            <a:off x="2743200" y="1709928"/>
            <a:ext cx="8961120"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Specialty (encoded, ~131 types)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State (encoded, 63 markets)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Average HCC risk score (from by-provider file)</a:t>
            </a:r>
            <a:endParaRPr lang="en-US" sz="1200" dirty="0"/>
          </a:p>
        </p:txBody>
      </p:sp>
      <p:sp>
        <p:nvSpPr>
          <p:cNvPr id="10" name="Shape 8"/>
          <p:cNvSpPr/>
          <p:nvPr/>
        </p:nvSpPr>
        <p:spPr>
          <a:xfrm>
            <a:off x="457200" y="2752344"/>
            <a:ext cx="2103120" cy="1024128"/>
          </a:xfrm>
          <a:prstGeom prst="rect">
            <a:avLst/>
          </a:prstGeom>
          <a:solidFill>
            <a:srgbClr val="1C7293"/>
          </a:solidFill>
          <a:ln/>
        </p:spPr>
        <p:txBody>
          <a:bodyPr/>
          <a:lstStyle/>
          <a:p>
            <a:endParaRPr lang="en-IN"/>
          </a:p>
        </p:txBody>
      </p:sp>
      <p:sp>
        <p:nvSpPr>
          <p:cNvPr id="11" name="Text 9"/>
          <p:cNvSpPr/>
          <p:nvPr/>
        </p:nvSpPr>
        <p:spPr>
          <a:xfrm>
            <a:off x="594360" y="2889504"/>
            <a:ext cx="182880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WHAT</a:t>
            </a:r>
            <a:endParaRPr lang="en-US" sz="2000" dirty="0"/>
          </a:p>
        </p:txBody>
      </p:sp>
      <p:sp>
        <p:nvSpPr>
          <p:cNvPr id="12" name="Text 10"/>
          <p:cNvSpPr/>
          <p:nvPr/>
        </p:nvSpPr>
        <p:spPr>
          <a:xfrm>
            <a:off x="594360" y="3300984"/>
            <a:ext cx="1828800" cy="36576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The procedure</a:t>
            </a:r>
            <a:endParaRPr lang="en-US" sz="1100" dirty="0"/>
          </a:p>
        </p:txBody>
      </p:sp>
      <p:sp>
        <p:nvSpPr>
          <p:cNvPr id="13" name="Shape 11"/>
          <p:cNvSpPr/>
          <p:nvPr/>
        </p:nvSpPr>
        <p:spPr>
          <a:xfrm>
            <a:off x="2560320" y="2752344"/>
            <a:ext cx="9189720" cy="1024128"/>
          </a:xfrm>
          <a:prstGeom prst="rect">
            <a:avLst/>
          </a:prstGeom>
          <a:solidFill>
            <a:srgbClr val="F4F9FC"/>
          </a:solidFill>
          <a:ln w="6350">
            <a:solidFill>
              <a:srgbClr val="D5DFE9"/>
            </a:solidFill>
            <a:prstDash val="solid"/>
          </a:ln>
        </p:spPr>
        <p:txBody>
          <a:bodyPr/>
          <a:lstStyle/>
          <a:p>
            <a:endParaRPr lang="en-IN"/>
          </a:p>
        </p:txBody>
      </p:sp>
      <p:sp>
        <p:nvSpPr>
          <p:cNvPr id="14" name="Text 12"/>
          <p:cNvSpPr/>
          <p:nvPr/>
        </p:nvSpPr>
        <p:spPr>
          <a:xfrm>
            <a:off x="2743200" y="2862072"/>
            <a:ext cx="8961120"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HCPCS code (encoded, ~6K codes)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Clinical bucket (0-5: anesthesia / surgery / radiology / lab / E&amp;M / Level II)</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Place of service (office vs facility)</a:t>
            </a:r>
            <a:endParaRPr lang="en-US" sz="1200" dirty="0"/>
          </a:p>
        </p:txBody>
      </p:sp>
      <p:sp>
        <p:nvSpPr>
          <p:cNvPr id="15" name="Shape 13"/>
          <p:cNvSpPr/>
          <p:nvPr/>
        </p:nvSpPr>
        <p:spPr>
          <a:xfrm>
            <a:off x="457200" y="3904488"/>
            <a:ext cx="2103120" cy="1024128"/>
          </a:xfrm>
          <a:prstGeom prst="rect">
            <a:avLst/>
          </a:prstGeom>
          <a:solidFill>
            <a:srgbClr val="2AB7CA"/>
          </a:solidFill>
          <a:ln/>
        </p:spPr>
        <p:txBody>
          <a:bodyPr/>
          <a:lstStyle/>
          <a:p>
            <a:endParaRPr lang="en-IN"/>
          </a:p>
        </p:txBody>
      </p:sp>
      <p:sp>
        <p:nvSpPr>
          <p:cNvPr id="16" name="Text 14"/>
          <p:cNvSpPr/>
          <p:nvPr/>
        </p:nvSpPr>
        <p:spPr>
          <a:xfrm>
            <a:off x="594360" y="4041648"/>
            <a:ext cx="182880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HOW MUCH</a:t>
            </a:r>
            <a:endParaRPr lang="en-US" sz="2000" dirty="0"/>
          </a:p>
        </p:txBody>
      </p:sp>
      <p:sp>
        <p:nvSpPr>
          <p:cNvPr id="17" name="Text 15"/>
          <p:cNvSpPr/>
          <p:nvPr/>
        </p:nvSpPr>
        <p:spPr>
          <a:xfrm>
            <a:off x="594360" y="4453128"/>
            <a:ext cx="1828800" cy="36576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Activity signal</a:t>
            </a:r>
            <a:endParaRPr lang="en-US" sz="1100" dirty="0"/>
          </a:p>
        </p:txBody>
      </p:sp>
      <p:sp>
        <p:nvSpPr>
          <p:cNvPr id="18" name="Shape 16"/>
          <p:cNvSpPr/>
          <p:nvPr/>
        </p:nvSpPr>
        <p:spPr>
          <a:xfrm>
            <a:off x="2560320" y="3904488"/>
            <a:ext cx="9189720" cy="1024128"/>
          </a:xfrm>
          <a:prstGeom prst="rect">
            <a:avLst/>
          </a:prstGeom>
          <a:solidFill>
            <a:srgbClr val="F4F9FC"/>
          </a:solidFill>
          <a:ln w="6350">
            <a:solidFill>
              <a:srgbClr val="D5DFE9"/>
            </a:solidFill>
            <a:prstDash val="solid"/>
          </a:ln>
        </p:spPr>
        <p:txBody>
          <a:bodyPr/>
          <a:lstStyle/>
          <a:p>
            <a:endParaRPr lang="en-IN"/>
          </a:p>
        </p:txBody>
      </p:sp>
      <p:sp>
        <p:nvSpPr>
          <p:cNvPr id="19" name="Text 17"/>
          <p:cNvSpPr/>
          <p:nvPr/>
        </p:nvSpPr>
        <p:spPr>
          <a:xfrm>
            <a:off x="2743200" y="4014216"/>
            <a:ext cx="8961120"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log(1 + total services)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log(1 + total beneficiaries)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Services per beneficiary ratio</a:t>
            </a:r>
            <a:endParaRPr lang="en-US" sz="1200" dirty="0"/>
          </a:p>
        </p:txBody>
      </p:sp>
      <p:sp>
        <p:nvSpPr>
          <p:cNvPr id="20" name="Shape 18"/>
          <p:cNvSpPr/>
          <p:nvPr/>
        </p:nvSpPr>
        <p:spPr>
          <a:xfrm>
            <a:off x="457200" y="5056632"/>
            <a:ext cx="2103120" cy="1024128"/>
          </a:xfrm>
          <a:prstGeom prst="rect">
            <a:avLst/>
          </a:prstGeom>
          <a:solidFill>
            <a:srgbClr val="D4A017"/>
          </a:solidFill>
          <a:ln/>
        </p:spPr>
        <p:txBody>
          <a:bodyPr/>
          <a:lstStyle/>
          <a:p>
            <a:endParaRPr lang="en-IN"/>
          </a:p>
        </p:txBody>
      </p:sp>
      <p:sp>
        <p:nvSpPr>
          <p:cNvPr id="21" name="Text 19"/>
          <p:cNvSpPr/>
          <p:nvPr/>
        </p:nvSpPr>
        <p:spPr>
          <a:xfrm>
            <a:off x="594360" y="5193792"/>
            <a:ext cx="182880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ENGINEERED</a:t>
            </a:r>
            <a:endParaRPr lang="en-US" sz="2000" dirty="0"/>
          </a:p>
        </p:txBody>
      </p:sp>
      <p:sp>
        <p:nvSpPr>
          <p:cNvPr id="22" name="Text 20"/>
          <p:cNvSpPr/>
          <p:nvPr/>
        </p:nvSpPr>
        <p:spPr>
          <a:xfrm>
            <a:off x="594360" y="5605272"/>
            <a:ext cx="1828800" cy="36576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Built from the data</a:t>
            </a:r>
            <a:endParaRPr lang="en-US" sz="1100" dirty="0"/>
          </a:p>
        </p:txBody>
      </p:sp>
      <p:sp>
        <p:nvSpPr>
          <p:cNvPr id="23" name="Shape 21"/>
          <p:cNvSpPr/>
          <p:nvPr/>
        </p:nvSpPr>
        <p:spPr>
          <a:xfrm>
            <a:off x="2560320" y="5056632"/>
            <a:ext cx="9189720" cy="1024128"/>
          </a:xfrm>
          <a:prstGeom prst="rect">
            <a:avLst/>
          </a:prstGeom>
          <a:solidFill>
            <a:srgbClr val="F4F9FC"/>
          </a:solidFill>
          <a:ln w="6350">
            <a:solidFill>
              <a:srgbClr val="D5DFE9"/>
            </a:solidFill>
            <a:prstDash val="solid"/>
          </a:ln>
        </p:spPr>
        <p:txBody>
          <a:bodyPr/>
          <a:lstStyle/>
          <a:p>
            <a:endParaRPr lang="en-IN"/>
          </a:p>
        </p:txBody>
      </p:sp>
      <p:sp>
        <p:nvSpPr>
          <p:cNvPr id="24" name="Text 22"/>
          <p:cNvSpPr/>
          <p:nvPr/>
        </p:nvSpPr>
        <p:spPr>
          <a:xfrm>
            <a:off x="2743200" y="5166360"/>
            <a:ext cx="8961120"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HCPCS target encoding (mean log-allowed per code)</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Specialty bucket (coarse grouping)</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Place-of-service bucket</a:t>
            </a:r>
            <a:endParaRPr lang="en-US" sz="1200" dirty="0"/>
          </a:p>
        </p:txBody>
      </p:sp>
      <p:sp>
        <p:nvSpPr>
          <p:cNvPr id="25" name="Shape 23"/>
          <p:cNvSpPr/>
          <p:nvPr/>
        </p:nvSpPr>
        <p:spPr>
          <a:xfrm>
            <a:off x="457200" y="6217920"/>
            <a:ext cx="11292840" cy="201168"/>
          </a:xfrm>
          <a:prstGeom prst="rect">
            <a:avLst/>
          </a:prstGeom>
          <a:solidFill>
            <a:srgbClr val="E0613E"/>
          </a:solidFill>
          <a:ln/>
        </p:spPr>
        <p:txBody>
          <a:bodyPr/>
          <a:lstStyle/>
          <a:p>
            <a:endParaRPr lang="en-IN"/>
          </a:p>
        </p:txBody>
      </p:sp>
      <p:sp>
        <p:nvSpPr>
          <p:cNvPr id="26" name="Text 24"/>
          <p:cNvSpPr/>
          <p:nvPr/>
        </p:nvSpPr>
        <p:spPr>
          <a:xfrm>
            <a:off x="548640" y="6199632"/>
            <a:ext cx="11155680" cy="228600"/>
          </a:xfrm>
          <a:prstGeom prst="rect">
            <a:avLst/>
          </a:prstGeom>
          <a:noFill/>
          <a:ln/>
        </p:spPr>
        <p:txBody>
          <a:bodyPr wrap="square" lIns="0" tIns="0" rIns="0" bIns="0" rtlCol="0" anchor="ctr"/>
          <a:lstStyle/>
          <a:p>
            <a:pPr marL="0" indent="0">
              <a:buNone/>
            </a:pPr>
            <a:r>
              <a:rPr lang="en-US" sz="1000" b="1" i="1" dirty="0">
                <a:solidFill>
                  <a:srgbClr val="FFFFFF"/>
                </a:solidFill>
                <a:latin typeface="Calibri" pitchFamily="34" charset="0"/>
                <a:ea typeface="Calibri" pitchFamily="34" charset="-122"/>
                <a:cs typeface="Calibri" pitchFamily="34" charset="-120"/>
              </a:rPr>
              <a:t>Deliberately dropped: Avg_Sbmtd_Chrg  —  most predictive feature, but patients don't know it at inference time. See ablation on slide 14.</a:t>
            </a:r>
            <a:endParaRPr lang="en-US" sz="1000" dirty="0"/>
          </a:p>
        </p:txBody>
      </p:sp>
      <p:sp>
        <p:nvSpPr>
          <p:cNvPr id="27" name="Shape 25"/>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28" name="Text 26"/>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29" name="Text 27"/>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RAJ VEDIRE</a:t>
            </a:r>
            <a:endParaRPr lang="en-US" sz="900" dirty="0"/>
          </a:p>
        </p:txBody>
      </p:sp>
      <p:sp>
        <p:nvSpPr>
          <p:cNvPr id="30" name="Text 28"/>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11 / 19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08  ·  THREE MODEL FAMILIES</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Linear baseline  ·  tree ensemble  ·  deep learning</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Shape 3"/>
          <p:cNvSpPr/>
          <p:nvPr/>
        </p:nvSpPr>
        <p:spPr>
          <a:xfrm>
            <a:off x="457200" y="1600200"/>
            <a:ext cx="3657600" cy="4663440"/>
          </a:xfrm>
          <a:prstGeom prst="rect">
            <a:avLst/>
          </a:prstGeom>
          <a:solidFill>
            <a:srgbClr val="FFFFFF"/>
          </a:solidFill>
          <a:ln w="9525">
            <a:solidFill>
              <a:srgbClr val="D5DFE9"/>
            </a:solidFill>
            <a:prstDash val="solid"/>
          </a:ln>
        </p:spPr>
        <p:txBody>
          <a:bodyPr/>
          <a:lstStyle/>
          <a:p>
            <a:endParaRPr lang="en-IN"/>
          </a:p>
        </p:txBody>
      </p:sp>
      <p:sp>
        <p:nvSpPr>
          <p:cNvPr id="6" name="Shape 4"/>
          <p:cNvSpPr/>
          <p:nvPr/>
        </p:nvSpPr>
        <p:spPr>
          <a:xfrm>
            <a:off x="457200" y="1600200"/>
            <a:ext cx="3657600" cy="777240"/>
          </a:xfrm>
          <a:prstGeom prst="rect">
            <a:avLst/>
          </a:prstGeom>
          <a:solidFill>
            <a:srgbClr val="065A82"/>
          </a:solidFill>
          <a:ln/>
        </p:spPr>
        <p:txBody>
          <a:bodyPr/>
          <a:lstStyle/>
          <a:p>
            <a:endParaRPr lang="en-IN"/>
          </a:p>
        </p:txBody>
      </p:sp>
      <p:sp>
        <p:nvSpPr>
          <p:cNvPr id="7" name="Text 5"/>
          <p:cNvSpPr/>
          <p:nvPr/>
        </p:nvSpPr>
        <p:spPr>
          <a:xfrm>
            <a:off x="685800" y="1691640"/>
            <a:ext cx="54864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685800" y="1920240"/>
            <a:ext cx="32004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LINEAR BASELINE</a:t>
            </a:r>
            <a:endParaRPr lang="en-US" sz="1800" dirty="0"/>
          </a:p>
        </p:txBody>
      </p:sp>
      <p:sp>
        <p:nvSpPr>
          <p:cNvPr id="9" name="Text 7"/>
          <p:cNvSpPr/>
          <p:nvPr/>
        </p:nvSpPr>
        <p:spPr>
          <a:xfrm>
            <a:off x="685800" y="2514600"/>
            <a:ext cx="3200400" cy="274320"/>
          </a:xfrm>
          <a:prstGeom prst="rect">
            <a:avLst/>
          </a:prstGeom>
          <a:noFill/>
          <a:ln/>
        </p:spPr>
        <p:txBody>
          <a:bodyPr wrap="square" lIns="0" tIns="0" rIns="0" bIns="0" rtlCol="0" anchor="ctr"/>
          <a:lstStyle/>
          <a:p>
            <a:pPr marL="0" indent="0">
              <a:buNone/>
            </a:pPr>
            <a:r>
              <a:rPr lang="en-US" sz="1200" b="1" i="1" dirty="0">
                <a:solidFill>
                  <a:srgbClr val="065A82"/>
                </a:solidFill>
                <a:latin typeface="Calibri" pitchFamily="34" charset="0"/>
                <a:ea typeface="Calibri" pitchFamily="34" charset="-122"/>
                <a:cs typeface="Calibri" pitchFamily="34" charset="-120"/>
              </a:rPr>
              <a:t>Generalized Linear Model (SGD)</a:t>
            </a:r>
            <a:endParaRPr lang="en-US" sz="1200" dirty="0"/>
          </a:p>
        </p:txBody>
      </p:sp>
      <p:sp>
        <p:nvSpPr>
          <p:cNvPr id="10" name="Text 8"/>
          <p:cNvSpPr/>
          <p:nvPr/>
        </p:nvSpPr>
        <p:spPr>
          <a:xfrm>
            <a:off x="685800" y="2880360"/>
            <a:ext cx="3200400" cy="137160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Sanity check + inference.</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Coefficients are directly interpretable - which features push allowed amount up or down.</a:t>
            </a:r>
            <a:endParaRPr lang="en-US" sz="1200" dirty="0"/>
          </a:p>
        </p:txBody>
      </p:sp>
      <p:sp>
        <p:nvSpPr>
          <p:cNvPr id="11" name="Text 9"/>
          <p:cNvSpPr/>
          <p:nvPr/>
        </p:nvSpPr>
        <p:spPr>
          <a:xfrm>
            <a:off x="685800" y="4297680"/>
            <a:ext cx="3200400" cy="274320"/>
          </a:xfrm>
          <a:prstGeom prst="rect">
            <a:avLst/>
          </a:prstGeom>
          <a:noFill/>
          <a:ln/>
        </p:spPr>
        <p:txBody>
          <a:bodyPr wrap="square" lIns="0" tIns="0" rIns="0" bIns="0" rtlCol="0" anchor="ctr"/>
          <a:lstStyle/>
          <a:p>
            <a:pPr marL="0" indent="0">
              <a:buNone/>
            </a:pPr>
            <a:r>
              <a:rPr lang="en-US" sz="1000" b="1" kern="0" spc="200" dirty="0">
                <a:solidFill>
                  <a:srgbClr val="6B7280"/>
                </a:solidFill>
                <a:latin typeface="Calibri" pitchFamily="34" charset="0"/>
                <a:ea typeface="Calibri" pitchFamily="34" charset="-122"/>
                <a:cs typeface="Calibri" pitchFamily="34" charset="-120"/>
              </a:rPr>
              <a:t>Specifics</a:t>
            </a:r>
            <a:endParaRPr lang="en-US" sz="1000" dirty="0"/>
          </a:p>
        </p:txBody>
      </p:sp>
      <p:sp>
        <p:nvSpPr>
          <p:cNvPr id="12" name="Text 10"/>
          <p:cNvSpPr/>
          <p:nvPr/>
        </p:nvSpPr>
        <p:spPr>
          <a:xfrm>
            <a:off x="685800" y="4617720"/>
            <a:ext cx="3200400" cy="15544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Scikit-learn SGDRegressor</a:t>
            </a:r>
            <a:endParaRPr lang="en-US" sz="1100" dirty="0"/>
          </a:p>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Gaussian link, identity output</a:t>
            </a:r>
            <a:endParaRPr lang="en-US" sz="1100" dirty="0"/>
          </a:p>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L2 regularization</a:t>
            </a:r>
            <a:endParaRPr lang="en-US" sz="1100" dirty="0"/>
          </a:p>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80/20 split, random_state=42</a:t>
            </a:r>
            <a:endParaRPr lang="en-US" sz="1100" dirty="0"/>
          </a:p>
        </p:txBody>
      </p:sp>
      <p:sp>
        <p:nvSpPr>
          <p:cNvPr id="13" name="Shape 11"/>
          <p:cNvSpPr/>
          <p:nvPr/>
        </p:nvSpPr>
        <p:spPr>
          <a:xfrm>
            <a:off x="4297680" y="1600200"/>
            <a:ext cx="3657600" cy="4663440"/>
          </a:xfrm>
          <a:prstGeom prst="rect">
            <a:avLst/>
          </a:prstGeom>
          <a:solidFill>
            <a:srgbClr val="FFFFFF"/>
          </a:solidFill>
          <a:ln w="9525">
            <a:solidFill>
              <a:srgbClr val="D5DFE9"/>
            </a:solidFill>
            <a:prstDash val="solid"/>
          </a:ln>
        </p:spPr>
        <p:txBody>
          <a:bodyPr/>
          <a:lstStyle/>
          <a:p>
            <a:endParaRPr lang="en-IN"/>
          </a:p>
        </p:txBody>
      </p:sp>
      <p:sp>
        <p:nvSpPr>
          <p:cNvPr id="14" name="Shape 12"/>
          <p:cNvSpPr/>
          <p:nvPr/>
        </p:nvSpPr>
        <p:spPr>
          <a:xfrm>
            <a:off x="4297680" y="1600200"/>
            <a:ext cx="3657600" cy="777240"/>
          </a:xfrm>
          <a:prstGeom prst="rect">
            <a:avLst/>
          </a:prstGeom>
          <a:solidFill>
            <a:srgbClr val="1C7293"/>
          </a:solidFill>
          <a:ln/>
        </p:spPr>
        <p:txBody>
          <a:bodyPr/>
          <a:lstStyle/>
          <a:p>
            <a:endParaRPr lang="en-IN"/>
          </a:p>
        </p:txBody>
      </p:sp>
      <p:sp>
        <p:nvSpPr>
          <p:cNvPr id="15" name="Text 13"/>
          <p:cNvSpPr/>
          <p:nvPr/>
        </p:nvSpPr>
        <p:spPr>
          <a:xfrm>
            <a:off x="4526280" y="1691640"/>
            <a:ext cx="54864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4526280" y="1920240"/>
            <a:ext cx="32004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TREE ENSEMBLE</a:t>
            </a:r>
            <a:endParaRPr lang="en-US" sz="1800" dirty="0"/>
          </a:p>
        </p:txBody>
      </p:sp>
      <p:sp>
        <p:nvSpPr>
          <p:cNvPr id="17" name="Text 15"/>
          <p:cNvSpPr/>
          <p:nvPr/>
        </p:nvSpPr>
        <p:spPr>
          <a:xfrm>
            <a:off x="4526280" y="2514600"/>
            <a:ext cx="3200400" cy="274320"/>
          </a:xfrm>
          <a:prstGeom prst="rect">
            <a:avLst/>
          </a:prstGeom>
          <a:noFill/>
          <a:ln/>
        </p:spPr>
        <p:txBody>
          <a:bodyPr wrap="square" lIns="0" tIns="0" rIns="0" bIns="0" rtlCol="0" anchor="ctr"/>
          <a:lstStyle/>
          <a:p>
            <a:pPr marL="0" indent="0">
              <a:buNone/>
            </a:pPr>
            <a:r>
              <a:rPr lang="en-US" sz="1200" b="1" i="1" dirty="0">
                <a:solidFill>
                  <a:srgbClr val="065A82"/>
                </a:solidFill>
                <a:latin typeface="Calibri" pitchFamily="34" charset="0"/>
                <a:ea typeface="Calibri" pitchFamily="34" charset="-122"/>
                <a:cs typeface="Calibri" pitchFamily="34" charset="-120"/>
              </a:rPr>
              <a:t>Gradient-boosted decision trees</a:t>
            </a:r>
            <a:endParaRPr lang="en-US" sz="1200" dirty="0"/>
          </a:p>
        </p:txBody>
      </p:sp>
      <p:sp>
        <p:nvSpPr>
          <p:cNvPr id="18" name="Text 16"/>
          <p:cNvSpPr/>
          <p:nvPr/>
        </p:nvSpPr>
        <p:spPr>
          <a:xfrm>
            <a:off x="4526280" y="2880360"/>
            <a:ext cx="3200400" cy="137160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Handles nonlinearity and interactions.</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State-of-the-art for tabular data with mixed categorical and numeric features.</a:t>
            </a:r>
            <a:endParaRPr lang="en-US" sz="1200" dirty="0"/>
          </a:p>
        </p:txBody>
      </p:sp>
      <p:sp>
        <p:nvSpPr>
          <p:cNvPr id="19" name="Text 17"/>
          <p:cNvSpPr/>
          <p:nvPr/>
        </p:nvSpPr>
        <p:spPr>
          <a:xfrm>
            <a:off x="4526280" y="4297680"/>
            <a:ext cx="3200400" cy="274320"/>
          </a:xfrm>
          <a:prstGeom prst="rect">
            <a:avLst/>
          </a:prstGeom>
          <a:noFill/>
          <a:ln/>
        </p:spPr>
        <p:txBody>
          <a:bodyPr wrap="square" lIns="0" tIns="0" rIns="0" bIns="0" rtlCol="0" anchor="ctr"/>
          <a:lstStyle/>
          <a:p>
            <a:pPr marL="0" indent="0">
              <a:buNone/>
            </a:pPr>
            <a:r>
              <a:rPr lang="en-US" sz="1000" b="1" kern="0" spc="200" dirty="0">
                <a:solidFill>
                  <a:srgbClr val="6B7280"/>
                </a:solidFill>
                <a:latin typeface="Calibri" pitchFamily="34" charset="0"/>
                <a:ea typeface="Calibri" pitchFamily="34" charset="-122"/>
                <a:cs typeface="Calibri" pitchFamily="34" charset="-120"/>
              </a:rPr>
              <a:t>Specifics</a:t>
            </a:r>
            <a:endParaRPr lang="en-US" sz="1000" dirty="0"/>
          </a:p>
        </p:txBody>
      </p:sp>
      <p:sp>
        <p:nvSpPr>
          <p:cNvPr id="20" name="Text 18"/>
          <p:cNvSpPr/>
          <p:nvPr/>
        </p:nvSpPr>
        <p:spPr>
          <a:xfrm>
            <a:off x="4526280" y="4617720"/>
            <a:ext cx="3200400" cy="15544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LightGBM (production)</a:t>
            </a:r>
            <a:endParaRPr lang="en-US" sz="1100" dirty="0"/>
          </a:p>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XGBoost (fallback)</a:t>
            </a:r>
            <a:endParaRPr lang="en-US" sz="1100" dirty="0"/>
          </a:p>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CatBoost (ensemble diversity)</a:t>
            </a:r>
            <a:endParaRPr lang="en-US" sz="1100" dirty="0"/>
          </a:p>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RF for interpretability check</a:t>
            </a:r>
            <a:endParaRPr lang="en-US" sz="1100" dirty="0"/>
          </a:p>
        </p:txBody>
      </p:sp>
      <p:sp>
        <p:nvSpPr>
          <p:cNvPr id="21" name="Shape 19"/>
          <p:cNvSpPr/>
          <p:nvPr/>
        </p:nvSpPr>
        <p:spPr>
          <a:xfrm>
            <a:off x="8138160" y="1600200"/>
            <a:ext cx="3657600" cy="4663440"/>
          </a:xfrm>
          <a:prstGeom prst="rect">
            <a:avLst/>
          </a:prstGeom>
          <a:solidFill>
            <a:srgbClr val="FFFFFF"/>
          </a:solidFill>
          <a:ln w="9525">
            <a:solidFill>
              <a:srgbClr val="D5DFE9"/>
            </a:solidFill>
            <a:prstDash val="solid"/>
          </a:ln>
        </p:spPr>
        <p:txBody>
          <a:bodyPr/>
          <a:lstStyle/>
          <a:p>
            <a:endParaRPr lang="en-IN"/>
          </a:p>
        </p:txBody>
      </p:sp>
      <p:sp>
        <p:nvSpPr>
          <p:cNvPr id="22" name="Shape 20"/>
          <p:cNvSpPr/>
          <p:nvPr/>
        </p:nvSpPr>
        <p:spPr>
          <a:xfrm>
            <a:off x="8138160" y="1600200"/>
            <a:ext cx="3657600" cy="777240"/>
          </a:xfrm>
          <a:prstGeom prst="rect">
            <a:avLst/>
          </a:prstGeom>
          <a:solidFill>
            <a:srgbClr val="2AB7CA"/>
          </a:solidFill>
          <a:ln/>
        </p:spPr>
        <p:txBody>
          <a:bodyPr/>
          <a:lstStyle/>
          <a:p>
            <a:endParaRPr lang="en-IN"/>
          </a:p>
        </p:txBody>
      </p:sp>
      <p:sp>
        <p:nvSpPr>
          <p:cNvPr id="23" name="Text 21"/>
          <p:cNvSpPr/>
          <p:nvPr/>
        </p:nvSpPr>
        <p:spPr>
          <a:xfrm>
            <a:off x="8366760" y="1691640"/>
            <a:ext cx="548640" cy="27432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03</a:t>
            </a:r>
            <a:endParaRPr lang="en-US" sz="1100" dirty="0"/>
          </a:p>
        </p:txBody>
      </p:sp>
      <p:sp>
        <p:nvSpPr>
          <p:cNvPr id="24" name="Text 22"/>
          <p:cNvSpPr/>
          <p:nvPr/>
        </p:nvSpPr>
        <p:spPr>
          <a:xfrm>
            <a:off x="8366760" y="1920240"/>
            <a:ext cx="32004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DEEP LEARNING</a:t>
            </a:r>
            <a:endParaRPr lang="en-US" sz="1800" dirty="0"/>
          </a:p>
        </p:txBody>
      </p:sp>
      <p:sp>
        <p:nvSpPr>
          <p:cNvPr id="25" name="Text 23"/>
          <p:cNvSpPr/>
          <p:nvPr/>
        </p:nvSpPr>
        <p:spPr>
          <a:xfrm>
            <a:off x="8366760" y="2514600"/>
            <a:ext cx="3200400" cy="274320"/>
          </a:xfrm>
          <a:prstGeom prst="rect">
            <a:avLst/>
          </a:prstGeom>
          <a:noFill/>
          <a:ln/>
        </p:spPr>
        <p:txBody>
          <a:bodyPr wrap="square" lIns="0" tIns="0" rIns="0" bIns="0" rtlCol="0" anchor="ctr"/>
          <a:lstStyle/>
          <a:p>
            <a:pPr marL="0" indent="0">
              <a:buNone/>
            </a:pPr>
            <a:r>
              <a:rPr lang="en-US" sz="1200" b="1" i="1" dirty="0">
                <a:solidFill>
                  <a:srgbClr val="065A82"/>
                </a:solidFill>
                <a:latin typeface="Calibri" pitchFamily="34" charset="0"/>
                <a:ea typeface="Calibri" pitchFamily="34" charset="-122"/>
                <a:cs typeface="Calibri" pitchFamily="34" charset="-120"/>
              </a:rPr>
              <a:t>LSTM for temporal forecasting</a:t>
            </a:r>
            <a:endParaRPr lang="en-US" sz="1200" dirty="0"/>
          </a:p>
        </p:txBody>
      </p:sp>
      <p:sp>
        <p:nvSpPr>
          <p:cNvPr id="26" name="Text 24"/>
          <p:cNvSpPr/>
          <p:nvPr/>
        </p:nvSpPr>
        <p:spPr>
          <a:xfrm>
            <a:off x="8366760" y="2880360"/>
            <a:ext cx="3200400" cy="137160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Project allowed amounts forward through 2026.</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Tree models can't extrapolate - LSTM fits the temporal structure per (specialty, state, procedure).</a:t>
            </a:r>
            <a:endParaRPr lang="en-US" sz="1200" dirty="0"/>
          </a:p>
        </p:txBody>
      </p:sp>
      <p:sp>
        <p:nvSpPr>
          <p:cNvPr id="27" name="Text 25"/>
          <p:cNvSpPr/>
          <p:nvPr/>
        </p:nvSpPr>
        <p:spPr>
          <a:xfrm>
            <a:off x="8366760" y="4297680"/>
            <a:ext cx="3200400" cy="274320"/>
          </a:xfrm>
          <a:prstGeom prst="rect">
            <a:avLst/>
          </a:prstGeom>
          <a:noFill/>
          <a:ln/>
        </p:spPr>
        <p:txBody>
          <a:bodyPr wrap="square" lIns="0" tIns="0" rIns="0" bIns="0" rtlCol="0" anchor="ctr"/>
          <a:lstStyle/>
          <a:p>
            <a:pPr marL="0" indent="0">
              <a:buNone/>
            </a:pPr>
            <a:r>
              <a:rPr lang="en-US" sz="1000" b="1" kern="0" spc="200" dirty="0">
                <a:solidFill>
                  <a:srgbClr val="6B7280"/>
                </a:solidFill>
                <a:latin typeface="Calibri" pitchFamily="34" charset="0"/>
                <a:ea typeface="Calibri" pitchFamily="34" charset="-122"/>
                <a:cs typeface="Calibri" pitchFamily="34" charset="-120"/>
              </a:rPr>
              <a:t>Specifics</a:t>
            </a:r>
            <a:endParaRPr lang="en-US" sz="1000" dirty="0"/>
          </a:p>
        </p:txBody>
      </p:sp>
      <p:sp>
        <p:nvSpPr>
          <p:cNvPr id="28" name="Text 26"/>
          <p:cNvSpPr/>
          <p:nvPr/>
        </p:nvSpPr>
        <p:spPr>
          <a:xfrm>
            <a:off x="8366760" y="4617720"/>
            <a:ext cx="3200400" cy="15544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PyTorch 2-layer LSTM</a:t>
            </a:r>
            <a:endParaRPr lang="en-US" sz="1100" dirty="0"/>
          </a:p>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Hidden dim 64, dropout 0.2</a:t>
            </a:r>
            <a:endParaRPr lang="en-US" sz="1100" dirty="0"/>
          </a:p>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Autoregressive rollout</a:t>
            </a:r>
            <a:endParaRPr lang="en-US" sz="1100" dirty="0"/>
          </a:p>
          <a:p>
            <a:pPr marL="342900" indent="-342900">
              <a:spcAft>
                <a:spcPts val="300"/>
              </a:spcAft>
              <a:buSzPct val="100000"/>
              <a:buChar char="▪"/>
            </a:pPr>
            <a:r>
              <a:rPr lang="en-US" sz="1100" dirty="0">
                <a:solidFill>
                  <a:srgbClr val="1A1A1A"/>
                </a:solidFill>
                <a:latin typeface="Calibri" pitchFamily="34" charset="0"/>
                <a:ea typeface="Calibri" pitchFamily="34" charset="-122"/>
                <a:cs typeface="Calibri" pitchFamily="34" charset="-120"/>
              </a:rPr>
              <a:t>A100 GPU, ~5 min train</a:t>
            </a:r>
            <a:endParaRPr lang="en-US" sz="1100" dirty="0"/>
          </a:p>
        </p:txBody>
      </p:sp>
      <p:sp>
        <p:nvSpPr>
          <p:cNvPr id="29" name="Shape 27"/>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30" name="Text 28"/>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31" name="Text 29"/>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RAJ VEDIRE</a:t>
            </a:r>
            <a:endParaRPr lang="en-US" sz="900" dirty="0"/>
          </a:p>
        </p:txBody>
      </p:sp>
      <p:sp>
        <p:nvSpPr>
          <p:cNvPr id="32" name="Text 30"/>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12 / 19</a:t>
            </a:r>
            <a:endParaRPr lang="en-US" sz="900" dirty="0"/>
          </a:p>
        </p:txBody>
      </p:sp>
      <p:sp>
        <p:nvSpPr>
          <p:cNvPr id="33" name="Rectangle 32">
            <a:extLst>
              <a:ext uri="{FF2B5EF4-FFF2-40B4-BE49-F238E27FC236}">
                <a16:creationId xmlns:a16="http://schemas.microsoft.com/office/drawing/2014/main" id="{1016889D-384D-A492-6344-29741D1AD0F3}"/>
              </a:ext>
            </a:extLst>
          </p:cNvPr>
          <p:cNvSpPr/>
          <p:nvPr/>
        </p:nvSpPr>
        <p:spPr>
          <a:xfrm>
            <a:off x="289102" y="1480474"/>
            <a:ext cx="7810213" cy="4881382"/>
          </a:xfrm>
          <a:prstGeom prst="rect">
            <a:avLst/>
          </a:prstGeom>
          <a:noFill/>
          <a:ln>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09  ·  STAGE 1 RESULTS</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LightGBM wins. No-charge variant ships to production.</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92840" cy="3127248"/>
        </p:xfrm>
        <a:graphic>
          <a:graphicData uri="http://schemas.openxmlformats.org/drawingml/2006/table">
            <a:tbl>
              <a:tblPr/>
              <a:tblGrid>
                <a:gridCol w="2743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4160520">
                  <a:extLst>
                    <a:ext uri="{9D8B030D-6E8A-4147-A177-3AD203B41FA5}">
                      <a16:colId xmlns:a16="http://schemas.microsoft.com/office/drawing/2014/main" val="20005"/>
                    </a:ext>
                  </a:extLst>
                </a:gridCol>
              </a:tblGrid>
              <a:tr h="347472">
                <a:tc>
                  <a:txBody>
                    <a:bodyPr/>
                    <a:lstStyle/>
                    <a:p>
                      <a:pPr marL="0" indent="0" algn="l">
                        <a:buNone/>
                      </a:pPr>
                      <a:r>
                        <a:rPr lang="en-US" sz="1050" b="1" kern="0" spc="100"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tc>
                  <a:txBody>
                    <a:bodyP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FAMILY</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tc>
                  <a:txBody>
                    <a:bodyP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TEST MAE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tc>
                  <a:txBody>
                    <a:bodyP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TEST RMSE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tc>
                  <a:txBody>
                    <a:bodyP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TEST R²</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tc>
                  <a:txBody>
                    <a:bodyPr/>
                    <a:lstStyle/>
                    <a:p>
                      <a:pPr marL="0" indent="0" algn="l">
                        <a:buNone/>
                      </a:pPr>
                      <a:r>
                        <a:rPr lang="en-US" sz="1050" b="1" kern="0" spc="100" dirty="0">
                          <a:solidFill>
                            <a:srgbClr val="FFFFFF"/>
                          </a:solidFill>
                          <a:latin typeface="Calibri" pitchFamily="34" charset="0"/>
                          <a:ea typeface="Calibri" pitchFamily="34" charset="-122"/>
                          <a:cs typeface="Calibri" pitchFamily="34" charset="-120"/>
                        </a:rPr>
                        <a:t>NOTES</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0D2C54"/>
                    </a:solidFill>
                  </a:tcPr>
                </a:tc>
                <a:extLst>
                  <a:ext uri="{0D108BD9-81ED-4DB2-BD59-A6C34878D82A}">
                    <a16:rowId xmlns:a16="http://schemas.microsoft.com/office/drawing/2014/main" val="10000"/>
                  </a:ext>
                </a:extLst>
              </a:tr>
              <a:tr h="347472">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GLM (SGD baseline)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Linear</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$ 28.14</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$ 48.72</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0.7210</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interpretable coefs; under-fits interactions</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extLst>
                  <a:ext uri="{0D108BD9-81ED-4DB2-BD59-A6C34878D82A}">
                    <a16:rowId xmlns:a16="http://schemas.microsoft.com/office/drawing/2014/main" val="10001"/>
                  </a:ext>
                </a:extLst>
              </a:tr>
              <a:tr h="347472">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Tree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$ 9.91</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$ 19.80</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0.8987</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strong but slower than boosting</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CatBoost V2 (no-charge)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Tree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$ 12.10</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$ 22.34</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0.8849</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kept for ensemble diversity</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extLst>
                  <a:ext uri="{0D108BD9-81ED-4DB2-BD59-A6C34878D82A}">
                    <a16:rowId xmlns:a16="http://schemas.microsoft.com/office/drawing/2014/main" val="10003"/>
                  </a:ext>
                </a:extLst>
              </a:tr>
              <a:tr h="347472">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XGBoost V2 (no-charge)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Tree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$ 8.66</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$ 17.19</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0.9319</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strong fallback option</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050" b="1" dirty="0">
                          <a:solidFill>
                            <a:srgbClr val="0D2C54"/>
                          </a:solidFill>
                          <a:latin typeface="Calibri" pitchFamily="34" charset="0"/>
                          <a:ea typeface="Calibri" pitchFamily="34" charset="-122"/>
                          <a:cs typeface="Calibri" pitchFamily="34" charset="-120"/>
                        </a:rPr>
                        <a:t>LightGBM V2 (no-charge)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4D6"/>
                    </a:solidFill>
                  </a:tcPr>
                </a:tc>
                <a:tc>
                  <a:txBody>
                    <a:bodyPr/>
                    <a:lstStyle/>
                    <a:p>
                      <a:pPr marL="0" indent="0" algn="l">
                        <a:buNone/>
                      </a:pPr>
                      <a:r>
                        <a:rPr lang="en-US" sz="1050" dirty="0">
                          <a:solidFill>
                            <a:srgbClr val="0D2C54"/>
                          </a:solidFill>
                          <a:latin typeface="Calibri" pitchFamily="34" charset="0"/>
                          <a:ea typeface="Calibri" pitchFamily="34" charset="-122"/>
                          <a:cs typeface="Calibri" pitchFamily="34" charset="-120"/>
                        </a:rPr>
                        <a:t>Tree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4D6"/>
                    </a:solidFill>
                  </a:tcPr>
                </a:tc>
                <a:tc>
                  <a:txBody>
                    <a:bodyPr/>
                    <a:lstStyle/>
                    <a:p>
                      <a:pPr marL="0" indent="0" algn="ctr">
                        <a:buNone/>
                      </a:pPr>
                      <a:r>
                        <a:rPr lang="en-US" sz="1050" dirty="0">
                          <a:solidFill>
                            <a:srgbClr val="0D2C54"/>
                          </a:solidFill>
                          <a:latin typeface="Calibri" pitchFamily="34" charset="0"/>
                          <a:ea typeface="Calibri" pitchFamily="34" charset="-122"/>
                          <a:cs typeface="Calibri" pitchFamily="34" charset="-120"/>
                        </a:rPr>
                        <a:t>$ 7.70</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4D6"/>
                    </a:solidFill>
                  </a:tcPr>
                </a:tc>
                <a:tc>
                  <a:txBody>
                    <a:bodyPr/>
                    <a:lstStyle/>
                    <a:p>
                      <a:pPr marL="0" indent="0" algn="ctr">
                        <a:buNone/>
                      </a:pPr>
                      <a:r>
                        <a:rPr lang="en-US" sz="1050" dirty="0">
                          <a:solidFill>
                            <a:srgbClr val="0D2C54"/>
                          </a:solidFill>
                          <a:latin typeface="Calibri" pitchFamily="34" charset="0"/>
                          <a:ea typeface="Calibri" pitchFamily="34" charset="-122"/>
                          <a:cs typeface="Calibri" pitchFamily="34" charset="-120"/>
                        </a:rPr>
                        <a:t>$ 15.77</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4D6"/>
                    </a:solidFill>
                  </a:tcPr>
                </a:tc>
                <a:tc>
                  <a:txBody>
                    <a:bodyPr/>
                    <a:lstStyle/>
                    <a:p>
                      <a:pPr marL="0" indent="0" algn="ctr">
                        <a:buNone/>
                      </a:pPr>
                      <a:r>
                        <a:rPr lang="en-US" sz="1050" b="1" dirty="0">
                          <a:solidFill>
                            <a:srgbClr val="0D2C54"/>
                          </a:solidFill>
                          <a:latin typeface="Calibri" pitchFamily="34" charset="0"/>
                          <a:ea typeface="Calibri" pitchFamily="34" charset="-122"/>
                          <a:cs typeface="Calibri" pitchFamily="34" charset="-120"/>
                        </a:rPr>
                        <a:t>0.9428</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4D6"/>
                    </a:solidFill>
                  </a:tcPr>
                </a:tc>
                <a:tc>
                  <a:txBody>
                    <a:bodyPr/>
                    <a:lstStyle/>
                    <a:p>
                      <a:pPr marL="0" indent="0" algn="l">
                        <a:buNone/>
                      </a:pPr>
                      <a:r>
                        <a:rPr lang="en-US" sz="1050" dirty="0">
                          <a:solidFill>
                            <a:srgbClr val="0D2C54"/>
                          </a:solidFill>
                          <a:latin typeface="Calibri" pitchFamily="34" charset="0"/>
                          <a:ea typeface="Calibri" pitchFamily="34" charset="-122"/>
                          <a:cs typeface="Calibri" pitchFamily="34" charset="-120"/>
                        </a:rPr>
                        <a:t>PRODUCTION - serves the live API</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4D6"/>
                    </a:solidFill>
                  </a:tcPr>
                </a:tc>
                <a:extLst>
                  <a:ext uri="{0D108BD9-81ED-4DB2-BD59-A6C34878D82A}">
                    <a16:rowId xmlns:a16="http://schemas.microsoft.com/office/drawing/2014/main" val="10005"/>
                  </a:ext>
                </a:extLst>
              </a:tr>
              <a:tr h="347472">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LightGBM V2 (full, w/ charge)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Tree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$ 6.73</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$ 13.59</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0.9575</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best metric, but needs charge at inference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Ensemble V2 (5-fold stack)</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Tree</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$ 6.68</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$ 13.50</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0.9580</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+0.0005 over LGB, 13h compute - not deployed</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4F9FC"/>
                    </a:solidFill>
                  </a:tcPr>
                </a:tc>
                <a:extLst>
                  <a:ext uri="{0D108BD9-81ED-4DB2-BD59-A6C34878D82A}">
                    <a16:rowId xmlns:a16="http://schemas.microsoft.com/office/drawing/2014/main" val="10007"/>
                  </a:ext>
                </a:extLst>
              </a:tr>
              <a:tr h="347472">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LSTM V1 (forecast track)</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Deep</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$ 9.82</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$ 18.91</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0.8689</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autoregressive 2024-2026 projection</a:t>
                      </a:r>
                      <a:endParaRPr lang="en-US" sz="1050" dirty="0">
                        <a:latin typeface="Calibri" charset="0"/>
                        <a:ea typeface="Calibri" charset="0"/>
                        <a:cs typeface="Calibri" charset="0"/>
                      </a:endParaRPr>
                    </a:p>
                  </a:txBody>
                  <a:tcPr marL="76200" marR="76200" marT="76200" marB="76200" anchor="ctr">
                    <a:lnL w="6350" cap="flat" cmpd="sng" algn="ctr">
                      <a:solidFill>
                        <a:srgbClr val="D5DFE9"/>
                      </a:solidFill>
                      <a:prstDash val="solid"/>
                      <a:round/>
                      <a:headEnd type="none" w="med" len="med"/>
                      <a:tailEnd type="none" w="med" len="med"/>
                    </a:lnL>
                    <a:lnR w="6350" cap="flat" cmpd="sng" algn="ctr">
                      <a:solidFill>
                        <a:srgbClr val="D5DFE9"/>
                      </a:solidFill>
                      <a:prstDash val="solid"/>
                      <a:round/>
                      <a:headEnd type="none" w="med" len="med"/>
                      <a:tailEnd type="none" w="med" len="med"/>
                    </a:lnR>
                    <a:lnT w="6350" cap="flat" cmpd="sng" algn="ctr">
                      <a:solidFill>
                        <a:srgbClr val="D5DFE9"/>
                      </a:solidFill>
                      <a:prstDash val="solid"/>
                      <a:round/>
                      <a:headEnd type="none" w="med" len="med"/>
                      <a:tailEnd type="none" w="med" len="med"/>
                    </a:lnT>
                    <a:lnB w="6350" cap="flat" cmpd="sng" algn="ctr">
                      <a:solidFill>
                        <a:srgbClr val="D5DFE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hape 3"/>
          <p:cNvSpPr/>
          <p:nvPr/>
        </p:nvSpPr>
        <p:spPr>
          <a:xfrm>
            <a:off x="457200" y="5166360"/>
            <a:ext cx="11292840" cy="1097280"/>
          </a:xfrm>
          <a:prstGeom prst="rect">
            <a:avLst/>
          </a:prstGeom>
          <a:solidFill>
            <a:srgbClr val="F4F9FC"/>
          </a:solidFill>
          <a:ln w="12700">
            <a:solidFill>
              <a:srgbClr val="2AB7CA"/>
            </a:solidFill>
            <a:prstDash val="solid"/>
          </a:ln>
        </p:spPr>
        <p:txBody>
          <a:bodyPr/>
          <a:lstStyle/>
          <a:p>
            <a:endParaRPr lang="en-IN"/>
          </a:p>
        </p:txBody>
      </p:sp>
      <p:sp>
        <p:nvSpPr>
          <p:cNvPr id="7" name="Shape 4"/>
          <p:cNvSpPr/>
          <p:nvPr/>
        </p:nvSpPr>
        <p:spPr>
          <a:xfrm>
            <a:off x="457200" y="5166360"/>
            <a:ext cx="109728" cy="1097280"/>
          </a:xfrm>
          <a:prstGeom prst="rect">
            <a:avLst/>
          </a:prstGeom>
          <a:solidFill>
            <a:srgbClr val="2AB7CA"/>
          </a:solidFill>
          <a:ln/>
        </p:spPr>
        <p:txBody>
          <a:bodyPr/>
          <a:lstStyle/>
          <a:p>
            <a:endParaRPr lang="en-IN"/>
          </a:p>
        </p:txBody>
      </p:sp>
      <p:sp>
        <p:nvSpPr>
          <p:cNvPr id="8" name="Text 5"/>
          <p:cNvSpPr/>
          <p:nvPr/>
        </p:nvSpPr>
        <p:spPr>
          <a:xfrm>
            <a:off x="685800" y="5257800"/>
            <a:ext cx="10789920" cy="274320"/>
          </a:xfrm>
          <a:prstGeom prst="rect">
            <a:avLst/>
          </a:prstGeom>
          <a:noFill/>
          <a:ln/>
        </p:spPr>
        <p:txBody>
          <a:bodyPr wrap="square" lIns="0" tIns="0" rIns="0" bIns="0" rtlCol="0" anchor="ctr"/>
          <a:lstStyle/>
          <a:p>
            <a:pPr marL="0" indent="0">
              <a:buNone/>
            </a:pPr>
            <a:r>
              <a:rPr lang="en-US" sz="1100" b="1" kern="0" spc="200" dirty="0">
                <a:solidFill>
                  <a:srgbClr val="065A82"/>
                </a:solidFill>
                <a:latin typeface="Calibri" pitchFamily="34" charset="0"/>
                <a:ea typeface="Calibri" pitchFamily="34" charset="-122"/>
                <a:cs typeface="Calibri" pitchFamily="34" charset="-120"/>
              </a:rPr>
              <a:t>WHY LIGHTGBM NO-CHARGE SHIPS</a:t>
            </a:r>
            <a:endParaRPr lang="en-US" sz="1100" dirty="0"/>
          </a:p>
        </p:txBody>
      </p:sp>
      <p:sp>
        <p:nvSpPr>
          <p:cNvPr id="9" name="Text 6"/>
          <p:cNvSpPr/>
          <p:nvPr/>
        </p:nvSpPr>
        <p:spPr>
          <a:xfrm>
            <a:off x="685800" y="5532120"/>
            <a:ext cx="10789920" cy="7315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The full variant (with submitted charge) scores 0.9575 - but patients don't know the submitted charge before care. The no-charge variant gives up 0.015 R² to be genuinely deployable. The ensemble adds 0.0005 over LightGBM alone - not worth 13 hours of training + 3x serving complexity.</a:t>
            </a:r>
            <a:endParaRPr lang="en-US" sz="1200" dirty="0"/>
          </a:p>
        </p:txBody>
      </p:sp>
      <p:sp>
        <p:nvSpPr>
          <p:cNvPr id="10" name="Shape 7"/>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11" name="Text 8"/>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12" name="Text 9"/>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RAJ VEDIRE</a:t>
            </a:r>
            <a:endParaRPr lang="en-US" sz="900" dirty="0"/>
          </a:p>
        </p:txBody>
      </p:sp>
      <p:sp>
        <p:nvSpPr>
          <p:cNvPr id="13" name="Text 10"/>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13 / 19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10  ·  FEATURE IMPORTANCE + ABLATION</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The model learns procedure pricing, not charge-echoing</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Text 3"/>
          <p:cNvSpPr/>
          <p:nvPr/>
        </p:nvSpPr>
        <p:spPr>
          <a:xfrm>
            <a:off x="457200" y="1600200"/>
            <a:ext cx="6400800" cy="320040"/>
          </a:xfrm>
          <a:prstGeom prst="rect">
            <a:avLst/>
          </a:prstGeom>
          <a:noFill/>
          <a:ln/>
        </p:spPr>
        <p:txBody>
          <a:bodyPr wrap="square"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Top features by gain - LightGBM no-charge</a:t>
            </a:r>
            <a:endParaRPr lang="en-US" sz="1300" dirty="0"/>
          </a:p>
        </p:txBody>
      </p:sp>
      <p:sp>
        <p:nvSpPr>
          <p:cNvPr id="6" name="Text 4"/>
          <p:cNvSpPr/>
          <p:nvPr/>
        </p:nvSpPr>
        <p:spPr>
          <a:xfrm>
            <a:off x="457200" y="2011680"/>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HCPCS_Cd_idx</a:t>
            </a:r>
            <a:endParaRPr lang="en-US" sz="1100" dirty="0"/>
          </a:p>
        </p:txBody>
      </p:sp>
      <p:sp>
        <p:nvSpPr>
          <p:cNvPr id="7" name="Shape 5"/>
          <p:cNvSpPr/>
          <p:nvPr/>
        </p:nvSpPr>
        <p:spPr>
          <a:xfrm>
            <a:off x="2331720" y="2084832"/>
            <a:ext cx="4114800" cy="182880"/>
          </a:xfrm>
          <a:prstGeom prst="rect">
            <a:avLst/>
          </a:prstGeom>
          <a:solidFill>
            <a:srgbClr val="0D2C54"/>
          </a:solidFill>
          <a:ln/>
        </p:spPr>
        <p:txBody>
          <a:bodyPr/>
          <a:lstStyle/>
          <a:p>
            <a:endParaRPr lang="en-IN"/>
          </a:p>
        </p:txBody>
      </p:sp>
      <p:sp>
        <p:nvSpPr>
          <p:cNvPr id="8" name="Text 6"/>
          <p:cNvSpPr/>
          <p:nvPr/>
        </p:nvSpPr>
        <p:spPr>
          <a:xfrm>
            <a:off x="6537960" y="2011680"/>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31.1%</a:t>
            </a:r>
            <a:endParaRPr lang="en-US" sz="1000" dirty="0"/>
          </a:p>
        </p:txBody>
      </p:sp>
      <p:sp>
        <p:nvSpPr>
          <p:cNvPr id="9" name="Text 7"/>
          <p:cNvSpPr/>
          <p:nvPr/>
        </p:nvSpPr>
        <p:spPr>
          <a:xfrm>
            <a:off x="457200" y="2350008"/>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hcpcs_target_enc</a:t>
            </a:r>
            <a:endParaRPr lang="en-US" sz="1100" dirty="0"/>
          </a:p>
        </p:txBody>
      </p:sp>
      <p:sp>
        <p:nvSpPr>
          <p:cNvPr id="10" name="Shape 8"/>
          <p:cNvSpPr/>
          <p:nvPr/>
        </p:nvSpPr>
        <p:spPr>
          <a:xfrm>
            <a:off x="2331720" y="2423160"/>
            <a:ext cx="2884329" cy="182880"/>
          </a:xfrm>
          <a:prstGeom prst="rect">
            <a:avLst/>
          </a:prstGeom>
          <a:solidFill>
            <a:srgbClr val="0D2C54"/>
          </a:solidFill>
          <a:ln/>
        </p:spPr>
        <p:txBody>
          <a:bodyPr/>
          <a:lstStyle/>
          <a:p>
            <a:endParaRPr lang="en-IN"/>
          </a:p>
        </p:txBody>
      </p:sp>
      <p:sp>
        <p:nvSpPr>
          <p:cNvPr id="11" name="Text 9"/>
          <p:cNvSpPr/>
          <p:nvPr/>
        </p:nvSpPr>
        <p:spPr>
          <a:xfrm>
            <a:off x="5307489" y="2350008"/>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21.8%</a:t>
            </a:r>
            <a:endParaRPr lang="en-US" sz="1000" dirty="0"/>
          </a:p>
        </p:txBody>
      </p:sp>
      <p:sp>
        <p:nvSpPr>
          <p:cNvPr id="12" name="Text 10"/>
          <p:cNvSpPr/>
          <p:nvPr/>
        </p:nvSpPr>
        <p:spPr>
          <a:xfrm>
            <a:off x="457200" y="2688336"/>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Avg_Sbmtd_Chrg*</a:t>
            </a:r>
            <a:endParaRPr lang="en-US" sz="1100" dirty="0"/>
          </a:p>
        </p:txBody>
      </p:sp>
      <p:sp>
        <p:nvSpPr>
          <p:cNvPr id="13" name="Shape 11"/>
          <p:cNvSpPr/>
          <p:nvPr/>
        </p:nvSpPr>
        <p:spPr>
          <a:xfrm>
            <a:off x="2331720" y="2761488"/>
            <a:ext cx="1918476" cy="182880"/>
          </a:xfrm>
          <a:prstGeom prst="rect">
            <a:avLst/>
          </a:prstGeom>
          <a:solidFill>
            <a:srgbClr val="CCCCCC"/>
          </a:solidFill>
          <a:ln/>
        </p:spPr>
        <p:txBody>
          <a:bodyPr/>
          <a:lstStyle/>
          <a:p>
            <a:endParaRPr lang="en-IN"/>
          </a:p>
        </p:txBody>
      </p:sp>
      <p:sp>
        <p:nvSpPr>
          <p:cNvPr id="14" name="Text 12"/>
          <p:cNvSpPr/>
          <p:nvPr/>
        </p:nvSpPr>
        <p:spPr>
          <a:xfrm>
            <a:off x="4341636" y="2688336"/>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14.5%</a:t>
            </a:r>
            <a:endParaRPr lang="en-US" sz="1000" dirty="0"/>
          </a:p>
        </p:txBody>
      </p:sp>
      <p:sp>
        <p:nvSpPr>
          <p:cNvPr id="15" name="Text 13"/>
          <p:cNvSpPr/>
          <p:nvPr/>
        </p:nvSpPr>
        <p:spPr>
          <a:xfrm>
            <a:off x="457200" y="3026664"/>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specialty_bucket</a:t>
            </a:r>
            <a:endParaRPr lang="en-US" sz="1100" dirty="0"/>
          </a:p>
        </p:txBody>
      </p:sp>
      <p:sp>
        <p:nvSpPr>
          <p:cNvPr id="16" name="Shape 14"/>
          <p:cNvSpPr/>
          <p:nvPr/>
        </p:nvSpPr>
        <p:spPr>
          <a:xfrm>
            <a:off x="2331720" y="3099816"/>
            <a:ext cx="1084931" cy="182880"/>
          </a:xfrm>
          <a:prstGeom prst="rect">
            <a:avLst/>
          </a:prstGeom>
          <a:solidFill>
            <a:srgbClr val="065A82"/>
          </a:solidFill>
          <a:ln/>
        </p:spPr>
        <p:txBody>
          <a:bodyPr/>
          <a:lstStyle/>
          <a:p>
            <a:endParaRPr lang="en-IN"/>
          </a:p>
        </p:txBody>
      </p:sp>
      <p:sp>
        <p:nvSpPr>
          <p:cNvPr id="17" name="Text 15"/>
          <p:cNvSpPr/>
          <p:nvPr/>
        </p:nvSpPr>
        <p:spPr>
          <a:xfrm>
            <a:off x="3508091" y="3026664"/>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8.2%</a:t>
            </a:r>
            <a:endParaRPr lang="en-US" sz="1000" dirty="0"/>
          </a:p>
        </p:txBody>
      </p:sp>
      <p:sp>
        <p:nvSpPr>
          <p:cNvPr id="18" name="Text 16"/>
          <p:cNvSpPr/>
          <p:nvPr/>
        </p:nvSpPr>
        <p:spPr>
          <a:xfrm>
            <a:off x="457200" y="3364992"/>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Rndrng_Prvdr_Type_idx</a:t>
            </a:r>
            <a:endParaRPr lang="en-US" sz="1100" dirty="0"/>
          </a:p>
        </p:txBody>
      </p:sp>
      <p:sp>
        <p:nvSpPr>
          <p:cNvPr id="19" name="Shape 17"/>
          <p:cNvSpPr/>
          <p:nvPr/>
        </p:nvSpPr>
        <p:spPr>
          <a:xfrm>
            <a:off x="2331720" y="3438144"/>
            <a:ext cx="807083" cy="182880"/>
          </a:xfrm>
          <a:prstGeom prst="rect">
            <a:avLst/>
          </a:prstGeom>
          <a:solidFill>
            <a:srgbClr val="065A82"/>
          </a:solidFill>
          <a:ln/>
        </p:spPr>
        <p:txBody>
          <a:bodyPr/>
          <a:lstStyle/>
          <a:p>
            <a:endParaRPr lang="en-IN"/>
          </a:p>
        </p:txBody>
      </p:sp>
      <p:sp>
        <p:nvSpPr>
          <p:cNvPr id="20" name="Text 18"/>
          <p:cNvSpPr/>
          <p:nvPr/>
        </p:nvSpPr>
        <p:spPr>
          <a:xfrm>
            <a:off x="3230243" y="3364992"/>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6.1%</a:t>
            </a:r>
            <a:endParaRPr lang="en-US" sz="1000" dirty="0"/>
          </a:p>
        </p:txBody>
      </p:sp>
      <p:sp>
        <p:nvSpPr>
          <p:cNvPr id="21" name="Text 19"/>
          <p:cNvSpPr/>
          <p:nvPr/>
        </p:nvSpPr>
        <p:spPr>
          <a:xfrm>
            <a:off x="457200" y="3703320"/>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log_srvcs</a:t>
            </a:r>
            <a:endParaRPr lang="en-US" sz="1100" dirty="0"/>
          </a:p>
        </p:txBody>
      </p:sp>
      <p:sp>
        <p:nvSpPr>
          <p:cNvPr id="22" name="Shape 20"/>
          <p:cNvSpPr/>
          <p:nvPr/>
        </p:nvSpPr>
        <p:spPr>
          <a:xfrm>
            <a:off x="2331720" y="3776472"/>
            <a:ext cx="727698" cy="182880"/>
          </a:xfrm>
          <a:prstGeom prst="rect">
            <a:avLst/>
          </a:prstGeom>
          <a:solidFill>
            <a:srgbClr val="2AB7CA"/>
          </a:solidFill>
          <a:ln/>
        </p:spPr>
        <p:txBody>
          <a:bodyPr/>
          <a:lstStyle/>
          <a:p>
            <a:endParaRPr lang="en-IN"/>
          </a:p>
        </p:txBody>
      </p:sp>
      <p:sp>
        <p:nvSpPr>
          <p:cNvPr id="23" name="Text 21"/>
          <p:cNvSpPr/>
          <p:nvPr/>
        </p:nvSpPr>
        <p:spPr>
          <a:xfrm>
            <a:off x="3150858" y="3703320"/>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5.5%</a:t>
            </a:r>
            <a:endParaRPr lang="en-US" sz="1000" dirty="0"/>
          </a:p>
        </p:txBody>
      </p:sp>
      <p:sp>
        <p:nvSpPr>
          <p:cNvPr id="24" name="Text 22"/>
          <p:cNvSpPr/>
          <p:nvPr/>
        </p:nvSpPr>
        <p:spPr>
          <a:xfrm>
            <a:off x="457200" y="4041648"/>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Bene_Avg_Risk_Scre</a:t>
            </a:r>
            <a:endParaRPr lang="en-US" sz="1100" dirty="0"/>
          </a:p>
        </p:txBody>
      </p:sp>
      <p:sp>
        <p:nvSpPr>
          <p:cNvPr id="25" name="Shape 23"/>
          <p:cNvSpPr/>
          <p:nvPr/>
        </p:nvSpPr>
        <p:spPr>
          <a:xfrm>
            <a:off x="2331720" y="4114800"/>
            <a:ext cx="582158" cy="182880"/>
          </a:xfrm>
          <a:prstGeom prst="rect">
            <a:avLst/>
          </a:prstGeom>
          <a:solidFill>
            <a:srgbClr val="2AB7CA"/>
          </a:solidFill>
          <a:ln/>
        </p:spPr>
        <p:txBody>
          <a:bodyPr/>
          <a:lstStyle/>
          <a:p>
            <a:endParaRPr lang="en-IN"/>
          </a:p>
        </p:txBody>
      </p:sp>
      <p:sp>
        <p:nvSpPr>
          <p:cNvPr id="26" name="Text 24"/>
          <p:cNvSpPr/>
          <p:nvPr/>
        </p:nvSpPr>
        <p:spPr>
          <a:xfrm>
            <a:off x="3005318" y="4041648"/>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4.4%</a:t>
            </a:r>
            <a:endParaRPr lang="en-US" sz="1000" dirty="0"/>
          </a:p>
        </p:txBody>
      </p:sp>
      <p:sp>
        <p:nvSpPr>
          <p:cNvPr id="27" name="Text 25"/>
          <p:cNvSpPr/>
          <p:nvPr/>
        </p:nvSpPr>
        <p:spPr>
          <a:xfrm>
            <a:off x="457200" y="4379976"/>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State_Abrvtn_idx</a:t>
            </a:r>
            <a:endParaRPr lang="en-US" sz="1100" dirty="0"/>
          </a:p>
        </p:txBody>
      </p:sp>
      <p:sp>
        <p:nvSpPr>
          <p:cNvPr id="28" name="Shape 26"/>
          <p:cNvSpPr/>
          <p:nvPr/>
        </p:nvSpPr>
        <p:spPr>
          <a:xfrm>
            <a:off x="2331720" y="4453128"/>
            <a:ext cx="476311" cy="182880"/>
          </a:xfrm>
          <a:prstGeom prst="rect">
            <a:avLst/>
          </a:prstGeom>
          <a:solidFill>
            <a:srgbClr val="2AB7CA"/>
          </a:solidFill>
          <a:ln/>
        </p:spPr>
        <p:txBody>
          <a:bodyPr/>
          <a:lstStyle/>
          <a:p>
            <a:endParaRPr lang="en-IN"/>
          </a:p>
        </p:txBody>
      </p:sp>
      <p:sp>
        <p:nvSpPr>
          <p:cNvPr id="29" name="Text 27"/>
          <p:cNvSpPr/>
          <p:nvPr/>
        </p:nvSpPr>
        <p:spPr>
          <a:xfrm>
            <a:off x="2899471" y="4379976"/>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3.6%</a:t>
            </a:r>
            <a:endParaRPr lang="en-US" sz="1000" dirty="0"/>
          </a:p>
        </p:txBody>
      </p:sp>
      <p:sp>
        <p:nvSpPr>
          <p:cNvPr id="30" name="Text 28"/>
          <p:cNvSpPr/>
          <p:nvPr/>
        </p:nvSpPr>
        <p:spPr>
          <a:xfrm>
            <a:off x="457200" y="4718304"/>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place_of_srvc_flag</a:t>
            </a:r>
            <a:endParaRPr lang="en-US" sz="1100" dirty="0"/>
          </a:p>
        </p:txBody>
      </p:sp>
      <p:sp>
        <p:nvSpPr>
          <p:cNvPr id="31" name="Shape 29"/>
          <p:cNvSpPr/>
          <p:nvPr/>
        </p:nvSpPr>
        <p:spPr>
          <a:xfrm>
            <a:off x="2331720" y="4791456"/>
            <a:ext cx="370464" cy="182880"/>
          </a:xfrm>
          <a:prstGeom prst="rect">
            <a:avLst/>
          </a:prstGeom>
          <a:solidFill>
            <a:srgbClr val="2AB7CA"/>
          </a:solidFill>
          <a:ln/>
        </p:spPr>
        <p:txBody>
          <a:bodyPr/>
          <a:lstStyle/>
          <a:p>
            <a:endParaRPr lang="en-IN"/>
          </a:p>
        </p:txBody>
      </p:sp>
      <p:sp>
        <p:nvSpPr>
          <p:cNvPr id="32" name="Text 30"/>
          <p:cNvSpPr/>
          <p:nvPr/>
        </p:nvSpPr>
        <p:spPr>
          <a:xfrm>
            <a:off x="2793624" y="4718304"/>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2.8%</a:t>
            </a:r>
            <a:endParaRPr lang="en-US" sz="1000" dirty="0"/>
          </a:p>
        </p:txBody>
      </p:sp>
      <p:sp>
        <p:nvSpPr>
          <p:cNvPr id="33" name="Text 31"/>
          <p:cNvSpPr/>
          <p:nvPr/>
        </p:nvSpPr>
        <p:spPr>
          <a:xfrm>
            <a:off x="457200" y="5056632"/>
            <a:ext cx="1828800" cy="301752"/>
          </a:xfrm>
          <a:prstGeom prst="rect">
            <a:avLst/>
          </a:prstGeom>
          <a:noFill/>
          <a:ln/>
        </p:spPr>
        <p:txBody>
          <a:bodyPr wrap="square" lIns="0" tIns="0" rIns="0" bIns="0"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log_benes</a:t>
            </a:r>
            <a:endParaRPr lang="en-US" sz="1100" dirty="0"/>
          </a:p>
        </p:txBody>
      </p:sp>
      <p:sp>
        <p:nvSpPr>
          <p:cNvPr id="34" name="Shape 32"/>
          <p:cNvSpPr/>
          <p:nvPr/>
        </p:nvSpPr>
        <p:spPr>
          <a:xfrm>
            <a:off x="2331720" y="5129784"/>
            <a:ext cx="264617" cy="182880"/>
          </a:xfrm>
          <a:prstGeom prst="rect">
            <a:avLst/>
          </a:prstGeom>
          <a:solidFill>
            <a:srgbClr val="2AB7CA"/>
          </a:solidFill>
          <a:ln/>
        </p:spPr>
        <p:txBody>
          <a:bodyPr/>
          <a:lstStyle/>
          <a:p>
            <a:endParaRPr lang="en-IN"/>
          </a:p>
        </p:txBody>
      </p:sp>
      <p:sp>
        <p:nvSpPr>
          <p:cNvPr id="35" name="Text 33"/>
          <p:cNvSpPr/>
          <p:nvPr/>
        </p:nvSpPr>
        <p:spPr>
          <a:xfrm>
            <a:off x="2687777" y="5056632"/>
            <a:ext cx="640080" cy="301752"/>
          </a:xfrm>
          <a:prstGeom prst="rect">
            <a:avLst/>
          </a:prstGeom>
          <a:noFill/>
          <a:ln/>
        </p:spPr>
        <p:txBody>
          <a:bodyPr wrap="square" lIns="0" tIns="0" rIns="0" bIns="0" rtlCol="0" anchor="ctr"/>
          <a:lstStyle/>
          <a:p>
            <a:pPr marL="0" indent="0">
              <a:buNone/>
            </a:pPr>
            <a:r>
              <a:rPr lang="en-US" sz="1000" b="1" dirty="0">
                <a:solidFill>
                  <a:srgbClr val="0D2C54"/>
                </a:solidFill>
                <a:latin typeface="Calibri" pitchFamily="34" charset="0"/>
                <a:ea typeface="Calibri" pitchFamily="34" charset="-122"/>
                <a:cs typeface="Calibri" pitchFamily="34" charset="-120"/>
              </a:rPr>
              <a:t>2.0%</a:t>
            </a:r>
            <a:endParaRPr lang="en-US" sz="1000" dirty="0"/>
          </a:p>
        </p:txBody>
      </p:sp>
      <p:sp>
        <p:nvSpPr>
          <p:cNvPr id="36" name="Text 34"/>
          <p:cNvSpPr/>
          <p:nvPr/>
        </p:nvSpPr>
        <p:spPr>
          <a:xfrm>
            <a:off x="457200" y="5577840"/>
            <a:ext cx="658368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 Avg_Sbmtd_Chrg is NOT in the production model - shown greyed for reference.</a:t>
            </a:r>
            <a:endParaRPr lang="en-US" sz="900" dirty="0"/>
          </a:p>
        </p:txBody>
      </p:sp>
      <p:sp>
        <p:nvSpPr>
          <p:cNvPr id="37" name="Shape 35"/>
          <p:cNvSpPr/>
          <p:nvPr/>
        </p:nvSpPr>
        <p:spPr>
          <a:xfrm>
            <a:off x="7315200" y="1600200"/>
            <a:ext cx="4434840" cy="4663440"/>
          </a:xfrm>
          <a:prstGeom prst="rect">
            <a:avLst/>
          </a:prstGeom>
          <a:solidFill>
            <a:srgbClr val="F4F9FC"/>
          </a:solidFill>
          <a:ln w="12700">
            <a:solidFill>
              <a:srgbClr val="D5DFE9"/>
            </a:solidFill>
            <a:prstDash val="solid"/>
          </a:ln>
        </p:spPr>
        <p:txBody>
          <a:bodyPr/>
          <a:lstStyle/>
          <a:p>
            <a:endParaRPr lang="en-IN"/>
          </a:p>
        </p:txBody>
      </p:sp>
      <p:sp>
        <p:nvSpPr>
          <p:cNvPr id="38" name="Text 36"/>
          <p:cNvSpPr/>
          <p:nvPr/>
        </p:nvSpPr>
        <p:spPr>
          <a:xfrm>
            <a:off x="7498080" y="1737360"/>
            <a:ext cx="4114800" cy="320040"/>
          </a:xfrm>
          <a:prstGeom prst="rect">
            <a:avLst/>
          </a:prstGeom>
          <a:noFill/>
          <a:ln/>
        </p:spPr>
        <p:txBody>
          <a:bodyPr wrap="square" rtlCol="0" anchor="ctr"/>
          <a:lstStyle/>
          <a:p>
            <a:pPr marL="0" indent="0">
              <a:buNone/>
            </a:pPr>
            <a:r>
              <a:rPr lang="en-US" sz="1100" b="1" kern="0" spc="200" dirty="0">
                <a:solidFill>
                  <a:srgbClr val="E0613E"/>
                </a:solidFill>
                <a:latin typeface="Calibri" pitchFamily="34" charset="0"/>
                <a:ea typeface="Calibri" pitchFamily="34" charset="-122"/>
                <a:cs typeface="Calibri" pitchFamily="34" charset="-120"/>
              </a:rPr>
              <a:t>THE NO-CHARGE ABLATION</a:t>
            </a:r>
            <a:endParaRPr lang="en-US" sz="1100" dirty="0"/>
          </a:p>
        </p:txBody>
      </p:sp>
      <p:sp>
        <p:nvSpPr>
          <p:cNvPr id="39" name="Text 37"/>
          <p:cNvSpPr/>
          <p:nvPr/>
        </p:nvSpPr>
        <p:spPr>
          <a:xfrm>
            <a:off x="7498080" y="2103120"/>
            <a:ext cx="4114800" cy="502920"/>
          </a:xfrm>
          <a:prstGeom prst="rect">
            <a:avLst/>
          </a:prstGeom>
          <a:noFill/>
          <a:ln/>
        </p:spPr>
        <p:txBody>
          <a:bodyPr wrap="square" rtlCol="0" anchor="t"/>
          <a:lstStyle/>
          <a:p>
            <a:pPr marL="0" indent="0">
              <a:buNone/>
            </a:pPr>
            <a:r>
              <a:rPr lang="en-US" sz="1600" b="1" dirty="0">
                <a:solidFill>
                  <a:srgbClr val="0D2C54"/>
                </a:solidFill>
                <a:latin typeface="Cambria" pitchFamily="34" charset="0"/>
                <a:ea typeface="Cambria" pitchFamily="34" charset="-122"/>
                <a:cs typeface="Cambria" pitchFamily="34" charset="-120"/>
              </a:rPr>
              <a:t>Dropping submitted charge costs 0.015 R²</a:t>
            </a:r>
            <a:endParaRPr lang="en-US" sz="1600" dirty="0"/>
          </a:p>
        </p:txBody>
      </p:sp>
      <p:sp>
        <p:nvSpPr>
          <p:cNvPr id="40" name="Text 38"/>
          <p:cNvSpPr/>
          <p:nvPr/>
        </p:nvSpPr>
        <p:spPr>
          <a:xfrm>
            <a:off x="7498080" y="2834640"/>
            <a:ext cx="1920240" cy="274320"/>
          </a:xfrm>
          <a:prstGeom prst="rect">
            <a:avLst/>
          </a:prstGeom>
          <a:noFill/>
          <a:ln/>
        </p:spPr>
        <p:txBody>
          <a:bodyPr wrap="square" rtlCol="0" anchor="ctr"/>
          <a:lstStyle/>
          <a:p>
            <a:pPr marL="0" indent="0">
              <a:buNone/>
            </a:pPr>
            <a:r>
              <a:rPr lang="en-US" sz="900" b="1" kern="0" spc="100" dirty="0">
                <a:solidFill>
                  <a:srgbClr val="6B7280"/>
                </a:solidFill>
                <a:latin typeface="Calibri" pitchFamily="34" charset="0"/>
                <a:ea typeface="Calibri" pitchFamily="34" charset="-122"/>
                <a:cs typeface="Calibri" pitchFamily="34" charset="-120"/>
              </a:rPr>
              <a:t>WITH CHARGE</a:t>
            </a:r>
            <a:endParaRPr lang="en-US" sz="900" dirty="0"/>
          </a:p>
        </p:txBody>
      </p:sp>
      <p:sp>
        <p:nvSpPr>
          <p:cNvPr id="41" name="Text 39"/>
          <p:cNvSpPr/>
          <p:nvPr/>
        </p:nvSpPr>
        <p:spPr>
          <a:xfrm>
            <a:off x="7498080" y="3108960"/>
            <a:ext cx="1920240" cy="502920"/>
          </a:xfrm>
          <a:prstGeom prst="rect">
            <a:avLst/>
          </a:prstGeom>
          <a:noFill/>
          <a:ln/>
        </p:spPr>
        <p:txBody>
          <a:bodyPr wrap="square" rtlCol="0" anchor="ctr"/>
          <a:lstStyle/>
          <a:p>
            <a:pPr marL="0" indent="0">
              <a:buNone/>
            </a:pPr>
            <a:r>
              <a:rPr lang="en-US" sz="2800" b="1" dirty="0">
                <a:solidFill>
                  <a:srgbClr val="6B7280"/>
                </a:solidFill>
                <a:latin typeface="Cambria" pitchFamily="34" charset="0"/>
                <a:ea typeface="Cambria" pitchFamily="34" charset="-122"/>
                <a:cs typeface="Cambria" pitchFamily="34" charset="-120"/>
              </a:rPr>
              <a:t>0.9575</a:t>
            </a:r>
            <a:endParaRPr lang="en-US" sz="2800" dirty="0"/>
          </a:p>
        </p:txBody>
      </p:sp>
      <p:sp>
        <p:nvSpPr>
          <p:cNvPr id="42" name="Text 40"/>
          <p:cNvSpPr/>
          <p:nvPr/>
        </p:nvSpPr>
        <p:spPr>
          <a:xfrm>
            <a:off x="9464040" y="3108960"/>
            <a:ext cx="365760" cy="502920"/>
          </a:xfrm>
          <a:prstGeom prst="rect">
            <a:avLst/>
          </a:prstGeom>
          <a:noFill/>
          <a:ln/>
        </p:spPr>
        <p:txBody>
          <a:bodyPr wrap="square" rtlCol="0" anchor="ctr"/>
          <a:lstStyle/>
          <a:p>
            <a:pPr marL="0" indent="0" algn="ctr">
              <a:buNone/>
            </a:pPr>
            <a:r>
              <a:rPr lang="en-US" sz="3000" b="1" dirty="0">
                <a:solidFill>
                  <a:srgbClr val="2AB7CA"/>
                </a:solidFill>
                <a:latin typeface="Cambria" pitchFamily="34" charset="0"/>
                <a:ea typeface="Cambria" pitchFamily="34" charset="-122"/>
                <a:cs typeface="Cambria" pitchFamily="34" charset="-120"/>
              </a:rPr>
              <a:t>→</a:t>
            </a:r>
            <a:endParaRPr lang="en-US" sz="3000" dirty="0"/>
          </a:p>
        </p:txBody>
      </p:sp>
      <p:sp>
        <p:nvSpPr>
          <p:cNvPr id="43" name="Text 41"/>
          <p:cNvSpPr/>
          <p:nvPr/>
        </p:nvSpPr>
        <p:spPr>
          <a:xfrm>
            <a:off x="9829800" y="2834640"/>
            <a:ext cx="1920240" cy="274320"/>
          </a:xfrm>
          <a:prstGeom prst="rect">
            <a:avLst/>
          </a:prstGeom>
          <a:noFill/>
          <a:ln/>
        </p:spPr>
        <p:txBody>
          <a:bodyPr wrap="square" rtlCol="0" anchor="ctr"/>
          <a:lstStyle/>
          <a:p>
            <a:pPr marL="0" indent="0">
              <a:buNone/>
            </a:pPr>
            <a:r>
              <a:rPr lang="en-US" sz="900" b="1" kern="0" spc="100" dirty="0">
                <a:solidFill>
                  <a:srgbClr val="0D2C54"/>
                </a:solidFill>
                <a:latin typeface="Calibri" pitchFamily="34" charset="0"/>
                <a:ea typeface="Calibri" pitchFamily="34" charset="-122"/>
                <a:cs typeface="Calibri" pitchFamily="34" charset="-120"/>
              </a:rPr>
              <a:t>NO CHARGE (prod)</a:t>
            </a:r>
            <a:endParaRPr lang="en-US" sz="900" dirty="0"/>
          </a:p>
        </p:txBody>
      </p:sp>
      <p:sp>
        <p:nvSpPr>
          <p:cNvPr id="44" name="Text 42"/>
          <p:cNvSpPr/>
          <p:nvPr/>
        </p:nvSpPr>
        <p:spPr>
          <a:xfrm>
            <a:off x="9829800" y="3108960"/>
            <a:ext cx="1920240" cy="502920"/>
          </a:xfrm>
          <a:prstGeom prst="rect">
            <a:avLst/>
          </a:prstGeom>
          <a:noFill/>
          <a:ln/>
        </p:spPr>
        <p:txBody>
          <a:bodyPr wrap="square" rtlCol="0" anchor="ctr"/>
          <a:lstStyle/>
          <a:p>
            <a:pPr marL="0" indent="0">
              <a:buNone/>
            </a:pPr>
            <a:r>
              <a:rPr lang="en-US" sz="2800" b="1" dirty="0">
                <a:solidFill>
                  <a:srgbClr val="0D2C54"/>
                </a:solidFill>
                <a:latin typeface="Cambria" pitchFamily="34" charset="0"/>
                <a:ea typeface="Cambria" pitchFamily="34" charset="-122"/>
                <a:cs typeface="Cambria" pitchFamily="34" charset="-120"/>
              </a:rPr>
              <a:t>0.9428</a:t>
            </a:r>
            <a:endParaRPr lang="en-US" sz="2800" dirty="0"/>
          </a:p>
        </p:txBody>
      </p:sp>
      <p:sp>
        <p:nvSpPr>
          <p:cNvPr id="45" name="Shape 43"/>
          <p:cNvSpPr/>
          <p:nvPr/>
        </p:nvSpPr>
        <p:spPr>
          <a:xfrm>
            <a:off x="7498080" y="3840480"/>
            <a:ext cx="4114800" cy="0"/>
          </a:xfrm>
          <a:prstGeom prst="line">
            <a:avLst/>
          </a:prstGeom>
          <a:noFill/>
          <a:ln w="9525">
            <a:solidFill>
              <a:srgbClr val="D5DFE9"/>
            </a:solidFill>
            <a:prstDash val="solid"/>
          </a:ln>
        </p:spPr>
        <p:txBody>
          <a:bodyPr/>
          <a:lstStyle/>
          <a:p>
            <a:endParaRPr lang="en-IN"/>
          </a:p>
        </p:txBody>
      </p:sp>
      <p:sp>
        <p:nvSpPr>
          <p:cNvPr id="46" name="Text 44"/>
          <p:cNvSpPr/>
          <p:nvPr/>
        </p:nvSpPr>
        <p:spPr>
          <a:xfrm>
            <a:off x="7498080" y="3977640"/>
            <a:ext cx="4114800" cy="274320"/>
          </a:xfrm>
          <a:prstGeom prst="rect">
            <a:avLst/>
          </a:prstGeom>
          <a:noFill/>
          <a:ln/>
        </p:spPr>
        <p:txBody>
          <a:bodyPr wrap="square" rtlCol="0" anchor="ctr"/>
          <a:lstStyle/>
          <a:p>
            <a:pPr marL="0" indent="0">
              <a:buNone/>
            </a:pPr>
            <a:r>
              <a:rPr lang="en-US" sz="1100" b="1" kern="0" spc="200" dirty="0">
                <a:solidFill>
                  <a:srgbClr val="065A82"/>
                </a:solidFill>
                <a:latin typeface="Calibri" pitchFamily="34" charset="0"/>
                <a:ea typeface="Calibri" pitchFamily="34" charset="-122"/>
                <a:cs typeface="Calibri" pitchFamily="34" charset="-120"/>
              </a:rPr>
              <a:t>Why we paid the 0.015</a:t>
            </a:r>
            <a:endParaRPr lang="en-US" sz="1100" dirty="0"/>
          </a:p>
        </p:txBody>
      </p:sp>
      <p:sp>
        <p:nvSpPr>
          <p:cNvPr id="47" name="Text 45"/>
          <p:cNvSpPr/>
          <p:nvPr/>
        </p:nvSpPr>
        <p:spPr>
          <a:xfrm>
            <a:off x="7498080" y="4251960"/>
            <a:ext cx="4114800" cy="1828800"/>
          </a:xfrm>
          <a:prstGeom prst="rect">
            <a:avLst/>
          </a:prstGeom>
          <a:noFill/>
          <a:ln/>
        </p:spPr>
        <p:txBody>
          <a:bodyPr wrap="square" rtlCol="0" anchor="t"/>
          <a:lstStyle/>
          <a:p>
            <a:pPr marL="0" indent="0">
              <a:buNone/>
            </a:pPr>
            <a:r>
              <a:rPr lang="en-US" sz="1100" dirty="0">
                <a:solidFill>
                  <a:srgbClr val="1A1A1A"/>
                </a:solidFill>
                <a:latin typeface="Calibri" pitchFamily="34" charset="0"/>
                <a:ea typeface="Calibri" pitchFamily="34" charset="-122"/>
                <a:cs typeface="Calibri" pitchFamily="34" charset="-120"/>
              </a:rPr>
              <a:t>In V1, submitted charge was 62% of feature importance - the model was nearly just echoing charge back. </a:t>
            </a:r>
            <a:r>
              <a:rPr lang="en-US" sz="1100" b="1" dirty="0">
                <a:solidFill>
                  <a:srgbClr val="0D2C54"/>
                </a:solidFill>
                <a:latin typeface="Calibri" pitchFamily="34" charset="0"/>
                <a:ea typeface="Calibri" pitchFamily="34" charset="-122"/>
                <a:cs typeface="Calibri" pitchFamily="34" charset="-120"/>
              </a:rPr>
              <a:t>The no-charge model is genuinely predictive</a:t>
            </a:r>
            <a:r>
              <a:rPr lang="en-US" sz="1100" dirty="0">
                <a:solidFill>
                  <a:srgbClr val="1A1A1A"/>
                </a:solidFill>
                <a:latin typeface="Calibri" pitchFamily="34" charset="0"/>
                <a:ea typeface="Calibri" pitchFamily="34" charset="-122"/>
                <a:cs typeface="Calibri" pitchFamily="34" charset="-120"/>
              </a:rPr>
              <a:t> and can be deployed at an API endpoint where the charge is not known in advance.</a:t>
            </a:r>
            <a:endParaRPr lang="en-US" sz="1100" dirty="0"/>
          </a:p>
        </p:txBody>
      </p:sp>
      <p:sp>
        <p:nvSpPr>
          <p:cNvPr id="48" name="Shape 46"/>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49" name="Text 47"/>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50" name="Text 48"/>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RAJ VEDIRE</a:t>
            </a:r>
            <a:endParaRPr lang="en-US" sz="900" dirty="0"/>
          </a:p>
        </p:txBody>
      </p:sp>
      <p:sp>
        <p:nvSpPr>
          <p:cNvPr id="51" name="Text 49"/>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14 / 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11  ·  STAGE 2  ·  PATIENT OUT-OF-POCKET</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Quantile regression for low / median / high cost bounds</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Text 3"/>
          <p:cNvSpPr/>
          <p:nvPr/>
        </p:nvSpPr>
        <p:spPr>
          <a:xfrm>
            <a:off x="457200" y="1600200"/>
            <a:ext cx="6858000" cy="320040"/>
          </a:xfrm>
          <a:prstGeom prst="rect">
            <a:avLst/>
          </a:prstGeom>
          <a:noFill/>
          <a:ln/>
        </p:spPr>
        <p:txBody>
          <a:bodyPr wrap="square" rtlCol="0" anchor="ctr"/>
          <a:lstStyle/>
          <a:p>
            <a:pPr marL="0" indent="0">
              <a:buNone/>
            </a:pPr>
            <a:r>
              <a:rPr lang="en-US" sz="1300" b="1" kern="0" spc="200" dirty="0">
                <a:solidFill>
                  <a:srgbClr val="065A82"/>
                </a:solidFill>
                <a:latin typeface="Calibri" pitchFamily="34" charset="0"/>
                <a:ea typeface="Calibri" pitchFamily="34" charset="-122"/>
                <a:cs typeface="Calibri" pitchFamily="34" charset="-120"/>
              </a:rPr>
              <a:t>How the two stages compose</a:t>
            </a:r>
            <a:endParaRPr lang="en-US" sz="1300" dirty="0"/>
          </a:p>
        </p:txBody>
      </p:sp>
      <p:sp>
        <p:nvSpPr>
          <p:cNvPr id="6" name="Shape 4"/>
          <p:cNvSpPr/>
          <p:nvPr/>
        </p:nvSpPr>
        <p:spPr>
          <a:xfrm>
            <a:off x="457200" y="2011680"/>
            <a:ext cx="2926080" cy="1097280"/>
          </a:xfrm>
          <a:prstGeom prst="rect">
            <a:avLst/>
          </a:prstGeom>
          <a:solidFill>
            <a:srgbClr val="065A82"/>
          </a:solidFill>
          <a:ln/>
        </p:spPr>
        <p:txBody>
          <a:bodyPr/>
          <a:lstStyle/>
          <a:p>
            <a:endParaRPr lang="en-IN"/>
          </a:p>
        </p:txBody>
      </p:sp>
      <p:sp>
        <p:nvSpPr>
          <p:cNvPr id="7" name="Text 5"/>
          <p:cNvSpPr/>
          <p:nvPr/>
        </p:nvSpPr>
        <p:spPr>
          <a:xfrm>
            <a:off x="640080" y="2103120"/>
            <a:ext cx="2651760" cy="274320"/>
          </a:xfrm>
          <a:prstGeom prst="rect">
            <a:avLst/>
          </a:prstGeom>
          <a:noFill/>
          <a:ln/>
        </p:spPr>
        <p:txBody>
          <a:bodyPr wrap="square" rtlCol="0" anchor="ctr"/>
          <a:lstStyle/>
          <a:p>
            <a:pPr marL="0" indent="0">
              <a:buNone/>
            </a:pPr>
            <a:r>
              <a:rPr lang="en-US" sz="1000" b="1" kern="0" spc="200" dirty="0">
                <a:solidFill>
                  <a:srgbClr val="CADCFC"/>
                </a:solidFill>
                <a:latin typeface="Calibri" pitchFamily="34" charset="0"/>
                <a:ea typeface="Calibri" pitchFamily="34" charset="-122"/>
                <a:cs typeface="Calibri" pitchFamily="34" charset="-120"/>
              </a:rPr>
              <a:t>STAGE 1</a:t>
            </a:r>
            <a:endParaRPr lang="en-US" sz="1000" dirty="0"/>
          </a:p>
        </p:txBody>
      </p:sp>
      <p:sp>
        <p:nvSpPr>
          <p:cNvPr id="8" name="Text 6"/>
          <p:cNvSpPr/>
          <p:nvPr/>
        </p:nvSpPr>
        <p:spPr>
          <a:xfrm>
            <a:off x="640080" y="2331720"/>
            <a:ext cx="2651760" cy="6400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Medicare</a:t>
            </a:r>
            <a:endParaRPr lang="en-US" sz="1500" dirty="0"/>
          </a:p>
          <a:p>
            <a:pPr marL="0" indent="0">
              <a:buNone/>
            </a:pPr>
            <a:r>
              <a:rPr lang="en-US" sz="1500" b="1" dirty="0">
                <a:solidFill>
                  <a:srgbClr val="FFFFFF"/>
                </a:solidFill>
                <a:latin typeface="Cambria" pitchFamily="34" charset="0"/>
                <a:ea typeface="Cambria" pitchFamily="34" charset="-122"/>
                <a:cs typeface="Cambria" pitchFamily="34" charset="-120"/>
              </a:rPr>
              <a:t>allowed amount</a:t>
            </a:r>
            <a:endParaRPr lang="en-US" sz="1500" dirty="0"/>
          </a:p>
        </p:txBody>
      </p:sp>
      <p:sp>
        <p:nvSpPr>
          <p:cNvPr id="9" name="Text 7"/>
          <p:cNvSpPr/>
          <p:nvPr/>
        </p:nvSpPr>
        <p:spPr>
          <a:xfrm>
            <a:off x="3383280" y="2286000"/>
            <a:ext cx="457200" cy="548640"/>
          </a:xfrm>
          <a:prstGeom prst="rect">
            <a:avLst/>
          </a:prstGeom>
          <a:noFill/>
          <a:ln/>
        </p:spPr>
        <p:txBody>
          <a:bodyPr wrap="square" rtlCol="0" anchor="ctr"/>
          <a:lstStyle/>
          <a:p>
            <a:pPr marL="0" indent="0" algn="ctr">
              <a:buNone/>
            </a:pPr>
            <a:r>
              <a:rPr lang="en-US" sz="3200" b="1" dirty="0">
                <a:solidFill>
                  <a:srgbClr val="2AB7CA"/>
                </a:solidFill>
                <a:latin typeface="Cambria" pitchFamily="34" charset="0"/>
                <a:ea typeface="Cambria" pitchFamily="34" charset="-122"/>
                <a:cs typeface="Cambria" pitchFamily="34" charset="-120"/>
              </a:rPr>
              <a:t>→</a:t>
            </a:r>
            <a:endParaRPr lang="en-US" sz="3200" dirty="0"/>
          </a:p>
        </p:txBody>
      </p:sp>
      <p:sp>
        <p:nvSpPr>
          <p:cNvPr id="10" name="Shape 8"/>
          <p:cNvSpPr/>
          <p:nvPr/>
        </p:nvSpPr>
        <p:spPr>
          <a:xfrm>
            <a:off x="3931920" y="2011680"/>
            <a:ext cx="3108960" cy="1097280"/>
          </a:xfrm>
          <a:prstGeom prst="rect">
            <a:avLst/>
          </a:prstGeom>
          <a:solidFill>
            <a:srgbClr val="2AB7CA"/>
          </a:solidFill>
          <a:ln/>
        </p:spPr>
        <p:txBody>
          <a:bodyPr/>
          <a:lstStyle/>
          <a:p>
            <a:endParaRPr lang="en-IN"/>
          </a:p>
        </p:txBody>
      </p:sp>
      <p:sp>
        <p:nvSpPr>
          <p:cNvPr id="11" name="Text 9"/>
          <p:cNvSpPr/>
          <p:nvPr/>
        </p:nvSpPr>
        <p:spPr>
          <a:xfrm>
            <a:off x="4114800" y="2103120"/>
            <a:ext cx="2834640" cy="274320"/>
          </a:xfrm>
          <a:prstGeom prst="rect">
            <a:avLst/>
          </a:prstGeom>
          <a:noFill/>
          <a:ln/>
        </p:spPr>
        <p:txBody>
          <a:bodyPr wrap="square" rtlCol="0" anchor="ctr"/>
          <a:lstStyle/>
          <a:p>
            <a:pPr marL="0" indent="0">
              <a:buNone/>
            </a:pPr>
            <a:r>
              <a:rPr lang="en-US" sz="1000" b="1" kern="0" spc="200" dirty="0">
                <a:solidFill>
                  <a:srgbClr val="0D2C54"/>
                </a:solidFill>
                <a:latin typeface="Calibri" pitchFamily="34" charset="0"/>
                <a:ea typeface="Calibri" pitchFamily="34" charset="-122"/>
                <a:cs typeface="Calibri" pitchFamily="34" charset="-120"/>
              </a:rPr>
              <a:t>STAGE 2</a:t>
            </a:r>
            <a:endParaRPr lang="en-US" sz="1000" dirty="0"/>
          </a:p>
        </p:txBody>
      </p:sp>
      <p:sp>
        <p:nvSpPr>
          <p:cNvPr id="12" name="Text 10"/>
          <p:cNvSpPr/>
          <p:nvPr/>
        </p:nvSpPr>
        <p:spPr>
          <a:xfrm>
            <a:off x="4114800" y="2331720"/>
            <a:ext cx="2834640" cy="6400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Patient OOP</a:t>
            </a:r>
            <a:endParaRPr lang="en-US" sz="1500" dirty="0"/>
          </a:p>
          <a:p>
            <a:pPr marL="0" indent="0">
              <a:buNone/>
            </a:pPr>
            <a:r>
              <a:rPr lang="en-US" sz="1500" b="1" dirty="0">
                <a:solidFill>
                  <a:srgbClr val="FFFFFF"/>
                </a:solidFill>
                <a:latin typeface="Cambria" pitchFamily="34" charset="0"/>
                <a:ea typeface="Cambria" pitchFamily="34" charset="-122"/>
                <a:cs typeface="Cambria" pitchFamily="34" charset="-120"/>
              </a:rPr>
              <a:t>(P10 / P50 / P90)</a:t>
            </a:r>
            <a:endParaRPr lang="en-US" sz="1500" dirty="0"/>
          </a:p>
        </p:txBody>
      </p:sp>
      <p:sp>
        <p:nvSpPr>
          <p:cNvPr id="13" name="Text 11"/>
          <p:cNvSpPr/>
          <p:nvPr/>
        </p:nvSpPr>
        <p:spPr>
          <a:xfrm>
            <a:off x="457200" y="3383280"/>
            <a:ext cx="6858000" cy="274320"/>
          </a:xfrm>
          <a:prstGeom prst="rect">
            <a:avLst/>
          </a:prstGeom>
          <a:noFill/>
          <a:ln/>
        </p:spPr>
        <p:txBody>
          <a:bodyPr wrap="square" rtlCol="0" anchor="ctr"/>
          <a:lstStyle/>
          <a:p>
            <a:pPr marL="0" indent="0">
              <a:buNone/>
            </a:pPr>
            <a:r>
              <a:rPr lang="en-US" sz="1100" b="1" kern="0" spc="200" dirty="0">
                <a:solidFill>
                  <a:srgbClr val="065A82"/>
                </a:solidFill>
                <a:latin typeface="Calibri" pitchFamily="34" charset="0"/>
                <a:ea typeface="Calibri" pitchFamily="34" charset="-122"/>
                <a:cs typeface="Calibri" pitchFamily="34" charset="-120"/>
              </a:rPr>
              <a:t>Stage 2 inputs</a:t>
            </a:r>
            <a:endParaRPr lang="en-US" sz="1100" dirty="0"/>
          </a:p>
        </p:txBody>
      </p:sp>
      <p:sp>
        <p:nvSpPr>
          <p:cNvPr id="14" name="Shape 12"/>
          <p:cNvSpPr/>
          <p:nvPr/>
        </p:nvSpPr>
        <p:spPr>
          <a:xfrm>
            <a:off x="457200" y="3776472"/>
            <a:ext cx="128016" cy="128016"/>
          </a:xfrm>
          <a:prstGeom prst="ellipse">
            <a:avLst/>
          </a:prstGeom>
          <a:solidFill>
            <a:srgbClr val="E0613E"/>
          </a:solidFill>
          <a:ln/>
        </p:spPr>
        <p:txBody>
          <a:bodyPr/>
          <a:lstStyle/>
          <a:p>
            <a:endParaRPr lang="en-IN"/>
          </a:p>
        </p:txBody>
      </p:sp>
      <p:sp>
        <p:nvSpPr>
          <p:cNvPr id="15" name="Text 13"/>
          <p:cNvSpPr/>
          <p:nvPr/>
        </p:nvSpPr>
        <p:spPr>
          <a:xfrm>
            <a:off x="685800" y="3703320"/>
            <a:ext cx="3200400" cy="274320"/>
          </a:xfrm>
          <a:prstGeom prst="rect">
            <a:avLst/>
          </a:prstGeom>
          <a:noFill/>
          <a:ln/>
        </p:spPr>
        <p:txBody>
          <a:bodyPr wrap="square" lIns="0" tIns="0" rIns="0" bIns="0" rtlCol="0" anchor="ctr"/>
          <a:lstStyle/>
          <a:p>
            <a:pPr marL="0" indent="0">
              <a:buNone/>
            </a:pPr>
            <a:r>
              <a:rPr lang="en-US" sz="1000" b="1" dirty="0">
                <a:solidFill>
                  <a:srgbClr val="E0613E"/>
                </a:solidFill>
                <a:latin typeface="Consolas" pitchFamily="34" charset="0"/>
                <a:ea typeface="Consolas" pitchFamily="34" charset="-122"/>
                <a:cs typeface="Consolas" pitchFamily="34" charset="-120"/>
              </a:rPr>
              <a:t>Avg_Mdcr_Alowd_Amt (from Stage 1)</a:t>
            </a:r>
            <a:endParaRPr lang="en-US" sz="1000" dirty="0"/>
          </a:p>
        </p:txBody>
      </p:sp>
      <p:sp>
        <p:nvSpPr>
          <p:cNvPr id="16" name="Shape 14"/>
          <p:cNvSpPr/>
          <p:nvPr/>
        </p:nvSpPr>
        <p:spPr>
          <a:xfrm>
            <a:off x="3977640" y="3776472"/>
            <a:ext cx="128016" cy="128016"/>
          </a:xfrm>
          <a:prstGeom prst="ellipse">
            <a:avLst/>
          </a:prstGeom>
          <a:solidFill>
            <a:srgbClr val="2AB7CA"/>
          </a:solidFill>
          <a:ln/>
        </p:spPr>
        <p:txBody>
          <a:bodyPr/>
          <a:lstStyle/>
          <a:p>
            <a:endParaRPr lang="en-IN"/>
          </a:p>
        </p:txBody>
      </p:sp>
      <p:sp>
        <p:nvSpPr>
          <p:cNvPr id="17" name="Text 15"/>
          <p:cNvSpPr/>
          <p:nvPr/>
        </p:nvSpPr>
        <p:spPr>
          <a:xfrm>
            <a:off x="4206240" y="3703320"/>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Bene_Avg_Risk_Scre</a:t>
            </a:r>
            <a:endParaRPr lang="en-US" sz="1000" dirty="0"/>
          </a:p>
        </p:txBody>
      </p:sp>
      <p:sp>
        <p:nvSpPr>
          <p:cNvPr id="18" name="Shape 16"/>
          <p:cNvSpPr/>
          <p:nvPr/>
        </p:nvSpPr>
        <p:spPr>
          <a:xfrm>
            <a:off x="457200" y="4087368"/>
            <a:ext cx="128016" cy="128016"/>
          </a:xfrm>
          <a:prstGeom prst="ellipse">
            <a:avLst/>
          </a:prstGeom>
          <a:solidFill>
            <a:srgbClr val="2AB7CA"/>
          </a:solidFill>
          <a:ln/>
        </p:spPr>
        <p:txBody>
          <a:bodyPr/>
          <a:lstStyle/>
          <a:p>
            <a:endParaRPr lang="en-IN"/>
          </a:p>
        </p:txBody>
      </p:sp>
      <p:sp>
        <p:nvSpPr>
          <p:cNvPr id="19" name="Text 17"/>
          <p:cNvSpPr/>
          <p:nvPr/>
        </p:nvSpPr>
        <p:spPr>
          <a:xfrm>
            <a:off x="685800" y="4014216"/>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specialty_bucket</a:t>
            </a:r>
            <a:endParaRPr lang="en-US" sz="1000" dirty="0"/>
          </a:p>
        </p:txBody>
      </p:sp>
      <p:sp>
        <p:nvSpPr>
          <p:cNvPr id="20" name="Shape 18"/>
          <p:cNvSpPr/>
          <p:nvPr/>
        </p:nvSpPr>
        <p:spPr>
          <a:xfrm>
            <a:off x="3977640" y="4087368"/>
            <a:ext cx="128016" cy="128016"/>
          </a:xfrm>
          <a:prstGeom prst="ellipse">
            <a:avLst/>
          </a:prstGeom>
          <a:solidFill>
            <a:srgbClr val="2AB7CA"/>
          </a:solidFill>
          <a:ln/>
        </p:spPr>
        <p:txBody>
          <a:bodyPr/>
          <a:lstStyle/>
          <a:p>
            <a:endParaRPr lang="en-IN"/>
          </a:p>
        </p:txBody>
      </p:sp>
      <p:sp>
        <p:nvSpPr>
          <p:cNvPr id="21" name="Text 19"/>
          <p:cNvSpPr/>
          <p:nvPr/>
        </p:nvSpPr>
        <p:spPr>
          <a:xfrm>
            <a:off x="4206240" y="4014216"/>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hcpcs_bucket</a:t>
            </a:r>
            <a:endParaRPr lang="en-US" sz="1000" dirty="0"/>
          </a:p>
        </p:txBody>
      </p:sp>
      <p:sp>
        <p:nvSpPr>
          <p:cNvPr id="22" name="Shape 20"/>
          <p:cNvSpPr/>
          <p:nvPr/>
        </p:nvSpPr>
        <p:spPr>
          <a:xfrm>
            <a:off x="457200" y="4398264"/>
            <a:ext cx="128016" cy="128016"/>
          </a:xfrm>
          <a:prstGeom prst="ellipse">
            <a:avLst/>
          </a:prstGeom>
          <a:solidFill>
            <a:srgbClr val="2AB7CA"/>
          </a:solidFill>
          <a:ln/>
        </p:spPr>
        <p:txBody>
          <a:bodyPr/>
          <a:lstStyle/>
          <a:p>
            <a:endParaRPr lang="en-IN"/>
          </a:p>
        </p:txBody>
      </p:sp>
      <p:sp>
        <p:nvSpPr>
          <p:cNvPr id="23" name="Text 21"/>
          <p:cNvSpPr/>
          <p:nvPr/>
        </p:nvSpPr>
        <p:spPr>
          <a:xfrm>
            <a:off x="685800" y="4325112"/>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place_of_srvc_flag</a:t>
            </a:r>
            <a:endParaRPr lang="en-US" sz="1000" dirty="0"/>
          </a:p>
        </p:txBody>
      </p:sp>
      <p:sp>
        <p:nvSpPr>
          <p:cNvPr id="24" name="Shape 22"/>
          <p:cNvSpPr/>
          <p:nvPr/>
        </p:nvSpPr>
        <p:spPr>
          <a:xfrm>
            <a:off x="3977640" y="4398264"/>
            <a:ext cx="128016" cy="128016"/>
          </a:xfrm>
          <a:prstGeom prst="ellipse">
            <a:avLst/>
          </a:prstGeom>
          <a:solidFill>
            <a:srgbClr val="2AB7CA"/>
          </a:solidFill>
          <a:ln/>
        </p:spPr>
        <p:txBody>
          <a:bodyPr/>
          <a:lstStyle/>
          <a:p>
            <a:endParaRPr lang="en-IN"/>
          </a:p>
        </p:txBody>
      </p:sp>
      <p:sp>
        <p:nvSpPr>
          <p:cNvPr id="25" name="Text 23"/>
          <p:cNvSpPr/>
          <p:nvPr/>
        </p:nvSpPr>
        <p:spPr>
          <a:xfrm>
            <a:off x="4206240" y="4325112"/>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census_region</a:t>
            </a:r>
            <a:endParaRPr lang="en-US" sz="1000" dirty="0"/>
          </a:p>
        </p:txBody>
      </p:sp>
      <p:sp>
        <p:nvSpPr>
          <p:cNvPr id="26" name="Shape 24"/>
          <p:cNvSpPr/>
          <p:nvPr/>
        </p:nvSpPr>
        <p:spPr>
          <a:xfrm>
            <a:off x="457200" y="4709160"/>
            <a:ext cx="128016" cy="128016"/>
          </a:xfrm>
          <a:prstGeom prst="ellipse">
            <a:avLst/>
          </a:prstGeom>
          <a:solidFill>
            <a:srgbClr val="2AB7CA"/>
          </a:solidFill>
          <a:ln/>
        </p:spPr>
        <p:txBody>
          <a:bodyPr/>
          <a:lstStyle/>
          <a:p>
            <a:endParaRPr lang="en-IN"/>
          </a:p>
        </p:txBody>
      </p:sp>
      <p:sp>
        <p:nvSpPr>
          <p:cNvPr id="27" name="Text 25"/>
          <p:cNvSpPr/>
          <p:nvPr/>
        </p:nvSpPr>
        <p:spPr>
          <a:xfrm>
            <a:off x="685800" y="4636008"/>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age_band</a:t>
            </a:r>
            <a:endParaRPr lang="en-US" sz="1000" dirty="0"/>
          </a:p>
        </p:txBody>
      </p:sp>
      <p:sp>
        <p:nvSpPr>
          <p:cNvPr id="28" name="Shape 26"/>
          <p:cNvSpPr/>
          <p:nvPr/>
        </p:nvSpPr>
        <p:spPr>
          <a:xfrm>
            <a:off x="3977640" y="4709160"/>
            <a:ext cx="128016" cy="128016"/>
          </a:xfrm>
          <a:prstGeom prst="ellipse">
            <a:avLst/>
          </a:prstGeom>
          <a:solidFill>
            <a:srgbClr val="2AB7CA"/>
          </a:solidFill>
          <a:ln/>
        </p:spPr>
        <p:txBody>
          <a:bodyPr/>
          <a:lstStyle/>
          <a:p>
            <a:endParaRPr lang="en-IN"/>
          </a:p>
        </p:txBody>
      </p:sp>
      <p:sp>
        <p:nvSpPr>
          <p:cNvPr id="29" name="Text 27"/>
          <p:cNvSpPr/>
          <p:nvPr/>
        </p:nvSpPr>
        <p:spPr>
          <a:xfrm>
            <a:off x="4206240" y="4636008"/>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sex</a:t>
            </a:r>
            <a:endParaRPr lang="en-US" sz="1000" dirty="0"/>
          </a:p>
        </p:txBody>
      </p:sp>
      <p:sp>
        <p:nvSpPr>
          <p:cNvPr id="30" name="Shape 28"/>
          <p:cNvSpPr/>
          <p:nvPr/>
        </p:nvSpPr>
        <p:spPr>
          <a:xfrm>
            <a:off x="457200" y="5020056"/>
            <a:ext cx="128016" cy="128016"/>
          </a:xfrm>
          <a:prstGeom prst="ellipse">
            <a:avLst/>
          </a:prstGeom>
          <a:solidFill>
            <a:srgbClr val="2AB7CA"/>
          </a:solidFill>
          <a:ln/>
        </p:spPr>
        <p:txBody>
          <a:bodyPr/>
          <a:lstStyle/>
          <a:p>
            <a:endParaRPr lang="en-IN"/>
          </a:p>
        </p:txBody>
      </p:sp>
      <p:sp>
        <p:nvSpPr>
          <p:cNvPr id="31" name="Text 29"/>
          <p:cNvSpPr/>
          <p:nvPr/>
        </p:nvSpPr>
        <p:spPr>
          <a:xfrm>
            <a:off x="685800" y="4946904"/>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income_band</a:t>
            </a:r>
            <a:endParaRPr lang="en-US" sz="1000" dirty="0"/>
          </a:p>
        </p:txBody>
      </p:sp>
      <p:sp>
        <p:nvSpPr>
          <p:cNvPr id="32" name="Shape 30"/>
          <p:cNvSpPr/>
          <p:nvPr/>
        </p:nvSpPr>
        <p:spPr>
          <a:xfrm>
            <a:off x="3977640" y="5020056"/>
            <a:ext cx="128016" cy="128016"/>
          </a:xfrm>
          <a:prstGeom prst="ellipse">
            <a:avLst/>
          </a:prstGeom>
          <a:solidFill>
            <a:srgbClr val="2AB7CA"/>
          </a:solidFill>
          <a:ln/>
        </p:spPr>
        <p:txBody>
          <a:bodyPr/>
          <a:lstStyle/>
          <a:p>
            <a:endParaRPr lang="en-IN"/>
          </a:p>
        </p:txBody>
      </p:sp>
      <p:sp>
        <p:nvSpPr>
          <p:cNvPr id="33" name="Text 31"/>
          <p:cNvSpPr/>
          <p:nvPr/>
        </p:nvSpPr>
        <p:spPr>
          <a:xfrm>
            <a:off x="4206240" y="4946904"/>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n_chronic_conditions</a:t>
            </a:r>
            <a:endParaRPr lang="en-US" sz="1000" dirty="0"/>
          </a:p>
        </p:txBody>
      </p:sp>
      <p:sp>
        <p:nvSpPr>
          <p:cNvPr id="34" name="Shape 32"/>
          <p:cNvSpPr/>
          <p:nvPr/>
        </p:nvSpPr>
        <p:spPr>
          <a:xfrm>
            <a:off x="457200" y="5330952"/>
            <a:ext cx="128016" cy="128016"/>
          </a:xfrm>
          <a:prstGeom prst="ellipse">
            <a:avLst/>
          </a:prstGeom>
          <a:solidFill>
            <a:srgbClr val="2AB7CA"/>
          </a:solidFill>
          <a:ln/>
        </p:spPr>
        <p:txBody>
          <a:bodyPr/>
          <a:lstStyle/>
          <a:p>
            <a:endParaRPr lang="en-IN"/>
          </a:p>
        </p:txBody>
      </p:sp>
      <p:sp>
        <p:nvSpPr>
          <p:cNvPr id="35" name="Text 33"/>
          <p:cNvSpPr/>
          <p:nvPr/>
        </p:nvSpPr>
        <p:spPr>
          <a:xfrm>
            <a:off x="685800" y="5257800"/>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dual_eligible (Medicaid)</a:t>
            </a:r>
            <a:endParaRPr lang="en-US" sz="1000" dirty="0"/>
          </a:p>
        </p:txBody>
      </p:sp>
      <p:sp>
        <p:nvSpPr>
          <p:cNvPr id="36" name="Shape 34"/>
          <p:cNvSpPr/>
          <p:nvPr/>
        </p:nvSpPr>
        <p:spPr>
          <a:xfrm>
            <a:off x="3977640" y="5330952"/>
            <a:ext cx="128016" cy="128016"/>
          </a:xfrm>
          <a:prstGeom prst="ellipse">
            <a:avLst/>
          </a:prstGeom>
          <a:solidFill>
            <a:srgbClr val="2AB7CA"/>
          </a:solidFill>
          <a:ln/>
        </p:spPr>
        <p:txBody>
          <a:bodyPr/>
          <a:lstStyle/>
          <a:p>
            <a:endParaRPr lang="en-IN"/>
          </a:p>
        </p:txBody>
      </p:sp>
      <p:sp>
        <p:nvSpPr>
          <p:cNvPr id="37" name="Text 35"/>
          <p:cNvSpPr/>
          <p:nvPr/>
        </p:nvSpPr>
        <p:spPr>
          <a:xfrm>
            <a:off x="4206240" y="5257800"/>
            <a:ext cx="3200400" cy="274320"/>
          </a:xfrm>
          <a:prstGeom prst="rect">
            <a:avLst/>
          </a:prstGeom>
          <a:noFill/>
          <a:ln/>
        </p:spPr>
        <p:txBody>
          <a:bodyPr wrap="square" lIns="0" tIns="0" rIns="0" bIns="0" rtlCol="0" anchor="ctr"/>
          <a:lstStyle/>
          <a:p>
            <a:pPr marL="0" indent="0">
              <a:buNone/>
            </a:pPr>
            <a:r>
              <a:rPr lang="en-US" sz="1000" dirty="0">
                <a:solidFill>
                  <a:srgbClr val="1A1A1A"/>
                </a:solidFill>
                <a:latin typeface="Consolas" pitchFamily="34" charset="0"/>
                <a:ea typeface="Consolas" pitchFamily="34" charset="-122"/>
                <a:cs typeface="Consolas" pitchFamily="34" charset="-120"/>
              </a:rPr>
              <a:t>has_supplemental_insurance (Medigap)</a:t>
            </a:r>
            <a:endParaRPr lang="en-US" sz="1000" dirty="0"/>
          </a:p>
        </p:txBody>
      </p:sp>
      <p:sp>
        <p:nvSpPr>
          <p:cNvPr id="38" name="Shape 36"/>
          <p:cNvSpPr/>
          <p:nvPr/>
        </p:nvSpPr>
        <p:spPr>
          <a:xfrm>
            <a:off x="7589520" y="1600200"/>
            <a:ext cx="4160520" cy="4663440"/>
          </a:xfrm>
          <a:prstGeom prst="rect">
            <a:avLst/>
          </a:prstGeom>
          <a:solidFill>
            <a:srgbClr val="F4F9FC"/>
          </a:solidFill>
          <a:ln w="12700">
            <a:solidFill>
              <a:srgbClr val="D5DFE9"/>
            </a:solidFill>
            <a:prstDash val="solid"/>
          </a:ln>
        </p:spPr>
        <p:txBody>
          <a:bodyPr/>
          <a:lstStyle/>
          <a:p>
            <a:endParaRPr lang="en-IN"/>
          </a:p>
        </p:txBody>
      </p:sp>
      <p:sp>
        <p:nvSpPr>
          <p:cNvPr id="39" name="Text 37"/>
          <p:cNvSpPr/>
          <p:nvPr/>
        </p:nvSpPr>
        <p:spPr>
          <a:xfrm>
            <a:off x="7772400" y="1737360"/>
            <a:ext cx="3931920" cy="320040"/>
          </a:xfrm>
          <a:prstGeom prst="rect">
            <a:avLst/>
          </a:prstGeom>
          <a:noFill/>
          <a:ln/>
        </p:spPr>
        <p:txBody>
          <a:bodyPr wrap="square" rtlCol="0" anchor="ctr"/>
          <a:lstStyle/>
          <a:p>
            <a:pPr marL="0" indent="0">
              <a:buNone/>
            </a:pPr>
            <a:r>
              <a:rPr lang="en-US" sz="1100" b="1" kern="0" spc="200" dirty="0">
                <a:solidFill>
                  <a:srgbClr val="065A82"/>
                </a:solidFill>
                <a:latin typeface="Calibri" pitchFamily="34" charset="0"/>
                <a:ea typeface="Calibri" pitchFamily="34" charset="-122"/>
                <a:cs typeface="Calibri" pitchFamily="34" charset="-120"/>
              </a:rPr>
              <a:t>Example output</a:t>
            </a:r>
            <a:endParaRPr lang="en-US" sz="1100" dirty="0"/>
          </a:p>
        </p:txBody>
      </p:sp>
      <p:sp>
        <p:nvSpPr>
          <p:cNvPr id="40" name="Text 38"/>
          <p:cNvSpPr/>
          <p:nvPr/>
        </p:nvSpPr>
        <p:spPr>
          <a:xfrm>
            <a:off x="7772400" y="2057400"/>
            <a:ext cx="3931920" cy="27432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For a given service:</a:t>
            </a:r>
            <a:endParaRPr lang="en-US" sz="1100" dirty="0"/>
          </a:p>
        </p:txBody>
      </p:sp>
      <p:sp>
        <p:nvSpPr>
          <p:cNvPr id="41" name="Shape 39"/>
          <p:cNvSpPr/>
          <p:nvPr/>
        </p:nvSpPr>
        <p:spPr>
          <a:xfrm>
            <a:off x="7772400" y="2468880"/>
            <a:ext cx="3886200" cy="1005840"/>
          </a:xfrm>
          <a:prstGeom prst="rect">
            <a:avLst/>
          </a:prstGeom>
          <a:solidFill>
            <a:srgbClr val="FFFFFF"/>
          </a:solidFill>
          <a:ln w="6350">
            <a:solidFill>
              <a:srgbClr val="D5DFE9"/>
            </a:solidFill>
            <a:prstDash val="solid"/>
          </a:ln>
        </p:spPr>
        <p:txBody>
          <a:bodyPr/>
          <a:lstStyle/>
          <a:p>
            <a:endParaRPr lang="en-IN"/>
          </a:p>
        </p:txBody>
      </p:sp>
      <p:sp>
        <p:nvSpPr>
          <p:cNvPr id="42" name="Shape 40"/>
          <p:cNvSpPr/>
          <p:nvPr/>
        </p:nvSpPr>
        <p:spPr>
          <a:xfrm>
            <a:off x="7772400" y="2468880"/>
            <a:ext cx="73152" cy="1005840"/>
          </a:xfrm>
          <a:prstGeom prst="rect">
            <a:avLst/>
          </a:prstGeom>
          <a:solidFill>
            <a:srgbClr val="2AB7CA"/>
          </a:solidFill>
          <a:ln/>
        </p:spPr>
        <p:txBody>
          <a:bodyPr/>
          <a:lstStyle/>
          <a:p>
            <a:endParaRPr lang="en-IN"/>
          </a:p>
        </p:txBody>
      </p:sp>
      <p:sp>
        <p:nvSpPr>
          <p:cNvPr id="43" name="Text 41"/>
          <p:cNvSpPr/>
          <p:nvPr/>
        </p:nvSpPr>
        <p:spPr>
          <a:xfrm>
            <a:off x="7955280" y="2542032"/>
            <a:ext cx="1463040" cy="27432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LOW</a:t>
            </a:r>
            <a:endParaRPr lang="en-US" sz="900" dirty="0"/>
          </a:p>
        </p:txBody>
      </p:sp>
      <p:sp>
        <p:nvSpPr>
          <p:cNvPr id="44" name="Text 42"/>
          <p:cNvSpPr/>
          <p:nvPr/>
        </p:nvSpPr>
        <p:spPr>
          <a:xfrm>
            <a:off x="9418320" y="2542032"/>
            <a:ext cx="1097280" cy="274320"/>
          </a:xfrm>
          <a:prstGeom prst="rect">
            <a:avLst/>
          </a:prstGeom>
          <a:noFill/>
          <a:ln/>
        </p:spPr>
        <p:txBody>
          <a:bodyPr wrap="square" rtlCol="0" anchor="ctr"/>
          <a:lstStyle/>
          <a:p>
            <a:pPr marL="0" indent="0">
              <a:buNone/>
            </a:pPr>
            <a:r>
              <a:rPr lang="en-US" sz="900" dirty="0">
                <a:solidFill>
                  <a:srgbClr val="6B7280"/>
                </a:solidFill>
                <a:latin typeface="Consolas" pitchFamily="34" charset="0"/>
                <a:ea typeface="Consolas" pitchFamily="34" charset="-122"/>
                <a:cs typeface="Consolas" pitchFamily="34" charset="-120"/>
              </a:rPr>
              <a:t>P10</a:t>
            </a:r>
            <a:endParaRPr lang="en-US" sz="900" dirty="0"/>
          </a:p>
        </p:txBody>
      </p:sp>
      <p:sp>
        <p:nvSpPr>
          <p:cNvPr id="45" name="Text 43"/>
          <p:cNvSpPr/>
          <p:nvPr/>
        </p:nvSpPr>
        <p:spPr>
          <a:xfrm>
            <a:off x="7955280" y="2788920"/>
            <a:ext cx="2286000" cy="457200"/>
          </a:xfrm>
          <a:prstGeom prst="rect">
            <a:avLst/>
          </a:prstGeom>
          <a:noFill/>
          <a:ln/>
        </p:spPr>
        <p:txBody>
          <a:bodyPr wrap="square" rtlCol="0" anchor="ctr"/>
          <a:lstStyle/>
          <a:p>
            <a:pPr marL="0" indent="0">
              <a:buNone/>
            </a:pPr>
            <a:r>
              <a:rPr lang="en-US" sz="2400" b="1" dirty="0">
                <a:solidFill>
                  <a:srgbClr val="0D2C54"/>
                </a:solidFill>
                <a:latin typeface="Cambria" pitchFamily="34" charset="0"/>
                <a:ea typeface="Cambria" pitchFamily="34" charset="-122"/>
                <a:cs typeface="Cambria" pitchFamily="34" charset="-120"/>
              </a:rPr>
              <a:t>$84</a:t>
            </a:r>
            <a:endParaRPr lang="en-US" sz="2400" dirty="0"/>
          </a:p>
        </p:txBody>
      </p:sp>
      <p:sp>
        <p:nvSpPr>
          <p:cNvPr id="46" name="Text 44"/>
          <p:cNvSpPr/>
          <p:nvPr/>
        </p:nvSpPr>
        <p:spPr>
          <a:xfrm>
            <a:off x="7955280" y="3200400"/>
            <a:ext cx="36576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10% of patients pay at most this</a:t>
            </a:r>
            <a:endParaRPr lang="en-US" sz="900" dirty="0"/>
          </a:p>
        </p:txBody>
      </p:sp>
      <p:sp>
        <p:nvSpPr>
          <p:cNvPr id="47" name="Shape 45"/>
          <p:cNvSpPr/>
          <p:nvPr/>
        </p:nvSpPr>
        <p:spPr>
          <a:xfrm>
            <a:off x="7772400" y="3611880"/>
            <a:ext cx="3886200" cy="1005840"/>
          </a:xfrm>
          <a:prstGeom prst="rect">
            <a:avLst/>
          </a:prstGeom>
          <a:solidFill>
            <a:srgbClr val="FFFFFF"/>
          </a:solidFill>
          <a:ln w="6350">
            <a:solidFill>
              <a:srgbClr val="D5DFE9"/>
            </a:solidFill>
            <a:prstDash val="solid"/>
          </a:ln>
        </p:spPr>
        <p:txBody>
          <a:bodyPr/>
          <a:lstStyle/>
          <a:p>
            <a:endParaRPr lang="en-IN"/>
          </a:p>
        </p:txBody>
      </p:sp>
      <p:sp>
        <p:nvSpPr>
          <p:cNvPr id="48" name="Shape 46"/>
          <p:cNvSpPr/>
          <p:nvPr/>
        </p:nvSpPr>
        <p:spPr>
          <a:xfrm>
            <a:off x="7772400" y="3611880"/>
            <a:ext cx="73152" cy="1005840"/>
          </a:xfrm>
          <a:prstGeom prst="rect">
            <a:avLst/>
          </a:prstGeom>
          <a:solidFill>
            <a:srgbClr val="E0613E"/>
          </a:solidFill>
          <a:ln/>
        </p:spPr>
        <p:txBody>
          <a:bodyPr/>
          <a:lstStyle/>
          <a:p>
            <a:endParaRPr lang="en-IN"/>
          </a:p>
        </p:txBody>
      </p:sp>
      <p:sp>
        <p:nvSpPr>
          <p:cNvPr id="49" name="Text 47"/>
          <p:cNvSpPr/>
          <p:nvPr/>
        </p:nvSpPr>
        <p:spPr>
          <a:xfrm>
            <a:off x="7955280" y="3685032"/>
            <a:ext cx="1463040" cy="27432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TYPICAL</a:t>
            </a:r>
            <a:endParaRPr lang="en-US" sz="900" dirty="0"/>
          </a:p>
        </p:txBody>
      </p:sp>
      <p:sp>
        <p:nvSpPr>
          <p:cNvPr id="50" name="Text 48"/>
          <p:cNvSpPr/>
          <p:nvPr/>
        </p:nvSpPr>
        <p:spPr>
          <a:xfrm>
            <a:off x="9418320" y="3685032"/>
            <a:ext cx="1097280" cy="274320"/>
          </a:xfrm>
          <a:prstGeom prst="rect">
            <a:avLst/>
          </a:prstGeom>
          <a:noFill/>
          <a:ln/>
        </p:spPr>
        <p:txBody>
          <a:bodyPr wrap="square" rtlCol="0" anchor="ctr"/>
          <a:lstStyle/>
          <a:p>
            <a:pPr marL="0" indent="0">
              <a:buNone/>
            </a:pPr>
            <a:r>
              <a:rPr lang="en-US" sz="900" dirty="0">
                <a:solidFill>
                  <a:srgbClr val="6B7280"/>
                </a:solidFill>
                <a:latin typeface="Consolas" pitchFamily="34" charset="0"/>
                <a:ea typeface="Consolas" pitchFamily="34" charset="-122"/>
                <a:cs typeface="Consolas" pitchFamily="34" charset="-120"/>
              </a:rPr>
              <a:t>P50</a:t>
            </a:r>
            <a:endParaRPr lang="en-US" sz="900" dirty="0"/>
          </a:p>
        </p:txBody>
      </p:sp>
      <p:sp>
        <p:nvSpPr>
          <p:cNvPr id="51" name="Text 49"/>
          <p:cNvSpPr/>
          <p:nvPr/>
        </p:nvSpPr>
        <p:spPr>
          <a:xfrm>
            <a:off x="7955280" y="3931920"/>
            <a:ext cx="2286000" cy="457200"/>
          </a:xfrm>
          <a:prstGeom prst="rect">
            <a:avLst/>
          </a:prstGeom>
          <a:noFill/>
          <a:ln/>
        </p:spPr>
        <p:txBody>
          <a:bodyPr wrap="square" rtlCol="0" anchor="ctr"/>
          <a:lstStyle/>
          <a:p>
            <a:pPr marL="0" indent="0">
              <a:buNone/>
            </a:pPr>
            <a:r>
              <a:rPr lang="en-US" sz="2400" b="1" dirty="0">
                <a:solidFill>
                  <a:srgbClr val="0D2C54"/>
                </a:solidFill>
                <a:latin typeface="Cambria" pitchFamily="34" charset="0"/>
                <a:ea typeface="Cambria" pitchFamily="34" charset="-122"/>
                <a:cs typeface="Cambria" pitchFamily="34" charset="-120"/>
              </a:rPr>
              <a:t>$217</a:t>
            </a:r>
            <a:endParaRPr lang="en-US" sz="2400" dirty="0"/>
          </a:p>
        </p:txBody>
      </p:sp>
      <p:sp>
        <p:nvSpPr>
          <p:cNvPr id="52" name="Text 50"/>
          <p:cNvSpPr/>
          <p:nvPr/>
        </p:nvSpPr>
        <p:spPr>
          <a:xfrm>
            <a:off x="7955280" y="4343400"/>
            <a:ext cx="36576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median patient cost</a:t>
            </a:r>
            <a:endParaRPr lang="en-US" sz="900" dirty="0"/>
          </a:p>
        </p:txBody>
      </p:sp>
      <p:sp>
        <p:nvSpPr>
          <p:cNvPr id="53" name="Shape 51"/>
          <p:cNvSpPr/>
          <p:nvPr/>
        </p:nvSpPr>
        <p:spPr>
          <a:xfrm>
            <a:off x="7772400" y="4754880"/>
            <a:ext cx="3886200" cy="1005840"/>
          </a:xfrm>
          <a:prstGeom prst="rect">
            <a:avLst/>
          </a:prstGeom>
          <a:solidFill>
            <a:srgbClr val="FFFFFF"/>
          </a:solidFill>
          <a:ln w="6350">
            <a:solidFill>
              <a:srgbClr val="D5DFE9"/>
            </a:solidFill>
            <a:prstDash val="solid"/>
          </a:ln>
        </p:spPr>
        <p:txBody>
          <a:bodyPr/>
          <a:lstStyle/>
          <a:p>
            <a:endParaRPr lang="en-IN"/>
          </a:p>
        </p:txBody>
      </p:sp>
      <p:sp>
        <p:nvSpPr>
          <p:cNvPr id="54" name="Shape 52"/>
          <p:cNvSpPr/>
          <p:nvPr/>
        </p:nvSpPr>
        <p:spPr>
          <a:xfrm>
            <a:off x="7772400" y="4754880"/>
            <a:ext cx="73152" cy="1005840"/>
          </a:xfrm>
          <a:prstGeom prst="rect">
            <a:avLst/>
          </a:prstGeom>
          <a:solidFill>
            <a:srgbClr val="2AB7CA"/>
          </a:solidFill>
          <a:ln/>
        </p:spPr>
        <p:txBody>
          <a:bodyPr/>
          <a:lstStyle/>
          <a:p>
            <a:endParaRPr lang="en-IN"/>
          </a:p>
        </p:txBody>
      </p:sp>
      <p:sp>
        <p:nvSpPr>
          <p:cNvPr id="55" name="Text 53"/>
          <p:cNvSpPr/>
          <p:nvPr/>
        </p:nvSpPr>
        <p:spPr>
          <a:xfrm>
            <a:off x="7955280" y="4828032"/>
            <a:ext cx="1463040" cy="274320"/>
          </a:xfrm>
          <a:prstGeom prst="rect">
            <a:avLst/>
          </a:prstGeom>
          <a:noFill/>
          <a:ln/>
        </p:spPr>
        <p:txBody>
          <a:bodyPr wrap="square" rtlCol="0" anchor="ctr"/>
          <a:lstStyle/>
          <a:p>
            <a:pPr marL="0" indent="0">
              <a:buNone/>
            </a:pPr>
            <a:r>
              <a:rPr lang="en-US" sz="900" b="1" kern="0" spc="200" dirty="0">
                <a:solidFill>
                  <a:srgbClr val="6B7280"/>
                </a:solidFill>
                <a:latin typeface="Calibri" pitchFamily="34" charset="0"/>
                <a:ea typeface="Calibri" pitchFamily="34" charset="-122"/>
                <a:cs typeface="Calibri" pitchFamily="34" charset="-120"/>
              </a:rPr>
              <a:t>HIGH</a:t>
            </a:r>
            <a:endParaRPr lang="en-US" sz="900" dirty="0"/>
          </a:p>
        </p:txBody>
      </p:sp>
      <p:sp>
        <p:nvSpPr>
          <p:cNvPr id="56" name="Text 54"/>
          <p:cNvSpPr/>
          <p:nvPr/>
        </p:nvSpPr>
        <p:spPr>
          <a:xfrm>
            <a:off x="9418320" y="4828032"/>
            <a:ext cx="1097280" cy="274320"/>
          </a:xfrm>
          <a:prstGeom prst="rect">
            <a:avLst/>
          </a:prstGeom>
          <a:noFill/>
          <a:ln/>
        </p:spPr>
        <p:txBody>
          <a:bodyPr wrap="square" rtlCol="0" anchor="ctr"/>
          <a:lstStyle/>
          <a:p>
            <a:pPr marL="0" indent="0">
              <a:buNone/>
            </a:pPr>
            <a:r>
              <a:rPr lang="en-US" sz="900" dirty="0">
                <a:solidFill>
                  <a:srgbClr val="6B7280"/>
                </a:solidFill>
                <a:latin typeface="Consolas" pitchFamily="34" charset="0"/>
                <a:ea typeface="Consolas" pitchFamily="34" charset="-122"/>
                <a:cs typeface="Consolas" pitchFamily="34" charset="-120"/>
              </a:rPr>
              <a:t>P90</a:t>
            </a:r>
            <a:endParaRPr lang="en-US" sz="900" dirty="0"/>
          </a:p>
        </p:txBody>
      </p:sp>
      <p:sp>
        <p:nvSpPr>
          <p:cNvPr id="57" name="Text 55"/>
          <p:cNvSpPr/>
          <p:nvPr/>
        </p:nvSpPr>
        <p:spPr>
          <a:xfrm>
            <a:off x="7955280" y="5074920"/>
            <a:ext cx="2286000" cy="457200"/>
          </a:xfrm>
          <a:prstGeom prst="rect">
            <a:avLst/>
          </a:prstGeom>
          <a:noFill/>
          <a:ln/>
        </p:spPr>
        <p:txBody>
          <a:bodyPr wrap="square" rtlCol="0" anchor="ctr"/>
          <a:lstStyle/>
          <a:p>
            <a:pPr marL="0" indent="0">
              <a:buNone/>
            </a:pPr>
            <a:r>
              <a:rPr lang="en-US" sz="2400" b="1" dirty="0">
                <a:solidFill>
                  <a:srgbClr val="0D2C54"/>
                </a:solidFill>
                <a:latin typeface="Cambria" pitchFamily="34" charset="0"/>
                <a:ea typeface="Cambria" pitchFamily="34" charset="-122"/>
                <a:cs typeface="Cambria" pitchFamily="34" charset="-120"/>
              </a:rPr>
              <a:t>$492</a:t>
            </a:r>
            <a:endParaRPr lang="en-US" sz="2400" dirty="0"/>
          </a:p>
        </p:txBody>
      </p:sp>
      <p:sp>
        <p:nvSpPr>
          <p:cNvPr id="58" name="Text 56"/>
          <p:cNvSpPr/>
          <p:nvPr/>
        </p:nvSpPr>
        <p:spPr>
          <a:xfrm>
            <a:off x="7955280" y="5486400"/>
            <a:ext cx="3657600" cy="27432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10% of patients pay more than this</a:t>
            </a:r>
            <a:endParaRPr lang="en-US" sz="900" dirty="0"/>
          </a:p>
        </p:txBody>
      </p:sp>
      <p:sp>
        <p:nvSpPr>
          <p:cNvPr id="59" name="Shape 57"/>
          <p:cNvSpPr/>
          <p:nvPr/>
        </p:nvSpPr>
        <p:spPr>
          <a:xfrm>
            <a:off x="457200" y="5897880"/>
            <a:ext cx="6949440" cy="347472"/>
          </a:xfrm>
          <a:prstGeom prst="rect">
            <a:avLst/>
          </a:prstGeom>
          <a:solidFill>
            <a:srgbClr val="E0613E"/>
          </a:solidFill>
          <a:ln/>
        </p:spPr>
        <p:txBody>
          <a:bodyPr/>
          <a:lstStyle/>
          <a:p>
            <a:endParaRPr lang="en-IN"/>
          </a:p>
        </p:txBody>
      </p:sp>
      <p:sp>
        <p:nvSpPr>
          <p:cNvPr id="60" name="Text 58"/>
          <p:cNvSpPr/>
          <p:nvPr/>
        </p:nvSpPr>
        <p:spPr>
          <a:xfrm>
            <a:off x="548640" y="5907024"/>
            <a:ext cx="6858000" cy="329184"/>
          </a:xfrm>
          <a:prstGeom prst="rect">
            <a:avLst/>
          </a:prstGeom>
          <a:noFill/>
          <a:ln/>
        </p:spPr>
        <p:txBody>
          <a:bodyPr wrap="square" lIns="0" tIns="0" rIns="0" bIns="0" rtlCol="0" anchor="ctr"/>
          <a:lstStyle/>
          <a:p>
            <a:pPr marL="0" indent="0">
              <a:buNone/>
            </a:pPr>
            <a:r>
              <a:rPr lang="en-US" sz="950" b="1" i="1" dirty="0">
                <a:solidFill>
                  <a:srgbClr val="FFFFFF"/>
                </a:solidFill>
                <a:latin typeface="Calibri" pitchFamily="34" charset="0"/>
                <a:ea typeface="Calibri" pitchFamily="34" charset="-122"/>
                <a:cs typeface="Calibri" pitchFamily="34" charset="-120"/>
              </a:rPr>
              <a:t>Honest caveat: Stage 2 training data is SYNTHETIC (calibrated to MCBS aggregates). Real per-service OOP requires a $600 Limited Data Set + DUA.</a:t>
            </a:r>
            <a:endParaRPr lang="en-US" sz="950" dirty="0"/>
          </a:p>
        </p:txBody>
      </p:sp>
      <p:sp>
        <p:nvSpPr>
          <p:cNvPr id="61" name="Shape 59"/>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62" name="Text 60"/>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63" name="Text 61"/>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RAJ VEDIRE</a:t>
            </a:r>
            <a:endParaRPr lang="en-US" sz="900" dirty="0"/>
          </a:p>
        </p:txBody>
      </p:sp>
      <p:sp>
        <p:nvSpPr>
          <p:cNvPr id="64" name="Text 62"/>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15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2C54"/>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AB7CA"/>
          </a:solidFill>
          <a:ln/>
        </p:spPr>
        <p:txBody>
          <a:bodyPr/>
          <a:lstStyle/>
          <a:p>
            <a:endParaRPr lang="en-IN"/>
          </a:p>
        </p:txBody>
      </p:sp>
      <p:sp>
        <p:nvSpPr>
          <p:cNvPr id="3" name="Text 1"/>
          <p:cNvSpPr/>
          <p:nvPr/>
        </p:nvSpPr>
        <p:spPr>
          <a:xfrm>
            <a:off x="731520" y="2194560"/>
            <a:ext cx="10972800" cy="411480"/>
          </a:xfrm>
          <a:prstGeom prst="rect">
            <a:avLst/>
          </a:prstGeom>
          <a:noFill/>
          <a:ln/>
        </p:spPr>
        <p:txBody>
          <a:bodyPr wrap="square" rtlCol="0" anchor="ctr"/>
          <a:lstStyle/>
          <a:p>
            <a:pPr marL="0" indent="0">
              <a:buNone/>
            </a:pPr>
            <a:r>
              <a:rPr lang="en-US" sz="1400" b="1" kern="0" spc="400" dirty="0">
                <a:solidFill>
                  <a:srgbClr val="2AB7CA"/>
                </a:solidFill>
                <a:latin typeface="Calibri" pitchFamily="34" charset="0"/>
                <a:ea typeface="Calibri" pitchFamily="34" charset="-122"/>
                <a:cs typeface="Calibri" pitchFamily="34" charset="-120"/>
              </a:rPr>
              <a:t>SECTION 4  ·  REFLECTION + DEMO</a:t>
            </a:r>
            <a:endParaRPr lang="en-US" sz="1400" dirty="0"/>
          </a:p>
        </p:txBody>
      </p:sp>
      <p:sp>
        <p:nvSpPr>
          <p:cNvPr id="4" name="Text 2"/>
          <p:cNvSpPr/>
          <p:nvPr/>
        </p:nvSpPr>
        <p:spPr>
          <a:xfrm>
            <a:off x="731520" y="2651760"/>
            <a:ext cx="10972800" cy="201168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What went right, what didn't,</a:t>
            </a:r>
            <a:endParaRPr lang="en-US" sz="4200" dirty="0"/>
          </a:p>
          <a:p>
            <a:pPr marL="0" indent="0">
              <a:buNone/>
            </a:pPr>
            <a:r>
              <a:rPr lang="en-US" sz="4200" b="1" dirty="0">
                <a:solidFill>
                  <a:srgbClr val="FFFFFF"/>
                </a:solidFill>
                <a:latin typeface="Cambria" pitchFamily="34" charset="0"/>
                <a:ea typeface="Cambria" pitchFamily="34" charset="-122"/>
                <a:cs typeface="Cambria" pitchFamily="34" charset="-120"/>
              </a:rPr>
              <a:t>and a live demo</a:t>
            </a:r>
            <a:endParaRPr lang="en-US" sz="4200" dirty="0"/>
          </a:p>
        </p:txBody>
      </p:sp>
      <p:sp>
        <p:nvSpPr>
          <p:cNvPr id="5" name="Text 3"/>
          <p:cNvSpPr/>
          <p:nvPr/>
        </p:nvSpPr>
        <p:spPr>
          <a:xfrm>
            <a:off x="731520" y="5303520"/>
            <a:ext cx="10972800" cy="36576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Presenter: Raj Vedire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12  ·  LESSONS LEARNED</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Three wins, two losses, one meta-lesson</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Shape 3"/>
          <p:cNvSpPr/>
          <p:nvPr/>
        </p:nvSpPr>
        <p:spPr>
          <a:xfrm>
            <a:off x="457200" y="1600200"/>
            <a:ext cx="5577840" cy="4663440"/>
          </a:xfrm>
          <a:prstGeom prst="rect">
            <a:avLst/>
          </a:prstGeom>
          <a:solidFill>
            <a:srgbClr val="F4F9FC"/>
          </a:solidFill>
          <a:ln w="6350">
            <a:solidFill>
              <a:srgbClr val="D5DFE9"/>
            </a:solidFill>
            <a:prstDash val="solid"/>
          </a:ln>
        </p:spPr>
        <p:txBody>
          <a:bodyPr/>
          <a:lstStyle/>
          <a:p>
            <a:endParaRPr lang="en-IN"/>
          </a:p>
        </p:txBody>
      </p:sp>
      <p:sp>
        <p:nvSpPr>
          <p:cNvPr id="6" name="Shape 4"/>
          <p:cNvSpPr/>
          <p:nvPr/>
        </p:nvSpPr>
        <p:spPr>
          <a:xfrm>
            <a:off x="457200" y="1600200"/>
            <a:ext cx="5577840" cy="411480"/>
          </a:xfrm>
          <a:prstGeom prst="rect">
            <a:avLst/>
          </a:prstGeom>
          <a:solidFill>
            <a:srgbClr val="2E7D32"/>
          </a:solidFill>
          <a:ln/>
        </p:spPr>
        <p:txBody>
          <a:bodyPr/>
          <a:lstStyle/>
          <a:p>
            <a:endParaRPr lang="en-IN"/>
          </a:p>
        </p:txBody>
      </p:sp>
      <p:sp>
        <p:nvSpPr>
          <p:cNvPr id="7" name="Text 5"/>
          <p:cNvSpPr/>
          <p:nvPr/>
        </p:nvSpPr>
        <p:spPr>
          <a:xfrm>
            <a:off x="640080" y="1600200"/>
            <a:ext cx="5212080" cy="411480"/>
          </a:xfrm>
          <a:prstGeom prst="rect">
            <a:avLst/>
          </a:prstGeom>
          <a:noFill/>
          <a:ln/>
        </p:spPr>
        <p:txBody>
          <a:bodyPr wrap="square" lIns="0" tIns="0" rIns="0" bIns="0" rtlCol="0" anchor="ctr"/>
          <a:lstStyle/>
          <a:p>
            <a:pPr marL="0" indent="0">
              <a:buNone/>
            </a:pPr>
            <a:r>
              <a:rPr lang="en-US" sz="1600" b="1" kern="0" spc="200" dirty="0">
                <a:solidFill>
                  <a:srgbClr val="FFFFFF"/>
                </a:solidFill>
                <a:latin typeface="Cambria" pitchFamily="34" charset="0"/>
                <a:ea typeface="Cambria" pitchFamily="34" charset="-122"/>
                <a:cs typeface="Cambria" pitchFamily="34" charset="-120"/>
              </a:rPr>
              <a:t>WHAT WORKED</a:t>
            </a:r>
            <a:endParaRPr lang="en-US" sz="1600" dirty="0"/>
          </a:p>
        </p:txBody>
      </p:sp>
      <p:sp>
        <p:nvSpPr>
          <p:cNvPr id="8" name="Text 6"/>
          <p:cNvSpPr/>
          <p:nvPr/>
        </p:nvSpPr>
        <p:spPr>
          <a:xfrm>
            <a:off x="685800" y="2194560"/>
            <a:ext cx="365760" cy="365760"/>
          </a:xfrm>
          <a:prstGeom prst="rect">
            <a:avLst/>
          </a:prstGeom>
          <a:noFill/>
          <a:ln/>
        </p:spPr>
        <p:txBody>
          <a:bodyPr wrap="square" lIns="0" tIns="0" rIns="0" bIns="0" rtlCol="0" anchor="ctr"/>
          <a:lstStyle/>
          <a:p>
            <a:pPr marL="0" indent="0">
              <a:buNone/>
            </a:pPr>
            <a:r>
              <a:rPr lang="en-US" sz="2200" b="1" dirty="0">
                <a:solidFill>
                  <a:srgbClr val="2E7D32"/>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1097280" y="2194560"/>
            <a:ext cx="4800600" cy="365760"/>
          </a:xfrm>
          <a:prstGeom prst="rect">
            <a:avLst/>
          </a:prstGeom>
          <a:noFill/>
          <a:ln/>
        </p:spPr>
        <p:txBody>
          <a:bodyPr wrap="square" lIns="0" tIns="0" rIns="0" bIns="0" rtlCol="0" anchor="t"/>
          <a:lstStyle/>
          <a:p>
            <a:pPr marL="0" indent="0">
              <a:buNone/>
            </a:pPr>
            <a:r>
              <a:rPr lang="en-US" sz="1400" b="1" dirty="0">
                <a:solidFill>
                  <a:srgbClr val="0D2C54"/>
                </a:solidFill>
                <a:latin typeface="Cambria" pitchFamily="34" charset="0"/>
                <a:ea typeface="Cambria" pitchFamily="34" charset="-122"/>
                <a:cs typeface="Cambria" pitchFamily="34" charset="-120"/>
              </a:rPr>
              <a:t>The ablation was worth doing</a:t>
            </a:r>
            <a:endParaRPr lang="en-US" sz="1400" dirty="0"/>
          </a:p>
        </p:txBody>
      </p:sp>
      <p:sp>
        <p:nvSpPr>
          <p:cNvPr id="10" name="Text 8"/>
          <p:cNvSpPr/>
          <p:nvPr/>
        </p:nvSpPr>
        <p:spPr>
          <a:xfrm>
            <a:off x="1097280" y="2560320"/>
            <a:ext cx="4800600" cy="10058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V1 had submitted charge at 62% feature importance - nearly leaky. The V2 no-charge variant is 0.015 R² weaker but actually deployable. Honest wins over shiny every time.</a:t>
            </a:r>
            <a:endParaRPr lang="en-US" sz="1100" dirty="0"/>
          </a:p>
        </p:txBody>
      </p:sp>
      <p:sp>
        <p:nvSpPr>
          <p:cNvPr id="11" name="Text 9"/>
          <p:cNvSpPr/>
          <p:nvPr/>
        </p:nvSpPr>
        <p:spPr>
          <a:xfrm>
            <a:off x="685800" y="3566160"/>
            <a:ext cx="365760" cy="365760"/>
          </a:xfrm>
          <a:prstGeom prst="rect">
            <a:avLst/>
          </a:prstGeom>
          <a:noFill/>
          <a:ln/>
        </p:spPr>
        <p:txBody>
          <a:bodyPr wrap="square" lIns="0" tIns="0" rIns="0" bIns="0" rtlCol="0" anchor="ctr"/>
          <a:lstStyle/>
          <a:p>
            <a:pPr marL="0" indent="0">
              <a:buNone/>
            </a:pPr>
            <a:r>
              <a:rPr lang="en-US" sz="2200" b="1" dirty="0">
                <a:solidFill>
                  <a:srgbClr val="2E7D32"/>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1097280" y="3566160"/>
            <a:ext cx="4800600" cy="365760"/>
          </a:xfrm>
          <a:prstGeom prst="rect">
            <a:avLst/>
          </a:prstGeom>
          <a:noFill/>
          <a:ln/>
        </p:spPr>
        <p:txBody>
          <a:bodyPr wrap="square" lIns="0" tIns="0" rIns="0" bIns="0" rtlCol="0" anchor="t"/>
          <a:lstStyle/>
          <a:p>
            <a:pPr marL="0" indent="0">
              <a:buNone/>
            </a:pPr>
            <a:r>
              <a:rPr lang="en-US" sz="1400" b="1" dirty="0">
                <a:solidFill>
                  <a:srgbClr val="0D2C54"/>
                </a:solidFill>
                <a:latin typeface="Cambria" pitchFamily="34" charset="0"/>
                <a:ea typeface="Cambria" pitchFamily="34" charset="-122"/>
                <a:cs typeface="Cambria" pitchFamily="34" charset="-120"/>
              </a:rPr>
              <a:t>LightGBM was the right default</a:t>
            </a:r>
            <a:endParaRPr lang="en-US" sz="1400" dirty="0"/>
          </a:p>
        </p:txBody>
      </p:sp>
      <p:sp>
        <p:nvSpPr>
          <p:cNvPr id="13" name="Text 11"/>
          <p:cNvSpPr/>
          <p:nvPr/>
        </p:nvSpPr>
        <p:spPr>
          <a:xfrm>
            <a:off x="1097280" y="3931920"/>
            <a:ext cx="4800600" cy="10058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Beat XGBoost, CatBoost, Random Forest, and a 5-fold ensemble at the cost that mattered (serving simplicity). Boring and correct.</a:t>
            </a:r>
            <a:endParaRPr lang="en-US" sz="1100" dirty="0"/>
          </a:p>
        </p:txBody>
      </p:sp>
      <p:sp>
        <p:nvSpPr>
          <p:cNvPr id="14" name="Text 12"/>
          <p:cNvSpPr/>
          <p:nvPr/>
        </p:nvSpPr>
        <p:spPr>
          <a:xfrm>
            <a:off x="685800" y="4937760"/>
            <a:ext cx="365760" cy="365760"/>
          </a:xfrm>
          <a:prstGeom prst="rect">
            <a:avLst/>
          </a:prstGeom>
          <a:noFill/>
          <a:ln/>
        </p:spPr>
        <p:txBody>
          <a:bodyPr wrap="square" lIns="0" tIns="0" rIns="0" bIns="0" rtlCol="0" anchor="ctr"/>
          <a:lstStyle/>
          <a:p>
            <a:pPr marL="0" indent="0">
              <a:buNone/>
            </a:pPr>
            <a:r>
              <a:rPr lang="en-US" sz="2200" b="1" dirty="0">
                <a:solidFill>
                  <a:srgbClr val="2E7D32"/>
                </a:solidFill>
                <a:latin typeface="Cambria" pitchFamily="34" charset="0"/>
                <a:ea typeface="Cambria" pitchFamily="34" charset="-122"/>
                <a:cs typeface="Cambria" pitchFamily="34" charset="-120"/>
              </a:rPr>
              <a:t>3</a:t>
            </a:r>
            <a:endParaRPr lang="en-US" sz="2200" dirty="0"/>
          </a:p>
        </p:txBody>
      </p:sp>
      <p:sp>
        <p:nvSpPr>
          <p:cNvPr id="15" name="Text 13"/>
          <p:cNvSpPr/>
          <p:nvPr/>
        </p:nvSpPr>
        <p:spPr>
          <a:xfrm>
            <a:off x="1097280" y="4937760"/>
            <a:ext cx="4800600" cy="365760"/>
          </a:xfrm>
          <a:prstGeom prst="rect">
            <a:avLst/>
          </a:prstGeom>
          <a:noFill/>
          <a:ln/>
        </p:spPr>
        <p:txBody>
          <a:bodyPr wrap="square" lIns="0" tIns="0" rIns="0" bIns="0" rtlCol="0" anchor="t"/>
          <a:lstStyle/>
          <a:p>
            <a:pPr marL="0" indent="0">
              <a:buNone/>
            </a:pPr>
            <a:r>
              <a:rPr lang="en-US" sz="1400" b="1" dirty="0">
                <a:solidFill>
                  <a:srgbClr val="0D2C54"/>
                </a:solidFill>
                <a:latin typeface="Cambria" pitchFamily="34" charset="0"/>
                <a:ea typeface="Cambria" pitchFamily="34" charset="-122"/>
                <a:cs typeface="Cambria" pitchFamily="34" charset="-120"/>
              </a:rPr>
              <a:t>Log-transforming the target</a:t>
            </a:r>
            <a:endParaRPr lang="en-US" sz="1400" dirty="0"/>
          </a:p>
        </p:txBody>
      </p:sp>
      <p:sp>
        <p:nvSpPr>
          <p:cNvPr id="16" name="Text 14"/>
          <p:cNvSpPr/>
          <p:nvPr/>
        </p:nvSpPr>
        <p:spPr>
          <a:xfrm>
            <a:off x="1097280" y="5303520"/>
            <a:ext cx="4800600" cy="10058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log1p on a right-skewed target added ~0.08 R² for 10 minutes of work. Ratio of payoff to effort was the highest of any change we made.</a:t>
            </a:r>
            <a:endParaRPr lang="en-US" sz="1100" dirty="0"/>
          </a:p>
        </p:txBody>
      </p:sp>
      <p:sp>
        <p:nvSpPr>
          <p:cNvPr id="17" name="Shape 15"/>
          <p:cNvSpPr/>
          <p:nvPr/>
        </p:nvSpPr>
        <p:spPr>
          <a:xfrm>
            <a:off x="6172200" y="1600200"/>
            <a:ext cx="5577840" cy="4663440"/>
          </a:xfrm>
          <a:prstGeom prst="rect">
            <a:avLst/>
          </a:prstGeom>
          <a:solidFill>
            <a:srgbClr val="F4F9FC"/>
          </a:solidFill>
          <a:ln w="6350">
            <a:solidFill>
              <a:srgbClr val="D5DFE9"/>
            </a:solidFill>
            <a:prstDash val="solid"/>
          </a:ln>
        </p:spPr>
        <p:txBody>
          <a:bodyPr/>
          <a:lstStyle/>
          <a:p>
            <a:endParaRPr lang="en-IN"/>
          </a:p>
        </p:txBody>
      </p:sp>
      <p:sp>
        <p:nvSpPr>
          <p:cNvPr id="18" name="Shape 16"/>
          <p:cNvSpPr/>
          <p:nvPr/>
        </p:nvSpPr>
        <p:spPr>
          <a:xfrm>
            <a:off x="6172200" y="1600200"/>
            <a:ext cx="5577840" cy="411480"/>
          </a:xfrm>
          <a:prstGeom prst="rect">
            <a:avLst/>
          </a:prstGeom>
          <a:solidFill>
            <a:srgbClr val="E0613E"/>
          </a:solidFill>
          <a:ln/>
        </p:spPr>
        <p:txBody>
          <a:bodyPr/>
          <a:lstStyle/>
          <a:p>
            <a:endParaRPr lang="en-IN"/>
          </a:p>
        </p:txBody>
      </p:sp>
      <p:sp>
        <p:nvSpPr>
          <p:cNvPr id="19" name="Text 17"/>
          <p:cNvSpPr/>
          <p:nvPr/>
        </p:nvSpPr>
        <p:spPr>
          <a:xfrm>
            <a:off x="6355080" y="1600200"/>
            <a:ext cx="5212080" cy="411480"/>
          </a:xfrm>
          <a:prstGeom prst="rect">
            <a:avLst/>
          </a:prstGeom>
          <a:noFill/>
          <a:ln/>
        </p:spPr>
        <p:txBody>
          <a:bodyPr wrap="square" lIns="0" tIns="0" rIns="0" bIns="0" rtlCol="0" anchor="ctr"/>
          <a:lstStyle/>
          <a:p>
            <a:pPr marL="0" indent="0">
              <a:buNone/>
            </a:pPr>
            <a:r>
              <a:rPr lang="en-US" sz="1600" b="1" kern="0" spc="200" dirty="0">
                <a:solidFill>
                  <a:srgbClr val="FFFFFF"/>
                </a:solidFill>
                <a:latin typeface="Cambria" pitchFamily="34" charset="0"/>
                <a:ea typeface="Cambria" pitchFamily="34" charset="-122"/>
                <a:cs typeface="Cambria" pitchFamily="34" charset="-120"/>
              </a:rPr>
              <a:t>WHAT DIDN’T</a:t>
            </a:r>
            <a:endParaRPr lang="en-US" sz="1600" dirty="0"/>
          </a:p>
        </p:txBody>
      </p:sp>
      <p:sp>
        <p:nvSpPr>
          <p:cNvPr id="20" name="Text 18"/>
          <p:cNvSpPr/>
          <p:nvPr/>
        </p:nvSpPr>
        <p:spPr>
          <a:xfrm>
            <a:off x="6400800" y="2194560"/>
            <a:ext cx="365760" cy="365760"/>
          </a:xfrm>
          <a:prstGeom prst="rect">
            <a:avLst/>
          </a:prstGeom>
          <a:noFill/>
          <a:ln/>
        </p:spPr>
        <p:txBody>
          <a:bodyPr wrap="square" lIns="0" tIns="0" rIns="0" bIns="0" rtlCol="0" anchor="ctr"/>
          <a:lstStyle/>
          <a:p>
            <a:pPr marL="0" indent="0">
              <a:buNone/>
            </a:pPr>
            <a:r>
              <a:rPr lang="en-US" sz="2200" b="1" dirty="0">
                <a:solidFill>
                  <a:srgbClr val="E0613E"/>
                </a:solidFill>
                <a:latin typeface="Cambria" pitchFamily="34" charset="0"/>
                <a:ea typeface="Cambria" pitchFamily="34" charset="-122"/>
                <a:cs typeface="Cambria" pitchFamily="34" charset="-120"/>
              </a:rPr>
              <a:t>1</a:t>
            </a:r>
            <a:endParaRPr lang="en-US" sz="2200" dirty="0"/>
          </a:p>
        </p:txBody>
      </p:sp>
      <p:sp>
        <p:nvSpPr>
          <p:cNvPr id="21" name="Text 19"/>
          <p:cNvSpPr/>
          <p:nvPr/>
        </p:nvSpPr>
        <p:spPr>
          <a:xfrm>
            <a:off x="6812280" y="2194560"/>
            <a:ext cx="4800600" cy="365760"/>
          </a:xfrm>
          <a:prstGeom prst="rect">
            <a:avLst/>
          </a:prstGeom>
          <a:noFill/>
          <a:ln/>
        </p:spPr>
        <p:txBody>
          <a:bodyPr wrap="square" lIns="0" tIns="0" rIns="0" bIns="0" rtlCol="0" anchor="t"/>
          <a:lstStyle/>
          <a:p>
            <a:pPr marL="0" indent="0">
              <a:buNone/>
            </a:pPr>
            <a:r>
              <a:rPr lang="en-US" sz="1400" b="1" dirty="0">
                <a:solidFill>
                  <a:srgbClr val="0D2C54"/>
                </a:solidFill>
                <a:latin typeface="Cambria" pitchFamily="34" charset="0"/>
                <a:ea typeface="Cambria" pitchFamily="34" charset="-122"/>
                <a:cs typeface="Cambria" pitchFamily="34" charset="-120"/>
              </a:rPr>
              <a:t>Teacher-forcing bug in LSTM eval</a:t>
            </a:r>
            <a:endParaRPr lang="en-US" sz="1400" dirty="0"/>
          </a:p>
        </p:txBody>
      </p:sp>
      <p:sp>
        <p:nvSpPr>
          <p:cNvPr id="22" name="Text 20"/>
          <p:cNvSpPr/>
          <p:nvPr/>
        </p:nvSpPr>
        <p:spPr>
          <a:xfrm>
            <a:off x="6812280" y="2560320"/>
            <a:ext cx="4800600" cy="10058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Our evaluate() fed the TRUE previous value during testing instead of the model’s own prediction. Inflated LSTM RMSE from $18 (real) to $8 (fake) for three phases. Lesson: test autoregressive rollout explicitly.</a:t>
            </a:r>
            <a:endParaRPr lang="en-US" sz="1100" dirty="0"/>
          </a:p>
        </p:txBody>
      </p:sp>
      <p:sp>
        <p:nvSpPr>
          <p:cNvPr id="23" name="Text 21"/>
          <p:cNvSpPr/>
          <p:nvPr/>
        </p:nvSpPr>
        <p:spPr>
          <a:xfrm>
            <a:off x="6400800" y="3566160"/>
            <a:ext cx="365760" cy="365760"/>
          </a:xfrm>
          <a:prstGeom prst="rect">
            <a:avLst/>
          </a:prstGeom>
          <a:noFill/>
          <a:ln/>
        </p:spPr>
        <p:txBody>
          <a:bodyPr wrap="square" lIns="0" tIns="0" rIns="0" bIns="0" rtlCol="0" anchor="ctr"/>
          <a:lstStyle/>
          <a:p>
            <a:pPr marL="0" indent="0">
              <a:buNone/>
            </a:pPr>
            <a:r>
              <a:rPr lang="en-US" sz="2200" b="1" dirty="0">
                <a:solidFill>
                  <a:srgbClr val="E0613E"/>
                </a:solidFill>
                <a:latin typeface="Cambria" pitchFamily="34" charset="0"/>
                <a:ea typeface="Cambria" pitchFamily="34" charset="-122"/>
                <a:cs typeface="Cambria" pitchFamily="34" charset="-120"/>
              </a:rPr>
              <a:t>2</a:t>
            </a:r>
            <a:endParaRPr lang="en-US" sz="2200" dirty="0"/>
          </a:p>
        </p:txBody>
      </p:sp>
      <p:sp>
        <p:nvSpPr>
          <p:cNvPr id="24" name="Text 22"/>
          <p:cNvSpPr/>
          <p:nvPr/>
        </p:nvSpPr>
        <p:spPr>
          <a:xfrm>
            <a:off x="6812280" y="3566160"/>
            <a:ext cx="4800600" cy="365760"/>
          </a:xfrm>
          <a:prstGeom prst="rect">
            <a:avLst/>
          </a:prstGeom>
          <a:noFill/>
          <a:ln/>
        </p:spPr>
        <p:txBody>
          <a:bodyPr wrap="square" lIns="0" tIns="0" rIns="0" bIns="0" rtlCol="0" anchor="t"/>
          <a:lstStyle/>
          <a:p>
            <a:pPr marL="0" indent="0">
              <a:buNone/>
            </a:pPr>
            <a:r>
              <a:rPr lang="en-US" sz="1400" b="1" dirty="0">
                <a:solidFill>
                  <a:srgbClr val="0D2C54"/>
                </a:solidFill>
                <a:latin typeface="Cambria" pitchFamily="34" charset="0"/>
                <a:ea typeface="Cambria" pitchFamily="34" charset="-122"/>
                <a:cs typeface="Cambria" pitchFamily="34" charset="-120"/>
              </a:rPr>
              <a:t>Monotonic constraints on synthetic OOP</a:t>
            </a:r>
            <a:endParaRPr lang="en-US" sz="1400" dirty="0"/>
          </a:p>
        </p:txBody>
      </p:sp>
      <p:sp>
        <p:nvSpPr>
          <p:cNvPr id="25" name="Text 23"/>
          <p:cNvSpPr/>
          <p:nvPr/>
        </p:nvSpPr>
        <p:spPr>
          <a:xfrm>
            <a:off x="6812280" y="3931920"/>
            <a:ext cx="4800600" cy="10058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V2 CatBoost-monotonic with 5 domain constraints LOST to V1 quantile regression. The constraints were correct a priori - but the synthetic distribution didn’t obey them. Don’t over-engineer on proxy data.</a:t>
            </a:r>
            <a:endParaRPr lang="en-US" sz="1100" dirty="0"/>
          </a:p>
        </p:txBody>
      </p:sp>
      <p:sp>
        <p:nvSpPr>
          <p:cNvPr id="26" name="Shape 24"/>
          <p:cNvSpPr/>
          <p:nvPr/>
        </p:nvSpPr>
        <p:spPr>
          <a:xfrm>
            <a:off x="6172200" y="4937760"/>
            <a:ext cx="5577840" cy="1307592"/>
          </a:xfrm>
          <a:prstGeom prst="rect">
            <a:avLst/>
          </a:prstGeom>
          <a:solidFill>
            <a:srgbClr val="0D2C54"/>
          </a:solidFill>
          <a:ln/>
        </p:spPr>
        <p:txBody>
          <a:bodyPr/>
          <a:lstStyle/>
          <a:p>
            <a:endParaRPr lang="en-IN"/>
          </a:p>
        </p:txBody>
      </p:sp>
      <p:sp>
        <p:nvSpPr>
          <p:cNvPr id="27" name="Text 25"/>
          <p:cNvSpPr/>
          <p:nvPr/>
        </p:nvSpPr>
        <p:spPr>
          <a:xfrm>
            <a:off x="6400800" y="5029200"/>
            <a:ext cx="5303520" cy="274320"/>
          </a:xfrm>
          <a:prstGeom prst="rect">
            <a:avLst/>
          </a:prstGeom>
          <a:noFill/>
          <a:ln/>
        </p:spPr>
        <p:txBody>
          <a:bodyPr wrap="square" lIns="0" tIns="0" rIns="0" bIns="0" rtlCol="0" anchor="ctr"/>
          <a:lstStyle/>
          <a:p>
            <a:pPr marL="0" indent="0">
              <a:buNone/>
            </a:pPr>
            <a:r>
              <a:rPr lang="en-US" sz="1000" b="1" kern="0" spc="300" dirty="0">
                <a:solidFill>
                  <a:srgbClr val="2AB7CA"/>
                </a:solidFill>
                <a:latin typeface="Calibri" pitchFamily="34" charset="0"/>
                <a:ea typeface="Calibri" pitchFamily="34" charset="-122"/>
                <a:cs typeface="Calibri" pitchFamily="34" charset="-120"/>
              </a:rPr>
              <a:t>META-LESSON</a:t>
            </a:r>
            <a:endParaRPr lang="en-US" sz="1000" dirty="0"/>
          </a:p>
        </p:txBody>
      </p:sp>
      <p:sp>
        <p:nvSpPr>
          <p:cNvPr id="28" name="Text 26"/>
          <p:cNvSpPr/>
          <p:nvPr/>
        </p:nvSpPr>
        <p:spPr>
          <a:xfrm>
            <a:off x="6400800" y="5303520"/>
            <a:ext cx="5303520" cy="411480"/>
          </a:xfrm>
          <a:prstGeom prst="rect">
            <a:avLst/>
          </a:prstGeom>
          <a:noFill/>
          <a:ln/>
        </p:spPr>
        <p:txBody>
          <a:bodyPr wrap="square" lIns="0" tIns="0" rIns="0" bIns="0" rtlCol="0" anchor="ctr"/>
          <a:lstStyle/>
          <a:p>
            <a:pPr marL="0" indent="0">
              <a:buNone/>
            </a:pPr>
            <a:r>
              <a:rPr lang="en-US" sz="1500" b="1" i="1" dirty="0">
                <a:solidFill>
                  <a:srgbClr val="FFFFFF"/>
                </a:solidFill>
                <a:latin typeface="Cambria" pitchFamily="34" charset="0"/>
                <a:ea typeface="Cambria" pitchFamily="34" charset="-122"/>
                <a:cs typeface="Cambria" pitchFamily="34" charset="-120"/>
              </a:rPr>
              <a:t>A clean baseline beats a clever failure.</a:t>
            </a:r>
            <a:endParaRPr lang="en-US" sz="1500" dirty="0"/>
          </a:p>
        </p:txBody>
      </p:sp>
      <p:sp>
        <p:nvSpPr>
          <p:cNvPr id="29" name="Text 27"/>
          <p:cNvSpPr/>
          <p:nvPr/>
        </p:nvSpPr>
        <p:spPr>
          <a:xfrm>
            <a:off x="6400800" y="5715000"/>
            <a:ext cx="5303520" cy="502920"/>
          </a:xfrm>
          <a:prstGeom prst="rect">
            <a:avLst/>
          </a:prstGeom>
          <a:noFill/>
          <a:ln/>
        </p:spPr>
        <p:txBody>
          <a:bodyPr wrap="square" lIns="0" tIns="0" rIns="0" bIns="0" rtlCol="0" anchor="t"/>
          <a:lstStyle/>
          <a:p>
            <a:pPr marL="0" indent="0">
              <a:buNone/>
            </a:pPr>
            <a:r>
              <a:rPr lang="en-US" sz="1000" i="1" dirty="0">
                <a:solidFill>
                  <a:srgbClr val="CADCFC"/>
                </a:solidFill>
                <a:latin typeface="Calibri" pitchFamily="34" charset="0"/>
                <a:ea typeface="Calibri" pitchFamily="34" charset="-122"/>
                <a:cs typeface="Calibri" pitchFamily="34" charset="-120"/>
              </a:rPr>
              <a:t>Every trick we tried - charge-ratio targets, CPI deflation, hierarchical reconciliation, TFT - lost to simple LightGBM on the raw target.</a:t>
            </a:r>
            <a:endParaRPr lang="en-US" sz="1000" dirty="0"/>
          </a:p>
        </p:txBody>
      </p:sp>
      <p:sp>
        <p:nvSpPr>
          <p:cNvPr id="30" name="Shape 28"/>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31" name="Text 29"/>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32" name="Text 30"/>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RAJ VEDIRE</a:t>
            </a:r>
            <a:endParaRPr lang="en-US" sz="900" dirty="0"/>
          </a:p>
        </p:txBody>
      </p:sp>
      <p:sp>
        <p:nvSpPr>
          <p:cNvPr id="33" name="Text 31"/>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17 / 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292608"/>
          </a:xfrm>
          <a:prstGeom prst="rect">
            <a:avLst/>
          </a:prstGeom>
          <a:noFill/>
          <a:ln/>
        </p:spPr>
        <p:txBody>
          <a:bodyPr wrap="square" lIns="0" tIns="0" rIns="0" bIns="0" rtlCol="0" anchor="ctr"/>
          <a:lstStyle/>
          <a:p>
            <a:pPr marL="0" indent="0">
              <a:buNone/>
            </a:pPr>
            <a:r>
              <a:rPr lang="en-US" sz="1100" b="1" kern="0" spc="300" dirty="0">
                <a:solidFill>
                  <a:srgbClr val="2AB7CA"/>
                </a:solidFill>
                <a:latin typeface="Calibri" pitchFamily="34" charset="0"/>
                <a:ea typeface="Calibri" pitchFamily="34" charset="-122"/>
                <a:cs typeface="Calibri" pitchFamily="34" charset="-120"/>
              </a:rPr>
              <a:t>13  ·  LIVE DEMO</a:t>
            </a:r>
            <a:endParaRPr lang="en-US" sz="1100" dirty="0"/>
          </a:p>
        </p:txBody>
      </p:sp>
      <p:sp>
        <p:nvSpPr>
          <p:cNvPr id="3" name="Text 1"/>
          <p:cNvSpPr/>
          <p:nvPr/>
        </p:nvSpPr>
        <p:spPr>
          <a:xfrm>
            <a:off x="457200" y="640080"/>
            <a:ext cx="11247120" cy="685800"/>
          </a:xfrm>
          <a:prstGeom prst="rect">
            <a:avLst/>
          </a:prstGeom>
          <a:noFill/>
          <a:ln/>
        </p:spPr>
        <p:txBody>
          <a:bodyPr wrap="square" lIns="0" tIns="0" rIns="0" bIns="0" rtlCol="0" anchor="ctr"/>
          <a:lstStyle/>
          <a:p>
            <a:pPr marL="0" indent="0">
              <a:buNone/>
            </a:pPr>
            <a:r>
              <a:rPr lang="en-US" sz="3000" b="1" dirty="0">
                <a:solidFill>
                  <a:srgbClr val="0D2C54"/>
                </a:solidFill>
                <a:latin typeface="Cambria" pitchFamily="34" charset="0"/>
                <a:ea typeface="Cambria" pitchFamily="34" charset="-122"/>
                <a:cs typeface="Cambria" pitchFamily="34" charset="-120"/>
              </a:rPr>
              <a:t>A quick tour of the web app</a:t>
            </a:r>
            <a:endParaRPr lang="en-US" sz="3000" dirty="0"/>
          </a:p>
        </p:txBody>
      </p:sp>
      <p:sp>
        <p:nvSpPr>
          <p:cNvPr id="4" name="Shape 2"/>
          <p:cNvSpPr/>
          <p:nvPr/>
        </p:nvSpPr>
        <p:spPr>
          <a:xfrm>
            <a:off x="457200" y="1371600"/>
            <a:ext cx="11247120" cy="0"/>
          </a:xfrm>
          <a:prstGeom prst="line">
            <a:avLst/>
          </a:prstGeom>
          <a:noFill/>
          <a:ln w="12700">
            <a:solidFill>
              <a:srgbClr val="D5DFE9"/>
            </a:solidFill>
            <a:prstDash val="solid"/>
          </a:ln>
        </p:spPr>
        <p:txBody>
          <a:bodyPr/>
          <a:lstStyle/>
          <a:p>
            <a:endParaRPr lang="en-IN"/>
          </a:p>
        </p:txBody>
      </p:sp>
      <p:sp>
        <p:nvSpPr>
          <p:cNvPr id="5" name="Shape 3"/>
          <p:cNvSpPr/>
          <p:nvPr/>
        </p:nvSpPr>
        <p:spPr>
          <a:xfrm>
            <a:off x="457200" y="1600200"/>
            <a:ext cx="11292840" cy="868680"/>
          </a:xfrm>
          <a:prstGeom prst="rect">
            <a:avLst/>
          </a:prstGeom>
          <a:solidFill>
            <a:srgbClr val="0D2C54"/>
          </a:solidFill>
          <a:ln/>
        </p:spPr>
        <p:txBody>
          <a:bodyPr/>
          <a:lstStyle/>
          <a:p>
            <a:endParaRPr lang="en-IN"/>
          </a:p>
        </p:txBody>
      </p:sp>
      <p:sp>
        <p:nvSpPr>
          <p:cNvPr id="6" name="Text 4"/>
          <p:cNvSpPr/>
          <p:nvPr/>
        </p:nvSpPr>
        <p:spPr>
          <a:xfrm>
            <a:off x="731520" y="1600200"/>
            <a:ext cx="10972800" cy="868680"/>
          </a:xfrm>
          <a:prstGeom prst="rect">
            <a:avLst/>
          </a:prstGeom>
          <a:noFill/>
          <a:ln/>
        </p:spPr>
        <p:txBody>
          <a:bodyPr wrap="square" lIns="0" tIns="0" rIns="0" bIns="0" rtlCol="0" anchor="ctr"/>
          <a:lstStyle/>
          <a:p>
            <a:pPr marL="0" indent="0">
              <a:buNone/>
            </a:pPr>
            <a:r>
              <a:rPr lang="en-US" sz="3200" b="1" dirty="0">
                <a:solidFill>
                  <a:srgbClr val="2AB7CA"/>
                </a:solidFill>
                <a:latin typeface="Cambria" pitchFamily="34" charset="0"/>
                <a:ea typeface="Cambria" pitchFamily="34" charset="-122"/>
                <a:cs typeface="Cambria" pitchFamily="34" charset="-120"/>
              </a:rPr>
              <a:t>→  allowancemap.vercel.app</a:t>
            </a:r>
            <a:endParaRPr lang="en-US" sz="3200" dirty="0"/>
          </a:p>
        </p:txBody>
      </p:sp>
      <p:sp>
        <p:nvSpPr>
          <p:cNvPr id="7" name="Shape 5"/>
          <p:cNvSpPr/>
          <p:nvPr/>
        </p:nvSpPr>
        <p:spPr>
          <a:xfrm>
            <a:off x="457200" y="2743200"/>
            <a:ext cx="3611880" cy="3017520"/>
          </a:xfrm>
          <a:prstGeom prst="rect">
            <a:avLst/>
          </a:prstGeom>
          <a:solidFill>
            <a:srgbClr val="FFFFFF"/>
          </a:solidFill>
          <a:ln w="9525">
            <a:solidFill>
              <a:srgbClr val="D5DFE9"/>
            </a:solidFill>
            <a:prstDash val="solid"/>
          </a:ln>
        </p:spPr>
        <p:txBody>
          <a:bodyPr/>
          <a:lstStyle/>
          <a:p>
            <a:endParaRPr lang="en-IN"/>
          </a:p>
        </p:txBody>
      </p:sp>
      <p:sp>
        <p:nvSpPr>
          <p:cNvPr id="8" name="Shape 6"/>
          <p:cNvSpPr/>
          <p:nvPr/>
        </p:nvSpPr>
        <p:spPr>
          <a:xfrm>
            <a:off x="457200" y="2743200"/>
            <a:ext cx="3611880" cy="502920"/>
          </a:xfrm>
          <a:prstGeom prst="rect">
            <a:avLst/>
          </a:prstGeom>
          <a:solidFill>
            <a:srgbClr val="2AB7CA"/>
          </a:solidFill>
          <a:ln/>
        </p:spPr>
        <p:txBody>
          <a:bodyPr/>
          <a:lstStyle/>
          <a:p>
            <a:endParaRPr lang="en-IN"/>
          </a:p>
        </p:txBody>
      </p:sp>
      <p:sp>
        <p:nvSpPr>
          <p:cNvPr id="9" name="Text 7"/>
          <p:cNvSpPr/>
          <p:nvPr/>
        </p:nvSpPr>
        <p:spPr>
          <a:xfrm>
            <a:off x="685800" y="2743200"/>
            <a:ext cx="3154680" cy="502920"/>
          </a:xfrm>
          <a:prstGeom prst="rect">
            <a:avLst/>
          </a:prstGeom>
          <a:noFill/>
          <a:ln/>
        </p:spPr>
        <p:txBody>
          <a:bodyPr wrap="square" lIns="0" tIns="0" rIns="0" bIns="0" rtlCol="0" anchor="ctr"/>
          <a:lstStyle/>
          <a:p>
            <a:pPr marL="0" indent="0">
              <a:buNone/>
            </a:pPr>
            <a:r>
              <a:rPr lang="en-US" sz="1500" b="1" dirty="0">
                <a:solidFill>
                  <a:srgbClr val="FFFFFF"/>
                </a:solidFill>
                <a:latin typeface="Consolas" pitchFamily="34" charset="0"/>
                <a:ea typeface="Consolas" pitchFamily="34" charset="-122"/>
                <a:cs typeface="Consolas" pitchFamily="34" charset="-120"/>
              </a:rPr>
              <a:t>/</a:t>
            </a:r>
            <a:endParaRPr lang="en-US" sz="1500" dirty="0"/>
          </a:p>
        </p:txBody>
      </p:sp>
      <p:sp>
        <p:nvSpPr>
          <p:cNvPr id="10" name="Text 8"/>
          <p:cNvSpPr/>
          <p:nvPr/>
        </p:nvSpPr>
        <p:spPr>
          <a:xfrm>
            <a:off x="731520" y="3474720"/>
            <a:ext cx="3063240" cy="411480"/>
          </a:xfrm>
          <a:prstGeom prst="rect">
            <a:avLst/>
          </a:prstGeom>
          <a:noFill/>
          <a:ln/>
        </p:spPr>
        <p:txBody>
          <a:bodyPr wrap="square" lIns="0" tIns="0" rIns="0" bIns="0" rtlCol="0" anchor="ctr"/>
          <a:lstStyle/>
          <a:p>
            <a:pPr marL="0" indent="0">
              <a:buNone/>
            </a:pPr>
            <a:r>
              <a:rPr lang="en-US" sz="1800" b="1" dirty="0">
                <a:solidFill>
                  <a:srgbClr val="0D2C54"/>
                </a:solidFill>
                <a:latin typeface="Cambria" pitchFamily="34" charset="0"/>
                <a:ea typeface="Cambria" pitchFamily="34" charset="-122"/>
                <a:cs typeface="Cambria" pitchFamily="34" charset="-120"/>
              </a:rPr>
              <a:t>Cost Estimator</a:t>
            </a:r>
            <a:endParaRPr lang="en-US" sz="1800" dirty="0"/>
          </a:p>
        </p:txBody>
      </p:sp>
      <p:sp>
        <p:nvSpPr>
          <p:cNvPr id="11" name="Text 9"/>
          <p:cNvSpPr/>
          <p:nvPr/>
        </p:nvSpPr>
        <p:spPr>
          <a:xfrm>
            <a:off x="731520" y="3977640"/>
            <a:ext cx="3063240" cy="155448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Homepage. Three inputs → Stage 1 allowed amount + Stage 2 OOP range.</a:t>
            </a:r>
            <a:endParaRPr lang="en-US" sz="1200" dirty="0"/>
          </a:p>
        </p:txBody>
      </p:sp>
      <p:sp>
        <p:nvSpPr>
          <p:cNvPr id="12" name="Shape 10"/>
          <p:cNvSpPr/>
          <p:nvPr/>
        </p:nvSpPr>
        <p:spPr>
          <a:xfrm>
            <a:off x="4251960" y="2743200"/>
            <a:ext cx="3611880" cy="3017520"/>
          </a:xfrm>
          <a:prstGeom prst="rect">
            <a:avLst/>
          </a:prstGeom>
          <a:solidFill>
            <a:srgbClr val="FFFFFF"/>
          </a:solidFill>
          <a:ln w="9525">
            <a:solidFill>
              <a:srgbClr val="D5DFE9"/>
            </a:solidFill>
            <a:prstDash val="solid"/>
          </a:ln>
        </p:spPr>
        <p:txBody>
          <a:bodyPr/>
          <a:lstStyle/>
          <a:p>
            <a:endParaRPr lang="en-IN"/>
          </a:p>
        </p:txBody>
      </p:sp>
      <p:sp>
        <p:nvSpPr>
          <p:cNvPr id="13" name="Shape 11"/>
          <p:cNvSpPr/>
          <p:nvPr/>
        </p:nvSpPr>
        <p:spPr>
          <a:xfrm>
            <a:off x="4251960" y="2743200"/>
            <a:ext cx="3611880" cy="502920"/>
          </a:xfrm>
          <a:prstGeom prst="rect">
            <a:avLst/>
          </a:prstGeom>
          <a:solidFill>
            <a:srgbClr val="065A82"/>
          </a:solidFill>
          <a:ln/>
        </p:spPr>
        <p:txBody>
          <a:bodyPr/>
          <a:lstStyle/>
          <a:p>
            <a:endParaRPr lang="en-IN"/>
          </a:p>
        </p:txBody>
      </p:sp>
      <p:sp>
        <p:nvSpPr>
          <p:cNvPr id="14" name="Text 12"/>
          <p:cNvSpPr/>
          <p:nvPr/>
        </p:nvSpPr>
        <p:spPr>
          <a:xfrm>
            <a:off x="4480560" y="2743200"/>
            <a:ext cx="3154680" cy="502920"/>
          </a:xfrm>
          <a:prstGeom prst="rect">
            <a:avLst/>
          </a:prstGeom>
          <a:noFill/>
          <a:ln/>
        </p:spPr>
        <p:txBody>
          <a:bodyPr wrap="square" lIns="0" tIns="0" rIns="0" bIns="0" rtlCol="0" anchor="ctr"/>
          <a:lstStyle/>
          <a:p>
            <a:pPr marL="0" indent="0">
              <a:buNone/>
            </a:pPr>
            <a:r>
              <a:rPr lang="en-US" sz="1500" b="1" dirty="0">
                <a:solidFill>
                  <a:srgbClr val="FFFFFF"/>
                </a:solidFill>
                <a:latin typeface="Consolas" pitchFamily="34" charset="0"/>
                <a:ea typeface="Consolas" pitchFamily="34" charset="-122"/>
                <a:cs typeface="Consolas" pitchFamily="34" charset="-120"/>
              </a:rPr>
              <a:t>/forecast</a:t>
            </a:r>
            <a:endParaRPr lang="en-US" sz="1500" dirty="0"/>
          </a:p>
        </p:txBody>
      </p:sp>
      <p:sp>
        <p:nvSpPr>
          <p:cNvPr id="15" name="Text 13"/>
          <p:cNvSpPr/>
          <p:nvPr/>
        </p:nvSpPr>
        <p:spPr>
          <a:xfrm>
            <a:off x="4526280" y="3474720"/>
            <a:ext cx="3063240" cy="411480"/>
          </a:xfrm>
          <a:prstGeom prst="rect">
            <a:avLst/>
          </a:prstGeom>
          <a:noFill/>
          <a:ln/>
        </p:spPr>
        <p:txBody>
          <a:bodyPr wrap="square" lIns="0" tIns="0" rIns="0" bIns="0" rtlCol="0" anchor="ctr"/>
          <a:lstStyle/>
          <a:p>
            <a:pPr marL="0" indent="0">
              <a:buNone/>
            </a:pPr>
            <a:r>
              <a:rPr lang="en-US" sz="1800" b="1" dirty="0">
                <a:solidFill>
                  <a:srgbClr val="0D2C54"/>
                </a:solidFill>
                <a:latin typeface="Cambria" pitchFamily="34" charset="0"/>
                <a:ea typeface="Cambria" pitchFamily="34" charset="-122"/>
                <a:cs typeface="Cambria" pitchFamily="34" charset="-120"/>
              </a:rPr>
              <a:t>Forecast Explorer</a:t>
            </a:r>
            <a:endParaRPr lang="en-US" sz="1800" dirty="0"/>
          </a:p>
        </p:txBody>
      </p:sp>
      <p:sp>
        <p:nvSpPr>
          <p:cNvPr id="16" name="Text 14"/>
          <p:cNvSpPr/>
          <p:nvPr/>
        </p:nvSpPr>
        <p:spPr>
          <a:xfrm>
            <a:off x="4526280" y="3977640"/>
            <a:ext cx="3063240" cy="155448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LSTM-powered specialty-level projections for 2024-2026, with history.</a:t>
            </a:r>
            <a:endParaRPr lang="en-US" sz="1200" dirty="0"/>
          </a:p>
        </p:txBody>
      </p:sp>
      <p:sp>
        <p:nvSpPr>
          <p:cNvPr id="17" name="Shape 15"/>
          <p:cNvSpPr/>
          <p:nvPr/>
        </p:nvSpPr>
        <p:spPr>
          <a:xfrm>
            <a:off x="8046720" y="2743200"/>
            <a:ext cx="3611880" cy="3017520"/>
          </a:xfrm>
          <a:prstGeom prst="rect">
            <a:avLst/>
          </a:prstGeom>
          <a:solidFill>
            <a:srgbClr val="FFFFFF"/>
          </a:solidFill>
          <a:ln w="9525">
            <a:solidFill>
              <a:srgbClr val="D5DFE9"/>
            </a:solidFill>
            <a:prstDash val="solid"/>
          </a:ln>
        </p:spPr>
        <p:txBody>
          <a:bodyPr/>
          <a:lstStyle/>
          <a:p>
            <a:endParaRPr lang="en-IN"/>
          </a:p>
        </p:txBody>
      </p:sp>
      <p:sp>
        <p:nvSpPr>
          <p:cNvPr id="18" name="Shape 16"/>
          <p:cNvSpPr/>
          <p:nvPr/>
        </p:nvSpPr>
        <p:spPr>
          <a:xfrm>
            <a:off x="8046720" y="2743200"/>
            <a:ext cx="3611880" cy="502920"/>
          </a:xfrm>
          <a:prstGeom prst="rect">
            <a:avLst/>
          </a:prstGeom>
          <a:solidFill>
            <a:srgbClr val="1C7293"/>
          </a:solidFill>
          <a:ln/>
        </p:spPr>
        <p:txBody>
          <a:bodyPr/>
          <a:lstStyle/>
          <a:p>
            <a:endParaRPr lang="en-IN"/>
          </a:p>
        </p:txBody>
      </p:sp>
      <p:sp>
        <p:nvSpPr>
          <p:cNvPr id="19" name="Text 17"/>
          <p:cNvSpPr/>
          <p:nvPr/>
        </p:nvSpPr>
        <p:spPr>
          <a:xfrm>
            <a:off x="8275320" y="2743200"/>
            <a:ext cx="3154680" cy="502920"/>
          </a:xfrm>
          <a:prstGeom prst="rect">
            <a:avLst/>
          </a:prstGeom>
          <a:noFill/>
          <a:ln/>
        </p:spPr>
        <p:txBody>
          <a:bodyPr wrap="square" lIns="0" tIns="0" rIns="0" bIns="0" rtlCol="0" anchor="ctr"/>
          <a:lstStyle/>
          <a:p>
            <a:pPr marL="0" indent="0">
              <a:buNone/>
            </a:pPr>
            <a:r>
              <a:rPr lang="en-US" sz="1500" b="1" dirty="0">
                <a:solidFill>
                  <a:srgbClr val="FFFFFF"/>
                </a:solidFill>
                <a:latin typeface="Consolas" pitchFamily="34" charset="0"/>
                <a:ea typeface="Consolas" pitchFamily="34" charset="-122"/>
                <a:cs typeface="Consolas" pitchFamily="34" charset="-120"/>
              </a:rPr>
              <a:t>/about</a:t>
            </a:r>
            <a:endParaRPr lang="en-US" sz="1500" dirty="0"/>
          </a:p>
        </p:txBody>
      </p:sp>
      <p:sp>
        <p:nvSpPr>
          <p:cNvPr id="20" name="Text 18"/>
          <p:cNvSpPr/>
          <p:nvPr/>
        </p:nvSpPr>
        <p:spPr>
          <a:xfrm>
            <a:off x="8321040" y="3474720"/>
            <a:ext cx="3063240" cy="411480"/>
          </a:xfrm>
          <a:prstGeom prst="rect">
            <a:avLst/>
          </a:prstGeom>
          <a:noFill/>
          <a:ln/>
        </p:spPr>
        <p:txBody>
          <a:bodyPr wrap="square" lIns="0" tIns="0" rIns="0" bIns="0" rtlCol="0" anchor="ctr"/>
          <a:lstStyle/>
          <a:p>
            <a:pPr marL="0" indent="0">
              <a:buNone/>
            </a:pPr>
            <a:r>
              <a:rPr lang="en-US" sz="1800" b="1" dirty="0">
                <a:solidFill>
                  <a:srgbClr val="0D2C54"/>
                </a:solidFill>
                <a:latin typeface="Cambria" pitchFamily="34" charset="0"/>
                <a:ea typeface="Cambria" pitchFamily="34" charset="-122"/>
                <a:cs typeface="Cambria" pitchFamily="34" charset="-120"/>
              </a:rPr>
              <a:t>About &amp; Methodology</a:t>
            </a:r>
            <a:endParaRPr lang="en-US" sz="1800" dirty="0"/>
          </a:p>
        </p:txBody>
      </p:sp>
      <p:sp>
        <p:nvSpPr>
          <p:cNvPr id="21" name="Text 19"/>
          <p:cNvSpPr/>
          <p:nvPr/>
        </p:nvSpPr>
        <p:spPr>
          <a:xfrm>
            <a:off x="8321040" y="3977640"/>
            <a:ext cx="3063240" cy="155448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Data sources, model details, full pipeline walkthrough.</a:t>
            </a:r>
            <a:endParaRPr lang="en-US" sz="1200" dirty="0"/>
          </a:p>
        </p:txBody>
      </p:sp>
      <p:sp>
        <p:nvSpPr>
          <p:cNvPr id="22" name="Shape 20"/>
          <p:cNvSpPr/>
          <p:nvPr/>
        </p:nvSpPr>
        <p:spPr>
          <a:xfrm>
            <a:off x="457200" y="5943600"/>
            <a:ext cx="11292840" cy="365760"/>
          </a:xfrm>
          <a:prstGeom prst="rect">
            <a:avLst/>
          </a:prstGeom>
          <a:solidFill>
            <a:srgbClr val="F4F9FC"/>
          </a:solidFill>
          <a:ln/>
        </p:spPr>
        <p:txBody>
          <a:bodyPr/>
          <a:lstStyle/>
          <a:p>
            <a:endParaRPr lang="en-IN"/>
          </a:p>
        </p:txBody>
      </p:sp>
      <p:sp>
        <p:nvSpPr>
          <p:cNvPr id="23" name="Text 21"/>
          <p:cNvSpPr/>
          <p:nvPr/>
        </p:nvSpPr>
        <p:spPr>
          <a:xfrm>
            <a:off x="548640" y="5943600"/>
            <a:ext cx="1115568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Stack: Next.js 16  ·  MUI v9  ·  Recharts 3.8  ·  FastAPI  ·  Railway  ·  Vercel  ·  Supabase</a:t>
            </a:r>
            <a:endParaRPr lang="en-US" sz="1100" dirty="0"/>
          </a:p>
        </p:txBody>
      </p:sp>
      <p:sp>
        <p:nvSpPr>
          <p:cNvPr id="24" name="Shape 22"/>
          <p:cNvSpPr/>
          <p:nvPr/>
        </p:nvSpPr>
        <p:spPr>
          <a:xfrm>
            <a:off x="457200" y="6446520"/>
            <a:ext cx="11277295" cy="0"/>
          </a:xfrm>
          <a:prstGeom prst="line">
            <a:avLst/>
          </a:prstGeom>
          <a:noFill/>
          <a:ln w="9525">
            <a:solidFill>
              <a:srgbClr val="D5DFE9"/>
            </a:solidFill>
            <a:prstDash val="solid"/>
          </a:ln>
        </p:spPr>
        <p:txBody>
          <a:bodyPr/>
          <a:lstStyle/>
          <a:p>
            <a:endParaRPr lang="en-IN"/>
          </a:p>
        </p:txBody>
      </p:sp>
      <p:sp>
        <p:nvSpPr>
          <p:cNvPr id="25" name="Text 23"/>
          <p:cNvSpPr/>
          <p:nvPr/>
        </p:nvSpPr>
        <p:spPr>
          <a:xfrm>
            <a:off x="457200" y="6510528"/>
            <a:ext cx="68580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ALLOWANCEMAP  ·  MEDICARE PROVIDER COST ANALYSIS</a:t>
            </a:r>
            <a:endParaRPr lang="en-US" sz="900" dirty="0"/>
          </a:p>
        </p:txBody>
      </p:sp>
      <p:sp>
        <p:nvSpPr>
          <p:cNvPr id="26" name="Text 24"/>
          <p:cNvSpPr/>
          <p:nvPr/>
        </p:nvSpPr>
        <p:spPr>
          <a:xfrm>
            <a:off x="7315200" y="6510528"/>
            <a:ext cx="3200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PRESENTER: RAJ VEDIRE</a:t>
            </a:r>
            <a:endParaRPr lang="en-US" sz="900" dirty="0"/>
          </a:p>
        </p:txBody>
      </p:sp>
      <p:sp>
        <p:nvSpPr>
          <p:cNvPr id="27" name="Text 25"/>
          <p:cNvSpPr/>
          <p:nvPr/>
        </p:nvSpPr>
        <p:spPr>
          <a:xfrm>
            <a:off x="10607040" y="6510528"/>
            <a:ext cx="1097280" cy="274320"/>
          </a:xfrm>
          <a:prstGeom prst="rect">
            <a:avLst/>
          </a:prstGeom>
          <a:noFill/>
          <a:ln/>
        </p:spPr>
        <p:txBody>
          <a:bodyPr wrap="square" lIns="0" tIns="0" rIns="0" bIns="0" rtlCol="0" anchor="ctr"/>
          <a:lstStyle/>
          <a:p>
            <a:pPr marL="0" indent="0" algn="r">
              <a:buNone/>
            </a:pPr>
            <a:r>
              <a:rPr lang="en-US" sz="900" b="1" dirty="0">
                <a:solidFill>
                  <a:srgbClr val="6B7280"/>
                </a:solidFill>
                <a:latin typeface="Calibri" pitchFamily="34" charset="0"/>
                <a:ea typeface="Calibri" pitchFamily="34" charset="-122"/>
                <a:cs typeface="Calibri" pitchFamily="34" charset="-120"/>
              </a:rPr>
              <a:t>18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2C54"/>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AB7CA"/>
          </a:solidFill>
          <a:ln/>
        </p:spPr>
        <p:txBody>
          <a:bodyPr/>
          <a:lstStyle/>
          <a:p>
            <a:endParaRPr lang="en-IN"/>
          </a:p>
        </p:txBody>
      </p:sp>
      <p:sp>
        <p:nvSpPr>
          <p:cNvPr id="3" name="Text 1"/>
          <p:cNvSpPr/>
          <p:nvPr/>
        </p:nvSpPr>
        <p:spPr>
          <a:xfrm>
            <a:off x="731520" y="640080"/>
            <a:ext cx="10972800" cy="457200"/>
          </a:xfrm>
          <a:prstGeom prst="rect">
            <a:avLst/>
          </a:prstGeom>
          <a:noFill/>
          <a:ln/>
        </p:spPr>
        <p:txBody>
          <a:bodyPr wrap="square" rtlCol="0" anchor="ctr"/>
          <a:lstStyle/>
          <a:p>
            <a:pPr marL="0" indent="0">
              <a:buNone/>
            </a:pPr>
            <a:r>
              <a:rPr lang="en-US" sz="1400" b="1" kern="0" spc="400" dirty="0">
                <a:solidFill>
                  <a:srgbClr val="2AB7CA"/>
                </a:solidFill>
                <a:latin typeface="Calibri" pitchFamily="34" charset="0"/>
                <a:ea typeface="Calibri" pitchFamily="34" charset="-122"/>
                <a:cs typeface="Calibri" pitchFamily="34" charset="-120"/>
              </a:rPr>
              <a:t>THANK YOU</a:t>
            </a:r>
            <a:endParaRPr lang="en-US" sz="1400" dirty="0"/>
          </a:p>
        </p:txBody>
      </p:sp>
      <p:sp>
        <p:nvSpPr>
          <p:cNvPr id="4" name="Text 2"/>
          <p:cNvSpPr/>
          <p:nvPr/>
        </p:nvSpPr>
        <p:spPr>
          <a:xfrm>
            <a:off x="731520" y="1143000"/>
            <a:ext cx="10972800" cy="9144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Questions?</a:t>
            </a:r>
            <a:endParaRPr lang="en-US" sz="5400" dirty="0"/>
          </a:p>
        </p:txBody>
      </p:sp>
      <p:sp>
        <p:nvSpPr>
          <p:cNvPr id="5" name="Shape 3"/>
          <p:cNvSpPr/>
          <p:nvPr/>
        </p:nvSpPr>
        <p:spPr>
          <a:xfrm>
            <a:off x="731520" y="2377440"/>
            <a:ext cx="3474720" cy="2011680"/>
          </a:xfrm>
          <a:prstGeom prst="rect">
            <a:avLst/>
          </a:prstGeom>
          <a:solidFill>
            <a:srgbClr val="15386B"/>
          </a:solidFill>
          <a:ln/>
        </p:spPr>
        <p:txBody>
          <a:bodyPr/>
          <a:lstStyle/>
          <a:p>
            <a:endParaRPr lang="en-IN"/>
          </a:p>
        </p:txBody>
      </p:sp>
      <p:sp>
        <p:nvSpPr>
          <p:cNvPr id="6" name="Shape 4"/>
          <p:cNvSpPr/>
          <p:nvPr/>
        </p:nvSpPr>
        <p:spPr>
          <a:xfrm>
            <a:off x="731520" y="2377440"/>
            <a:ext cx="3474720" cy="73152"/>
          </a:xfrm>
          <a:prstGeom prst="rect">
            <a:avLst/>
          </a:prstGeom>
          <a:solidFill>
            <a:srgbClr val="2AB7CA"/>
          </a:solidFill>
          <a:ln/>
        </p:spPr>
        <p:txBody>
          <a:bodyPr/>
          <a:lstStyle/>
          <a:p>
            <a:endParaRPr lang="en-IN"/>
          </a:p>
        </p:txBody>
      </p:sp>
      <p:sp>
        <p:nvSpPr>
          <p:cNvPr id="7" name="Text 5"/>
          <p:cNvSpPr/>
          <p:nvPr/>
        </p:nvSpPr>
        <p:spPr>
          <a:xfrm>
            <a:off x="1005840" y="2743200"/>
            <a:ext cx="2926080" cy="9144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103M</a:t>
            </a:r>
            <a:endParaRPr lang="en-US" sz="3600" dirty="0"/>
          </a:p>
        </p:txBody>
      </p:sp>
      <p:sp>
        <p:nvSpPr>
          <p:cNvPr id="8" name="Text 6"/>
          <p:cNvSpPr/>
          <p:nvPr/>
        </p:nvSpPr>
        <p:spPr>
          <a:xfrm>
            <a:off x="1005840" y="3749040"/>
            <a:ext cx="2926080" cy="54864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provider-service rows ingested</a:t>
            </a:r>
            <a:endParaRPr lang="en-US" sz="1300" dirty="0"/>
          </a:p>
        </p:txBody>
      </p:sp>
      <p:sp>
        <p:nvSpPr>
          <p:cNvPr id="9" name="Shape 7"/>
          <p:cNvSpPr/>
          <p:nvPr/>
        </p:nvSpPr>
        <p:spPr>
          <a:xfrm>
            <a:off x="4389120" y="2377440"/>
            <a:ext cx="3474720" cy="2011680"/>
          </a:xfrm>
          <a:prstGeom prst="rect">
            <a:avLst/>
          </a:prstGeom>
          <a:solidFill>
            <a:srgbClr val="15386B"/>
          </a:solidFill>
          <a:ln/>
        </p:spPr>
        <p:txBody>
          <a:bodyPr/>
          <a:lstStyle/>
          <a:p>
            <a:endParaRPr lang="en-IN"/>
          </a:p>
        </p:txBody>
      </p:sp>
      <p:sp>
        <p:nvSpPr>
          <p:cNvPr id="10" name="Shape 8"/>
          <p:cNvSpPr/>
          <p:nvPr/>
        </p:nvSpPr>
        <p:spPr>
          <a:xfrm>
            <a:off x="4389120" y="2377440"/>
            <a:ext cx="3474720" cy="73152"/>
          </a:xfrm>
          <a:prstGeom prst="rect">
            <a:avLst/>
          </a:prstGeom>
          <a:solidFill>
            <a:srgbClr val="2AB7CA"/>
          </a:solidFill>
          <a:ln/>
        </p:spPr>
        <p:txBody>
          <a:bodyPr/>
          <a:lstStyle/>
          <a:p>
            <a:endParaRPr lang="en-IN"/>
          </a:p>
        </p:txBody>
      </p:sp>
      <p:sp>
        <p:nvSpPr>
          <p:cNvPr id="11" name="Text 9"/>
          <p:cNvSpPr/>
          <p:nvPr/>
        </p:nvSpPr>
        <p:spPr>
          <a:xfrm>
            <a:off x="4663440" y="2743200"/>
            <a:ext cx="2926080" cy="9144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0.943</a:t>
            </a:r>
            <a:endParaRPr lang="en-US" sz="3600" dirty="0"/>
          </a:p>
        </p:txBody>
      </p:sp>
      <p:sp>
        <p:nvSpPr>
          <p:cNvPr id="12" name="Text 10"/>
          <p:cNvSpPr/>
          <p:nvPr/>
        </p:nvSpPr>
        <p:spPr>
          <a:xfrm>
            <a:off x="4663440" y="3749040"/>
            <a:ext cx="2926080" cy="54864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Stage 1 test R² (LightGBM no-charge)</a:t>
            </a:r>
            <a:endParaRPr lang="en-US" sz="1300" dirty="0"/>
          </a:p>
        </p:txBody>
      </p:sp>
      <p:sp>
        <p:nvSpPr>
          <p:cNvPr id="13" name="Shape 11"/>
          <p:cNvSpPr/>
          <p:nvPr/>
        </p:nvSpPr>
        <p:spPr>
          <a:xfrm>
            <a:off x="8046720" y="2377440"/>
            <a:ext cx="3474720" cy="2011680"/>
          </a:xfrm>
          <a:prstGeom prst="rect">
            <a:avLst/>
          </a:prstGeom>
          <a:solidFill>
            <a:srgbClr val="15386B"/>
          </a:solidFill>
          <a:ln/>
        </p:spPr>
        <p:txBody>
          <a:bodyPr/>
          <a:lstStyle/>
          <a:p>
            <a:endParaRPr lang="en-IN"/>
          </a:p>
        </p:txBody>
      </p:sp>
      <p:sp>
        <p:nvSpPr>
          <p:cNvPr id="14" name="Shape 12"/>
          <p:cNvSpPr/>
          <p:nvPr/>
        </p:nvSpPr>
        <p:spPr>
          <a:xfrm>
            <a:off x="8046720" y="2377440"/>
            <a:ext cx="3474720" cy="73152"/>
          </a:xfrm>
          <a:prstGeom prst="rect">
            <a:avLst/>
          </a:prstGeom>
          <a:solidFill>
            <a:srgbClr val="2AB7CA"/>
          </a:solidFill>
          <a:ln/>
        </p:spPr>
        <p:txBody>
          <a:bodyPr/>
          <a:lstStyle/>
          <a:p>
            <a:endParaRPr lang="en-IN"/>
          </a:p>
        </p:txBody>
      </p:sp>
      <p:sp>
        <p:nvSpPr>
          <p:cNvPr id="15" name="Text 13"/>
          <p:cNvSpPr/>
          <p:nvPr/>
        </p:nvSpPr>
        <p:spPr>
          <a:xfrm>
            <a:off x="8321040" y="2743200"/>
            <a:ext cx="2926080" cy="9144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P10 · P50 · P90</a:t>
            </a:r>
            <a:endParaRPr lang="en-US" sz="2800" dirty="0"/>
          </a:p>
        </p:txBody>
      </p:sp>
      <p:sp>
        <p:nvSpPr>
          <p:cNvPr id="16" name="Text 14"/>
          <p:cNvSpPr/>
          <p:nvPr/>
        </p:nvSpPr>
        <p:spPr>
          <a:xfrm>
            <a:off x="8321040" y="3749040"/>
            <a:ext cx="2926080" cy="54864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Stage 2 quantile range, per service</a:t>
            </a:r>
            <a:endParaRPr lang="en-US" sz="1300" dirty="0"/>
          </a:p>
        </p:txBody>
      </p:sp>
      <p:sp>
        <p:nvSpPr>
          <p:cNvPr id="17" name="Text 15"/>
          <p:cNvSpPr/>
          <p:nvPr/>
        </p:nvSpPr>
        <p:spPr>
          <a:xfrm>
            <a:off x="731520" y="4709160"/>
            <a:ext cx="10972800" cy="457200"/>
          </a:xfrm>
          <a:prstGeom prst="rect">
            <a:avLst/>
          </a:prstGeom>
          <a:noFill/>
          <a:ln/>
        </p:spPr>
        <p:txBody>
          <a:bodyPr wrap="square" rtlCol="0" anchor="ctr"/>
          <a:lstStyle/>
          <a:p>
            <a:pPr marL="0" indent="0">
              <a:buNone/>
            </a:pPr>
            <a:r>
              <a:rPr lang="en-US" sz="2200" b="1" dirty="0">
                <a:solidFill>
                  <a:srgbClr val="2AB7CA"/>
                </a:solidFill>
                <a:latin typeface="Cambria" pitchFamily="34" charset="0"/>
                <a:ea typeface="Cambria" pitchFamily="34" charset="-122"/>
                <a:cs typeface="Cambria" pitchFamily="34" charset="-120"/>
              </a:rPr>
              <a:t>allowancemap.vercel.app</a:t>
            </a:r>
            <a:endParaRPr lang="en-US" sz="2200" dirty="0"/>
          </a:p>
        </p:txBody>
      </p:sp>
      <p:sp>
        <p:nvSpPr>
          <p:cNvPr id="18" name="Text 16"/>
          <p:cNvSpPr/>
          <p:nvPr/>
        </p:nvSpPr>
        <p:spPr>
          <a:xfrm>
            <a:off x="731520" y="5257800"/>
            <a:ext cx="109728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Nick Romano</a:t>
            </a:r>
            <a:r>
              <a:rPr lang="en-US" sz="1400" dirty="0">
                <a:solidFill>
                  <a:srgbClr val="CADCFC"/>
                </a:solidFill>
              </a:rPr>
              <a:t>  ·  </a:t>
            </a:r>
            <a:r>
              <a:rPr lang="en-US" sz="1400" b="1" dirty="0">
                <a:solidFill>
                  <a:srgbClr val="FFFFFF"/>
                </a:solidFill>
                <a:latin typeface="Calibri" pitchFamily="34" charset="0"/>
                <a:ea typeface="Calibri" pitchFamily="34" charset="-122"/>
                <a:cs typeface="Calibri" pitchFamily="34" charset="-120"/>
              </a:rPr>
              <a:t>Noor Ahmed</a:t>
            </a:r>
            <a:r>
              <a:rPr lang="en-US" sz="1400" dirty="0">
                <a:solidFill>
                  <a:srgbClr val="CADCFC"/>
                </a:solidFill>
              </a:rPr>
              <a:t>  ·  </a:t>
            </a:r>
            <a:r>
              <a:rPr lang="en-US" sz="1400" b="1" dirty="0">
                <a:solidFill>
                  <a:srgbClr val="FFFFFF"/>
                </a:solidFill>
                <a:latin typeface="Calibri" pitchFamily="34" charset="0"/>
                <a:ea typeface="Calibri" pitchFamily="34" charset="-122"/>
                <a:cs typeface="Calibri" pitchFamily="34" charset="-120"/>
              </a:rPr>
              <a:t>Raj Vedire</a:t>
            </a:r>
            <a:r>
              <a:rPr lang="en-US" sz="1400" dirty="0">
                <a:solidFill>
                  <a:srgbClr val="CADCFC"/>
                </a:solidFill>
                <a:latin typeface="Calibri" pitchFamily="34" charset="0"/>
                <a:ea typeface="Calibri" pitchFamily="34" charset="-122"/>
                <a:cs typeface="Calibri" pitchFamily="34" charset="-120"/>
              </a:rPr>
              <a:t>  ·  Indiana University  ·  April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2137</TotalTime>
  <Words>6871</Words>
  <Application>Microsoft Office PowerPoint</Application>
  <PresentationFormat>Widescreen</PresentationFormat>
  <Paragraphs>506</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Arial</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Indiana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AllowanceMap - Class Presentation</dc:title>
  <dc:subject>Medicare Provider Cost Analysis</dc:subject>
  <dc:creator>Raj Vedire, Nick Romano, Noor Ahmed</dc:creator>
  <cp:lastModifiedBy>Vedire, Rajashekar Reddy</cp:lastModifiedBy>
  <cp:revision>4</cp:revision>
  <dcterms:created xsi:type="dcterms:W3CDTF">2026-04-24T20:25:24Z</dcterms:created>
  <dcterms:modified xsi:type="dcterms:W3CDTF">2026-04-27T20:46:47Z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14b3c7e-3bfa-45f1-b28d-09d7fca8a9b7_Enabled">
    <vt:lpwstr>true</vt:lpwstr>
  </property>
  <property fmtid="{D5CDD505-2E9C-101B-9397-08002B2CF9AE}" pid="3" name="MSIP_Label_414b3c7e-3bfa-45f1-b28d-09d7fca8a9b7_SetDate">
    <vt:lpwstr>2026-04-24T20:40:34Z</vt:lpwstr>
  </property>
  <property fmtid="{D5CDD505-2E9C-101B-9397-08002B2CF9AE}" pid="4" name="MSIP_Label_414b3c7e-3bfa-45f1-b28d-09d7fca8a9b7_Method">
    <vt:lpwstr>Standard</vt:lpwstr>
  </property>
  <property fmtid="{D5CDD505-2E9C-101B-9397-08002B2CF9AE}" pid="5" name="MSIP_Label_414b3c7e-3bfa-45f1-b28d-09d7fca8a9b7_Name">
    <vt:lpwstr>University Internal</vt:lpwstr>
  </property>
  <property fmtid="{D5CDD505-2E9C-101B-9397-08002B2CF9AE}" pid="6" name="MSIP_Label_414b3c7e-3bfa-45f1-b28d-09d7fca8a9b7_SiteId">
    <vt:lpwstr>1113be34-aed1-4d00-ab4b-cdd02510be91</vt:lpwstr>
  </property>
  <property fmtid="{D5CDD505-2E9C-101B-9397-08002B2CF9AE}" pid="7" name="MSIP_Label_414b3c7e-3bfa-45f1-b28d-09d7fca8a9b7_ActionId">
    <vt:lpwstr>0799e4a3-014a-42ef-825c-428ee17d4d2c</vt:lpwstr>
  </property>
  <property fmtid="{D5CDD505-2E9C-101B-9397-08002B2CF9AE}" pid="8" name="MSIP_Label_414b3c7e-3bfa-45f1-b28d-09d7fca8a9b7_ContentBits">
    <vt:lpwstr>0</vt:lpwstr>
  </property>
  <property fmtid="{D5CDD505-2E9C-101B-9397-08002B2CF9AE}" pid="9" name="MSIP_Label_414b3c7e-3bfa-45f1-b28d-09d7fca8a9b7_Tag">
    <vt:lpwstr>10, 3, 0, 1</vt:lpwstr>
  </property>
</Properties>
</file>